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3" r:id="rId3"/>
    <p:sldId id="257" r:id="rId4"/>
    <p:sldId id="265" r:id="rId5"/>
    <p:sldId id="429" r:id="rId6"/>
    <p:sldId id="430" r:id="rId7"/>
    <p:sldId id="442" r:id="rId8"/>
    <p:sldId id="431" r:id="rId9"/>
    <p:sldId id="432" r:id="rId10"/>
    <p:sldId id="266" r:id="rId11"/>
    <p:sldId id="443" r:id="rId12"/>
    <p:sldId id="433" r:id="rId13"/>
    <p:sldId id="267" r:id="rId14"/>
    <p:sldId id="448" r:id="rId15"/>
    <p:sldId id="436" r:id="rId16"/>
    <p:sldId id="434" r:id="rId17"/>
    <p:sldId id="447" r:id="rId18"/>
    <p:sldId id="449" r:id="rId19"/>
    <p:sldId id="438" r:id="rId20"/>
    <p:sldId id="437" r:id="rId21"/>
    <p:sldId id="435" r:id="rId22"/>
    <p:sldId id="269" r:id="rId23"/>
    <p:sldId id="444" r:id="rId24"/>
    <p:sldId id="270" r:id="rId25"/>
    <p:sldId id="445" r:id="rId26"/>
    <p:sldId id="440" r:id="rId27"/>
    <p:sldId id="439" r:id="rId28"/>
    <p:sldId id="271" r:id="rId29"/>
    <p:sldId id="446" r:id="rId30"/>
    <p:sldId id="441" r:id="rId31"/>
    <p:sldId id="272" r:id="rId32"/>
    <p:sldId id="278" r:id="rId33"/>
    <p:sldId id="297" r:id="rId34"/>
    <p:sldId id="476" r:id="rId35"/>
    <p:sldId id="477" r:id="rId36"/>
    <p:sldId id="450" r:id="rId37"/>
    <p:sldId id="314" r:id="rId38"/>
    <p:sldId id="452" r:id="rId39"/>
    <p:sldId id="303" r:id="rId40"/>
    <p:sldId id="469" r:id="rId41"/>
    <p:sldId id="456" r:id="rId42"/>
    <p:sldId id="470" r:id="rId43"/>
    <p:sldId id="451" r:id="rId44"/>
    <p:sldId id="455" r:id="rId45"/>
    <p:sldId id="316" r:id="rId46"/>
    <p:sldId id="453" r:id="rId47"/>
    <p:sldId id="338" r:id="rId48"/>
    <p:sldId id="471" r:id="rId49"/>
    <p:sldId id="457" r:id="rId50"/>
    <p:sldId id="472" r:id="rId51"/>
    <p:sldId id="319" r:id="rId52"/>
    <p:sldId id="454" r:id="rId53"/>
    <p:sldId id="473" r:id="rId54"/>
    <p:sldId id="467" r:id="rId55"/>
    <p:sldId id="460" r:id="rId56"/>
    <p:sldId id="468" r:id="rId57"/>
    <p:sldId id="458" r:id="rId58"/>
    <p:sldId id="459" r:id="rId59"/>
    <p:sldId id="462" r:id="rId60"/>
    <p:sldId id="463" r:id="rId61"/>
    <p:sldId id="474" r:id="rId62"/>
    <p:sldId id="475" r:id="rId63"/>
    <p:sldId id="461" r:id="rId64"/>
    <p:sldId id="301" r:id="rId65"/>
    <p:sldId id="464" r:id="rId66"/>
    <p:sldId id="310" r:id="rId67"/>
    <p:sldId id="321" r:id="rId68"/>
    <p:sldId id="322" r:id="rId69"/>
    <p:sldId id="324" r:id="rId70"/>
    <p:sldId id="339" r:id="rId71"/>
    <p:sldId id="465" r:id="rId72"/>
    <p:sldId id="466" r:id="rId73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11" autoAdjust="0"/>
    <p:restoredTop sz="94660"/>
  </p:normalViewPr>
  <p:slideViewPr>
    <p:cSldViewPr>
      <p:cViewPr varScale="1">
        <p:scale>
          <a:sx n="112" d="100"/>
          <a:sy n="112" d="100"/>
        </p:scale>
        <p:origin x="672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Graph algorithms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Lection </a:t>
            </a:r>
            <a:r>
              <a:rPr lang="ru-RU" dirty="0" smtClean="0"/>
              <a:t>1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730623"/>
          </a:xfrm>
        </p:spPr>
        <p:txBody>
          <a:bodyPr/>
          <a:lstStyle/>
          <a:p>
            <a:r>
              <a:rPr lang="en-US" b="1" dirty="0" smtClean="0"/>
              <a:t>Breadth-first search</a:t>
            </a:r>
            <a:br>
              <a:rPr lang="en-US" b="1" dirty="0" smtClean="0"/>
            </a:br>
            <a:r>
              <a:rPr lang="en-US" b="1" dirty="0" smtClean="0"/>
              <a:t>(BFS)</a:t>
            </a:r>
            <a:endParaRPr lang="ru-RU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Прямоугольник 15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2411760" y="4797152"/>
            <a:ext cx="57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6" name="TextBox 135"/>
          <p:cNvSpPr txBox="1"/>
          <p:nvPr/>
        </p:nvSpPr>
        <p:spPr>
          <a:xfrm>
            <a:off x="2411760" y="105273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38" name="TextBox 137"/>
          <p:cNvSpPr txBox="1"/>
          <p:nvPr/>
        </p:nvSpPr>
        <p:spPr>
          <a:xfrm>
            <a:off x="176368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39" name="TextBox 138"/>
          <p:cNvSpPr txBox="1"/>
          <p:nvPr/>
        </p:nvSpPr>
        <p:spPr>
          <a:xfrm>
            <a:off x="3779912" y="126876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0" name="TextBox 139"/>
          <p:cNvSpPr txBox="1"/>
          <p:nvPr/>
        </p:nvSpPr>
        <p:spPr>
          <a:xfrm>
            <a:off x="5364088" y="13407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2" name="TextBox 141"/>
          <p:cNvSpPr txBox="1"/>
          <p:nvPr/>
        </p:nvSpPr>
        <p:spPr>
          <a:xfrm>
            <a:off x="4788024" y="299695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4" name="TextBox 143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45" name="TextBox 144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146" name="TextBox 145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147" name="TextBox 146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148" name="TextBox 147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149" name="TextBox 148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150" name="TextBox 149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151" name="TextBox 150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152" name="TextBox 151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1475656" y="5661248"/>
            <a:ext cx="19086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en-US" dirty="0" smtClean="0"/>
              <a:t>∅</a:t>
            </a:r>
            <a:endParaRPr lang="ru-RU" dirty="0"/>
          </a:p>
        </p:txBody>
      </p:sp>
      <p:sp>
        <p:nvSpPr>
          <p:cNvPr id="41" name="Прямоугольник 40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1403648" y="6228020"/>
            <a:ext cx="2301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Vertex </a:t>
            </a:r>
            <a:r>
              <a:rPr lang="ru-RU" dirty="0" smtClean="0"/>
              <a:t>1 </a:t>
            </a:r>
            <a:r>
              <a:rPr lang="en-US" dirty="0"/>
              <a:t>becomes gray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Прямоугольник 4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411760" y="4797152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1,2</a:t>
            </a:r>
            <a:endParaRPr lang="ru-RU" dirty="0"/>
          </a:p>
        </p:txBody>
      </p:sp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8" name="TextBox 137"/>
          <p:cNvSpPr txBox="1"/>
          <p:nvPr/>
        </p:nvSpPr>
        <p:spPr>
          <a:xfrm>
            <a:off x="176368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0" name="TextBox 139"/>
          <p:cNvSpPr txBox="1"/>
          <p:nvPr/>
        </p:nvSpPr>
        <p:spPr>
          <a:xfrm>
            <a:off x="5364088" y="13407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2" name="TextBox 141"/>
          <p:cNvSpPr txBox="1"/>
          <p:nvPr/>
        </p:nvSpPr>
        <p:spPr>
          <a:xfrm>
            <a:off x="4788024" y="299695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0" name="TextBox 29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2" name="TextBox 3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4" name="TextBox 33"/>
          <p:cNvSpPr txBox="1"/>
          <p:nvPr/>
        </p:nvSpPr>
        <p:spPr>
          <a:xfrm>
            <a:off x="2411760" y="105273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44" name="Прямоугольник 43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TextBox 45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(1,2)</a:t>
            </a:r>
            <a:endParaRPr lang="ru-RU" dirty="0"/>
          </a:p>
        </p:txBody>
      </p:sp>
      <p:cxnSp>
        <p:nvCxnSpPr>
          <p:cNvPr id="47" name="Прямая со стрелкой 46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Прямоугольник 51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1403648" y="6228020"/>
            <a:ext cx="2301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2 </a:t>
            </a:r>
            <a:r>
              <a:rPr lang="en-US" dirty="0"/>
              <a:t>becomes gray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Прямоугольник 4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1,2,3</a:t>
            </a:r>
            <a:endParaRPr lang="ru-RU" dirty="0"/>
          </a:p>
        </p:txBody>
      </p:sp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8" name="TextBox 137"/>
          <p:cNvSpPr txBox="1"/>
          <p:nvPr/>
        </p:nvSpPr>
        <p:spPr>
          <a:xfrm>
            <a:off x="176368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0" name="TextBox 139"/>
          <p:cNvSpPr txBox="1"/>
          <p:nvPr/>
        </p:nvSpPr>
        <p:spPr>
          <a:xfrm>
            <a:off x="5364088" y="13407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2" name="TextBox 141"/>
          <p:cNvSpPr txBox="1"/>
          <p:nvPr/>
        </p:nvSpPr>
        <p:spPr>
          <a:xfrm>
            <a:off x="4788024" y="299695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0" name="TextBox 29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2" name="TextBox 3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4" name="TextBox 33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44" name="Прямоугольник 43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TextBox 45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(1,3)</a:t>
            </a:r>
            <a:endParaRPr lang="ru-RU" dirty="0"/>
          </a:p>
        </p:txBody>
      </p:sp>
      <p:cxnSp>
        <p:nvCxnSpPr>
          <p:cNvPr id="48" name="Прямая со стрелкой 47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Прямоугольник 52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/>
          <p:cNvSpPr txBox="1"/>
          <p:nvPr/>
        </p:nvSpPr>
        <p:spPr>
          <a:xfrm>
            <a:off x="1403648" y="6228020"/>
            <a:ext cx="2301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3 </a:t>
            </a:r>
            <a:r>
              <a:rPr lang="en-US" dirty="0"/>
              <a:t>becomes gray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Прямоугольник 4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411760" y="4797152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2,3</a:t>
            </a:r>
            <a:endParaRPr lang="ru-RU" dirty="0"/>
          </a:p>
        </p:txBody>
      </p:sp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8" name="TextBox 137"/>
          <p:cNvSpPr txBox="1"/>
          <p:nvPr/>
        </p:nvSpPr>
        <p:spPr>
          <a:xfrm>
            <a:off x="176368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0" name="TextBox 139"/>
          <p:cNvSpPr txBox="1"/>
          <p:nvPr/>
        </p:nvSpPr>
        <p:spPr>
          <a:xfrm>
            <a:off x="5364088" y="13407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2" name="TextBox 141"/>
          <p:cNvSpPr txBox="1"/>
          <p:nvPr/>
        </p:nvSpPr>
        <p:spPr>
          <a:xfrm>
            <a:off x="4788024" y="299695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0" name="TextBox 29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2" name="TextBox 3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4" name="TextBox 33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4" name="Прямоугольник 43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TextBox 45"/>
          <p:cNvSpPr txBox="1"/>
          <p:nvPr/>
        </p:nvSpPr>
        <p:spPr>
          <a:xfrm>
            <a:off x="1475656" y="5661248"/>
            <a:ext cx="1961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en-US" dirty="0" smtClean="0"/>
              <a:t>∅</a:t>
            </a:r>
            <a:endParaRPr lang="ru-RU" dirty="0"/>
          </a:p>
        </p:txBody>
      </p:sp>
      <p:sp>
        <p:nvSpPr>
          <p:cNvPr id="47" name="Прямоугольник 46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1403648" y="6228020"/>
            <a:ext cx="2393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1 </a:t>
            </a:r>
            <a:r>
              <a:rPr lang="en-US" dirty="0"/>
              <a:t>becomes black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Прямоугольник 4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411760" y="4797152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2,3</a:t>
            </a:r>
            <a:endParaRPr lang="ru-RU" dirty="0"/>
          </a:p>
        </p:txBody>
      </p:sp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8" name="TextBox 137"/>
          <p:cNvSpPr txBox="1"/>
          <p:nvPr/>
        </p:nvSpPr>
        <p:spPr>
          <a:xfrm>
            <a:off x="176368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0" name="TextBox 139"/>
          <p:cNvSpPr txBox="1"/>
          <p:nvPr/>
        </p:nvSpPr>
        <p:spPr>
          <a:xfrm>
            <a:off x="5364088" y="13407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2" name="TextBox 141"/>
          <p:cNvSpPr txBox="1"/>
          <p:nvPr/>
        </p:nvSpPr>
        <p:spPr>
          <a:xfrm>
            <a:off x="4788024" y="299695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0" name="TextBox 29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2" name="TextBox 3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4" name="TextBox 33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4" name="Прямоугольник 43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TextBox 45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(2,1)</a:t>
            </a:r>
            <a:endParaRPr lang="ru-RU" dirty="0"/>
          </a:p>
        </p:txBody>
      </p:sp>
      <p:sp>
        <p:nvSpPr>
          <p:cNvPr id="47" name="Прямоугольник 46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Прямоугольник 4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2,3,4</a:t>
            </a:r>
            <a:endParaRPr lang="ru-RU" dirty="0"/>
          </a:p>
        </p:txBody>
      </p:sp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8" name="TextBox 137"/>
          <p:cNvSpPr txBox="1"/>
          <p:nvPr/>
        </p:nvSpPr>
        <p:spPr>
          <a:xfrm>
            <a:off x="176368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2" name="TextBox 141"/>
          <p:cNvSpPr txBox="1"/>
          <p:nvPr/>
        </p:nvSpPr>
        <p:spPr>
          <a:xfrm>
            <a:off x="4788024" y="299695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0" name="TextBox 29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2" name="TextBox 3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4" name="TextBox 33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4" name="Овал 43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TextBox 45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8" name="Прямоугольник 4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TextBox 48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(2,4)</a:t>
            </a:r>
            <a:endParaRPr lang="ru-RU" dirty="0"/>
          </a:p>
        </p:txBody>
      </p:sp>
      <p:cxnSp>
        <p:nvCxnSpPr>
          <p:cNvPr id="50" name="Прямая со стрелкой 49"/>
          <p:cNvCxnSpPr>
            <a:stCxn id="10" idx="6"/>
            <a:endCxn id="47" idx="1"/>
          </p:cNvCxnSpPr>
          <p:nvPr/>
        </p:nvCxnSpPr>
        <p:spPr>
          <a:xfrm>
            <a:off x="4139952" y="1700808"/>
            <a:ext cx="1282490" cy="40650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Прямоугольник 53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TextBox 54"/>
          <p:cNvSpPr txBox="1"/>
          <p:nvPr/>
        </p:nvSpPr>
        <p:spPr>
          <a:xfrm>
            <a:off x="1403648" y="6228020"/>
            <a:ext cx="2301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4 </a:t>
            </a:r>
            <a:r>
              <a:rPr lang="en-US" dirty="0"/>
              <a:t>becomes gray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Прямоугольник 4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  <a:endCxn id="49" idx="1"/>
          </p:cNvCxnSpPr>
          <p:nvPr/>
        </p:nvCxnSpPr>
        <p:spPr>
          <a:xfrm>
            <a:off x="3995936" y="1844824"/>
            <a:ext cx="850442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411760" y="4797152"/>
            <a:ext cx="1096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2,3,4,5</a:t>
            </a:r>
            <a:endParaRPr lang="ru-RU" dirty="0"/>
          </a:p>
        </p:txBody>
      </p:sp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8" name="TextBox 137"/>
          <p:cNvSpPr txBox="1"/>
          <p:nvPr/>
        </p:nvSpPr>
        <p:spPr>
          <a:xfrm>
            <a:off x="176368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0" name="TextBox 29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2" name="TextBox 3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4" name="TextBox 33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4" name="Овал 43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TextBox 45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39" name="Овал 3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50" name="Прямоугольник 49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TextBox 50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(2,5)</a:t>
            </a:r>
            <a:endParaRPr lang="ru-RU" dirty="0"/>
          </a:p>
        </p:txBody>
      </p:sp>
      <p:cxnSp>
        <p:nvCxnSpPr>
          <p:cNvPr id="52" name="Прямая со стрелкой 51"/>
          <p:cNvCxnSpPr>
            <a:stCxn id="10" idx="4"/>
            <a:endCxn id="49" idx="1"/>
          </p:cNvCxnSpPr>
          <p:nvPr/>
        </p:nvCxnSpPr>
        <p:spPr>
          <a:xfrm>
            <a:off x="3995936" y="1844824"/>
            <a:ext cx="850442" cy="1552818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Прямоугольник 60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TextBox 61"/>
          <p:cNvSpPr txBox="1"/>
          <p:nvPr/>
        </p:nvSpPr>
        <p:spPr>
          <a:xfrm>
            <a:off x="1403648" y="6228020"/>
            <a:ext cx="2301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5 </a:t>
            </a:r>
            <a:r>
              <a:rPr lang="en-US" dirty="0"/>
              <a:t>becomes gray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48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3,4,5</a:t>
            </a:r>
            <a:endParaRPr lang="ru-RU" dirty="0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8" name="TextBox 137"/>
          <p:cNvSpPr txBox="1"/>
          <p:nvPr/>
        </p:nvSpPr>
        <p:spPr>
          <a:xfrm>
            <a:off x="176368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Прямоугольник 49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TextBox 50"/>
          <p:cNvSpPr txBox="1"/>
          <p:nvPr/>
        </p:nvSpPr>
        <p:spPr>
          <a:xfrm>
            <a:off x="1475656" y="5661248"/>
            <a:ext cx="1961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en-US" dirty="0" smtClean="0"/>
              <a:t>∅</a:t>
            </a:r>
            <a:endParaRPr lang="ru-RU" dirty="0"/>
          </a:p>
        </p:txBody>
      </p:sp>
      <p:sp>
        <p:nvSpPr>
          <p:cNvPr id="52" name="Прямоугольник 51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1403648" y="6228020"/>
            <a:ext cx="2393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2 </a:t>
            </a:r>
            <a:r>
              <a:rPr lang="en-US" dirty="0"/>
              <a:t>becomes black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48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3,4,5</a:t>
            </a:r>
            <a:endParaRPr lang="ru-RU" dirty="0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8" name="TextBox 137"/>
          <p:cNvSpPr txBox="1"/>
          <p:nvPr/>
        </p:nvSpPr>
        <p:spPr>
          <a:xfrm>
            <a:off x="176368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Прямоугольник 49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TextBox 50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(3,1)</a:t>
            </a:r>
            <a:endParaRPr lang="ru-RU" dirty="0"/>
          </a:p>
        </p:txBody>
      </p:sp>
      <p:sp>
        <p:nvSpPr>
          <p:cNvPr id="52" name="Прямоугольник 51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48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411760" y="4797152"/>
            <a:ext cx="1096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3,4,5,6</a:t>
            </a:r>
            <a:endParaRPr lang="ru-RU" dirty="0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Овал 49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TextBox 50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52" name="TextBox 5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53" name="Прямоугольник 52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(3,6)</a:t>
            </a:r>
            <a:endParaRPr lang="ru-RU" dirty="0"/>
          </a:p>
        </p:txBody>
      </p:sp>
      <p:cxnSp>
        <p:nvCxnSpPr>
          <p:cNvPr id="42" name="Прямая со стрелкой 41"/>
          <p:cNvCxnSpPr>
            <a:stCxn id="8" idx="3"/>
            <a:endCxn id="50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Прямоугольник 56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1403648" y="6228020"/>
            <a:ext cx="2301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6 </a:t>
            </a:r>
            <a:r>
              <a:rPr lang="en-US" dirty="0"/>
              <a:t>becomes gray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Прямоугольник 53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4,5,6</a:t>
            </a:r>
            <a:endParaRPr lang="ru-RU" dirty="0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1475656" y="5661248"/>
            <a:ext cx="1961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en-US" dirty="0" smtClean="0"/>
              <a:t>∅</a:t>
            </a:r>
            <a:endParaRPr lang="ru-RU" dirty="0"/>
          </a:p>
        </p:txBody>
      </p:sp>
      <p:sp>
        <p:nvSpPr>
          <p:cNvPr id="55" name="Прямоугольник 54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1403648" y="6228020"/>
            <a:ext cx="2393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3 </a:t>
            </a:r>
            <a:r>
              <a:rPr lang="en-US" dirty="0"/>
              <a:t>becomes black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Прямоугольник 53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4,5,6</a:t>
            </a:r>
            <a:endParaRPr lang="ru-RU" dirty="0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(4,2)</a:t>
            </a:r>
            <a:endParaRPr lang="ru-RU" dirty="0"/>
          </a:p>
        </p:txBody>
      </p:sp>
      <p:sp>
        <p:nvSpPr>
          <p:cNvPr id="55" name="Прямоугольник 54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Прямоугольник 53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4,5,6</a:t>
            </a:r>
            <a:endParaRPr lang="ru-RU" dirty="0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6" name="TextBox 55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57" name="TextBox 56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8" name="Прямоугольник 5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TextBox 58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(4,5)</a:t>
            </a:r>
            <a:endParaRPr lang="ru-RU" dirty="0"/>
          </a:p>
        </p:txBody>
      </p:sp>
      <p:sp>
        <p:nvSpPr>
          <p:cNvPr id="55" name="Прямоугольник 54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Прямоугольник 53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411760" y="4797152"/>
            <a:ext cx="1096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4,5,6,7</a:t>
            </a:r>
            <a:endParaRPr lang="ru-RU" dirty="0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8" name="Овал 37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5" name="TextBox 54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6" name="Прямоугольник 55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TextBox 56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(4,7)</a:t>
            </a:r>
            <a:endParaRPr lang="ru-RU" dirty="0"/>
          </a:p>
        </p:txBody>
      </p:sp>
      <p:cxnSp>
        <p:nvCxnSpPr>
          <p:cNvPr id="44" name="Прямая со стрелкой 43"/>
          <p:cNvCxnSpPr>
            <a:stCxn id="48" idx="3"/>
            <a:endCxn id="55" idx="1"/>
          </p:cNvCxnSpPr>
          <p:nvPr/>
        </p:nvCxnSpPr>
        <p:spPr>
          <a:xfrm>
            <a:off x="5724128" y="1741458"/>
            <a:ext cx="1202340" cy="360040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1403648" y="6228020"/>
            <a:ext cx="2301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7 </a:t>
            </a:r>
            <a:r>
              <a:rPr lang="en-US" dirty="0"/>
              <a:t>becomes gray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Прямоугольник 5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5,6,7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5" name="Прямоугольник 44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1475656" y="5661248"/>
            <a:ext cx="1961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en-US" dirty="0" smtClean="0"/>
              <a:t>∅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1403648" y="6228020"/>
            <a:ext cx="2393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4 </a:t>
            </a:r>
            <a:r>
              <a:rPr lang="en-US" dirty="0"/>
              <a:t>becomes black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Прямоугольник 5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5,6,7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5" name="Прямоугольник 44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(5,2)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Прямоугольник 5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5,6,7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5" name="Прямоугольник 44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(5,4)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Прямоугольник 5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5,6,7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5" name="Прямоугольник 44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(5,7)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Прямоугольник 5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>
            <a:stCxn id="113" idx="6"/>
          </p:cNvCxnSpPr>
          <p:nvPr/>
        </p:nvCxnSpPr>
        <p:spPr>
          <a:xfrm>
            <a:off x="5148064" y="3429000"/>
            <a:ext cx="1584176" cy="11265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2411760" y="4797152"/>
            <a:ext cx="1096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5,6,7,8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5" name="Овал 44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7" name="TextBox 56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8" name="Прямоугольник 5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TextBox 58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(5,8)</a:t>
            </a:r>
            <a:endParaRPr lang="ru-RU" dirty="0"/>
          </a:p>
        </p:txBody>
      </p:sp>
      <p:cxnSp>
        <p:nvCxnSpPr>
          <p:cNvPr id="46" name="Прямая со стрелкой 45"/>
          <p:cNvCxnSpPr>
            <a:stCxn id="113" idx="6"/>
            <a:endCxn id="57" idx="1"/>
          </p:cNvCxnSpPr>
          <p:nvPr/>
        </p:nvCxnSpPr>
        <p:spPr>
          <a:xfrm>
            <a:off x="5148064" y="3429000"/>
            <a:ext cx="1570522" cy="112658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Прямоугольник 68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/>
          <p:cNvSpPr txBox="1"/>
          <p:nvPr/>
        </p:nvSpPr>
        <p:spPr>
          <a:xfrm>
            <a:off x="1403648" y="6228020"/>
            <a:ext cx="2301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8 </a:t>
            </a:r>
            <a:r>
              <a:rPr lang="en-US" dirty="0"/>
              <a:t>becomes gray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Прямоугольник 55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6,7,8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TextBox 56"/>
          <p:cNvSpPr txBox="1"/>
          <p:nvPr/>
        </p:nvSpPr>
        <p:spPr>
          <a:xfrm>
            <a:off x="1475656" y="5661248"/>
            <a:ext cx="1961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en-US" dirty="0" smtClean="0"/>
              <a:t>∅</a:t>
            </a:r>
            <a:endParaRPr lang="ru-RU" dirty="0"/>
          </a:p>
        </p:txBody>
      </p:sp>
      <p:sp>
        <p:nvSpPr>
          <p:cNvPr id="58" name="Прямоугольник 57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TextBox 58"/>
          <p:cNvSpPr txBox="1"/>
          <p:nvPr/>
        </p:nvSpPr>
        <p:spPr>
          <a:xfrm>
            <a:off x="1403648" y="6228020"/>
            <a:ext cx="2393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5 </a:t>
            </a:r>
            <a:r>
              <a:rPr lang="en-US" dirty="0"/>
              <a:t>becomes black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Прямоугольник 55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6,7,8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TextBox 56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(6,3)</a:t>
            </a:r>
            <a:endParaRPr lang="ru-RU" dirty="0"/>
          </a:p>
        </p:txBody>
      </p:sp>
      <p:sp>
        <p:nvSpPr>
          <p:cNvPr id="58" name="Прямоугольник 57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Прямоугольник 57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411760" y="4797152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7,8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1475656" y="5661248"/>
            <a:ext cx="1961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en-US" dirty="0" smtClean="0"/>
              <a:t>∅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1403648" y="6228020"/>
            <a:ext cx="2681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Вершина 6 </a:t>
            </a:r>
            <a:r>
              <a:rPr lang="en-US" dirty="0"/>
              <a:t>becomes black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Прямоугольник 57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411760" y="4797152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7,8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(7,4)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Прямоугольник 57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411760" y="4797152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7,8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(7,5)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Прямоугольник 57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411760" y="4797152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7,8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(7,8)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Прямоугольник 59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2411760" y="4797152"/>
            <a:ext cx="57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TextBox 42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2" name="TextBox 51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1475656" y="5661248"/>
            <a:ext cx="1961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en-US" dirty="0" smtClean="0"/>
              <a:t>∅</a:t>
            </a:r>
            <a:endParaRPr lang="ru-RU" dirty="0"/>
          </a:p>
        </p:txBody>
      </p:sp>
      <p:sp>
        <p:nvSpPr>
          <p:cNvPr id="42" name="Прямоугольник 41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1403648" y="6228020"/>
            <a:ext cx="2393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7 </a:t>
            </a:r>
            <a:r>
              <a:rPr lang="en-US" dirty="0"/>
              <a:t>becomes black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Прямоугольник 59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2411760" y="4797152"/>
            <a:ext cx="57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TextBox 42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2" name="TextBox 51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(8,5)</a:t>
            </a:r>
            <a:endParaRPr lang="ru-RU" dirty="0"/>
          </a:p>
        </p:txBody>
      </p:sp>
      <p:sp>
        <p:nvSpPr>
          <p:cNvPr id="42" name="Прямоугольник 41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Прямоугольник 59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2411760" y="4797152"/>
            <a:ext cx="57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TextBox 42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2" name="TextBox 51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(8,7)</a:t>
            </a:r>
            <a:endParaRPr lang="ru-RU" dirty="0"/>
          </a:p>
        </p:txBody>
      </p:sp>
      <p:sp>
        <p:nvSpPr>
          <p:cNvPr id="42" name="Прямоугольник 41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Прямоугольник 61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2411760" y="4797152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∅</a:t>
            </a:r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Овал 42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2" name="TextBox 51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3" name="TextBox 52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1475656" y="5661248"/>
            <a:ext cx="1961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en-US" dirty="0" smtClean="0"/>
              <a:t>∅</a:t>
            </a:r>
            <a:endParaRPr lang="ru-RU" dirty="0"/>
          </a:p>
        </p:txBody>
      </p:sp>
      <p:sp>
        <p:nvSpPr>
          <p:cNvPr id="42" name="Прямоугольник 41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TextBox 43"/>
          <p:cNvSpPr txBox="1"/>
          <p:nvPr/>
        </p:nvSpPr>
        <p:spPr>
          <a:xfrm>
            <a:off x="1403648" y="6228020"/>
            <a:ext cx="2393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8 </a:t>
            </a:r>
            <a:r>
              <a:rPr lang="en-US" dirty="0" smtClean="0"/>
              <a:t>becomes black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332656"/>
            <a:ext cx="5902424" cy="6264696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each 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d[u] ⟵ ∞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π[u] ⟵ NIL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each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u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color[u] = WHITE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</a:t>
            </a: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(G, u, color, d, π) 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err="1" smtClean="0"/>
              <a:t>BFS_Visit</a:t>
            </a:r>
            <a:r>
              <a:rPr lang="ru-RU" sz="1600" dirty="0" smtClean="0"/>
              <a:t> (</a:t>
            </a:r>
            <a:r>
              <a:rPr lang="en-US" sz="1600" dirty="0" smtClean="0"/>
              <a:t>G</a:t>
            </a:r>
            <a:r>
              <a:rPr lang="ru-RU" sz="1600" dirty="0" smtClean="0"/>
              <a:t>, </a:t>
            </a:r>
            <a:r>
              <a:rPr lang="en-US" sz="1600" dirty="0" smtClean="0"/>
              <a:t>s, color, d, π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/>
              <a:t>color[s] ⟵ GRAY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d[s] ⟵ 0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π[s] ⟵ NIL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Q ⟵ ∅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to end(Q) ⟵ s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while</a:t>
            </a:r>
            <a:r>
              <a:rPr lang="en-US" sz="1600" dirty="0" smtClean="0"/>
              <a:t> Q ≠ ∅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u ⟵ first(Q)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for</a:t>
            </a:r>
            <a:r>
              <a:rPr lang="en-US" sz="1600" dirty="0" smtClean="0"/>
              <a:t> all</a:t>
            </a:r>
            <a:r>
              <a:rPr lang="ru-RU" sz="1600" dirty="0" smtClean="0"/>
              <a:t> </a:t>
            </a:r>
            <a:r>
              <a:rPr lang="en-US" sz="1600" dirty="0" smtClean="0"/>
              <a:t>v </a:t>
            </a:r>
            <a:r>
              <a:rPr lang="ru-RU" sz="1600" dirty="0" smtClean="0"/>
              <a:t>∈ </a:t>
            </a:r>
            <a:r>
              <a:rPr lang="en-US" sz="1600" dirty="0" err="1" smtClean="0"/>
              <a:t>Adj</a:t>
            </a:r>
            <a:r>
              <a:rPr lang="ru-RU" sz="1600" dirty="0" smtClean="0"/>
              <a:t>[</a:t>
            </a:r>
            <a:r>
              <a:rPr lang="en-US" sz="1600" dirty="0" smtClean="0"/>
              <a:t>u</a:t>
            </a:r>
            <a:r>
              <a:rPr lang="ru-RU" sz="1600" dirty="0" smtClean="0"/>
              <a:t>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</a:t>
            </a:r>
            <a:r>
              <a:rPr lang="ru-RU" sz="1600" dirty="0" smtClean="0"/>
              <a:t>=</a:t>
            </a:r>
            <a:r>
              <a:rPr lang="en-US" sz="1600" dirty="0" smtClean="0"/>
              <a:t> WHITE </a:t>
            </a:r>
            <a:r>
              <a:rPr lang="en-US" sz="1600" b="1" dirty="0" smtClean="0"/>
              <a:t>than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color[v] ⟵ GRAY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d[v] ⟵ d[u]+1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π[v] ⟵ u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to </a:t>
            </a:r>
            <a:r>
              <a:rPr lang="en-US" sz="1600" dirty="0"/>
              <a:t>end(Q)</a:t>
            </a:r>
            <a:r>
              <a:rPr lang="en-US" sz="1600" dirty="0" smtClean="0"/>
              <a:t> </a:t>
            </a:r>
            <a:r>
              <a:rPr lang="en-US" sz="1600" dirty="0"/>
              <a:t>⟵ </a:t>
            </a:r>
            <a:r>
              <a:rPr lang="en-US" sz="1600" dirty="0" smtClean="0"/>
              <a:t>v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color[u] ⟵ BLACK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467544" y="2130425"/>
            <a:ext cx="8208912" cy="1946647"/>
          </a:xfrm>
        </p:spPr>
        <p:txBody>
          <a:bodyPr>
            <a:normAutofit/>
          </a:bodyPr>
          <a:lstStyle/>
          <a:p>
            <a:r>
              <a:rPr lang="en-US" b="1" dirty="0"/>
              <a:t>Tasks </a:t>
            </a:r>
            <a:r>
              <a:rPr lang="en-US" dirty="0"/>
              <a:t>that can be </a:t>
            </a:r>
            <a:r>
              <a:rPr lang="en-US" b="1" dirty="0"/>
              <a:t>solved</a:t>
            </a:r>
            <a:r>
              <a:rPr lang="en-US" dirty="0"/>
              <a:t> using </a:t>
            </a:r>
            <a:r>
              <a:rPr lang="en-US" b="1" dirty="0" smtClean="0"/>
              <a:t>BFS</a:t>
            </a:r>
            <a:endParaRPr lang="ru-RU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323528" y="1268761"/>
            <a:ext cx="8424936" cy="4536504"/>
          </a:xfrm>
        </p:spPr>
        <p:txBody>
          <a:bodyPr>
            <a:normAutofit/>
          </a:bodyPr>
          <a:lstStyle/>
          <a:p>
            <a:r>
              <a:rPr lang="en-US" dirty="0" smtClean="0"/>
              <a:t>The </a:t>
            </a:r>
            <a:r>
              <a:rPr lang="en-US" dirty="0"/>
              <a:t>l</a:t>
            </a:r>
            <a:r>
              <a:rPr lang="en-US" dirty="0" smtClean="0"/>
              <a:t>owest common ancestor </a:t>
            </a:r>
            <a:r>
              <a:rPr lang="ru-RU" dirty="0"/>
              <a:t>(</a:t>
            </a:r>
            <a:r>
              <a:rPr lang="ru-RU" dirty="0" err="1"/>
              <a:t>lca</a:t>
            </a:r>
            <a:r>
              <a:rPr lang="ru-RU" dirty="0"/>
              <a:t>)</a:t>
            </a:r>
            <a:r>
              <a:rPr lang="en-US" dirty="0" smtClean="0"/>
              <a:t> of </a:t>
            </a:r>
            <a:r>
              <a:rPr lang="en-US" dirty="0"/>
              <a:t>vertices </a:t>
            </a:r>
            <a:r>
              <a:rPr lang="en-US" b="1" dirty="0">
                <a:solidFill>
                  <a:srgbClr val="00B050"/>
                </a:solidFill>
              </a:rPr>
              <a:t>u</a:t>
            </a:r>
            <a:r>
              <a:rPr lang="en-US" dirty="0"/>
              <a:t> and </a:t>
            </a:r>
            <a:r>
              <a:rPr lang="en-US" b="1" dirty="0">
                <a:solidFill>
                  <a:srgbClr val="00B0F0"/>
                </a:solidFill>
              </a:rPr>
              <a:t>v</a:t>
            </a:r>
            <a:r>
              <a:rPr lang="en-US" dirty="0"/>
              <a:t> in the root tree T 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332656"/>
            <a:ext cx="5902424" cy="5976663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/>
              <a:t>LCA (root, u, v)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for</a:t>
            </a:r>
            <a:r>
              <a:rPr lang="ru-RU" sz="1600" dirty="0" smtClean="0"/>
              <a:t> </a:t>
            </a:r>
            <a:r>
              <a:rPr lang="en-US" sz="1600" dirty="0" smtClean="0"/>
              <a:t>all </a:t>
            </a:r>
            <a:r>
              <a:rPr lang="ru-RU" sz="1600" dirty="0" smtClean="0"/>
              <a:t>u ∈ V[G]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dirty="0" smtClean="0"/>
              <a:t>color[u] ⟵ WHITE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a ⟵ u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while</a:t>
            </a:r>
            <a:r>
              <a:rPr lang="en-US" sz="1600" dirty="0" smtClean="0"/>
              <a:t> a!= root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color[a] =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a ⟵ π[a]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color[a] =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a ⟵ v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while</a:t>
            </a:r>
            <a:r>
              <a:rPr lang="en-US" sz="1600" dirty="0" smtClean="0"/>
              <a:t> a!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a ⟵ π[a]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return</a:t>
            </a:r>
            <a:r>
              <a:rPr lang="en-US" sz="1600" dirty="0" smtClean="0"/>
              <a:t> a</a:t>
            </a:r>
            <a:endParaRPr lang="ru-RU" sz="1600" dirty="0"/>
          </a:p>
        </p:txBody>
      </p:sp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6546043" y="3017487"/>
            <a:ext cx="646772" cy="732434"/>
          </a:xfrm>
          <a:prstGeom prst="straightConnector1">
            <a:avLst/>
          </a:prstGeom>
          <a:ln w="38100">
            <a:solidFill>
              <a:srgbClr val="92D05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6041987" y="3953591"/>
            <a:ext cx="300386" cy="732434"/>
          </a:xfrm>
          <a:prstGeom prst="straightConnector1">
            <a:avLst/>
          </a:prstGeom>
          <a:ln w="38100">
            <a:solidFill>
              <a:srgbClr val="92D05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7150634" y="2771636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Овал 6"/>
          <p:cNvSpPr/>
          <p:nvPr/>
        </p:nvSpPr>
        <p:spPr>
          <a:xfrm>
            <a:off x="6300192" y="37077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5796136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7956376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7150634" y="269962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t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5782482" y="45718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u</a:t>
            </a:r>
            <a:endParaRPr lang="ru-RU" dirty="0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7396485" y="3017487"/>
            <a:ext cx="602072" cy="444402"/>
          </a:xfrm>
          <a:prstGeom prst="straightConnector1">
            <a:avLst/>
          </a:prstGeom>
          <a:ln w="38100">
            <a:solidFill>
              <a:srgbClr val="7030A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6817902" y="183553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Овал 23"/>
          <p:cNvSpPr/>
          <p:nvPr/>
        </p:nvSpPr>
        <p:spPr>
          <a:xfrm>
            <a:off x="8258062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8100392" y="57959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TextBox 26"/>
          <p:cNvSpPr txBox="1"/>
          <p:nvPr/>
        </p:nvSpPr>
        <p:spPr>
          <a:xfrm>
            <a:off x="8086738" y="572396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v</a:t>
            </a:r>
            <a:endParaRPr lang="ru-RU" dirty="0"/>
          </a:p>
        </p:txBody>
      </p:sp>
      <p:cxnSp>
        <p:nvCxnSpPr>
          <p:cNvPr id="28" name="Прямая со стрелкой 27"/>
          <p:cNvCxnSpPr>
            <a:stCxn id="10" idx="5"/>
            <a:endCxn id="24" idx="0"/>
          </p:cNvCxnSpPr>
          <p:nvPr/>
        </p:nvCxnSpPr>
        <p:spPr>
          <a:xfrm>
            <a:off x="8202227" y="3665559"/>
            <a:ext cx="199851" cy="978285"/>
          </a:xfrm>
          <a:prstGeom prst="straightConnector1">
            <a:avLst/>
          </a:prstGeom>
          <a:ln w="38100">
            <a:solidFill>
              <a:srgbClr val="7030A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>
            <a:stCxn id="24" idx="4"/>
          </p:cNvCxnSpPr>
          <p:nvPr/>
        </p:nvCxnSpPr>
        <p:spPr>
          <a:xfrm flipH="1">
            <a:off x="8316416" y="4931876"/>
            <a:ext cx="85662" cy="864096"/>
          </a:xfrm>
          <a:prstGeom prst="straightConnector1">
            <a:avLst/>
          </a:prstGeom>
          <a:ln w="38100">
            <a:solidFill>
              <a:srgbClr val="7030A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6955091" y="2132856"/>
            <a:ext cx="237724" cy="680961"/>
          </a:xfrm>
          <a:prstGeom prst="straightConnector1">
            <a:avLst/>
          </a:prstGeom>
          <a:ln w="38100">
            <a:solidFill>
              <a:srgbClr val="92D05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Овал 40"/>
          <p:cNvSpPr/>
          <p:nvPr/>
        </p:nvSpPr>
        <p:spPr>
          <a:xfrm>
            <a:off x="6444208" y="548680"/>
            <a:ext cx="562410" cy="56241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6444208" y="620688"/>
            <a:ext cx="581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root</a:t>
            </a:r>
            <a:endParaRPr lang="ru-RU" dirty="0"/>
          </a:p>
        </p:txBody>
      </p:sp>
      <p:cxnSp>
        <p:nvCxnSpPr>
          <p:cNvPr id="43" name="Прямая со стрелкой 42"/>
          <p:cNvCxnSpPr>
            <a:stCxn id="41" idx="4"/>
            <a:endCxn id="22" idx="0"/>
          </p:cNvCxnSpPr>
          <p:nvPr/>
        </p:nvCxnSpPr>
        <p:spPr>
          <a:xfrm>
            <a:off x="6725413" y="1111090"/>
            <a:ext cx="236505" cy="724442"/>
          </a:xfrm>
          <a:prstGeom prst="straightConnector1">
            <a:avLst/>
          </a:prstGeom>
          <a:ln w="38100">
            <a:solidFill>
              <a:srgbClr val="92D05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/>
            </a:pPr>
            <a:r>
              <a:rPr lang="en-US" sz="2800" b="1" dirty="0"/>
              <a:t>Checking</a:t>
            </a:r>
            <a:r>
              <a:rPr lang="en-US" sz="2800" dirty="0"/>
              <a:t> </a:t>
            </a:r>
            <a:r>
              <a:rPr lang="en-US" sz="2800" dirty="0">
                <a:solidFill>
                  <a:srgbClr val="00B050"/>
                </a:solidFill>
              </a:rPr>
              <a:t>undirected</a:t>
            </a:r>
            <a:r>
              <a:rPr lang="en-US" sz="2800" dirty="0"/>
              <a:t> graph for </a:t>
            </a:r>
            <a:r>
              <a:rPr lang="en-US" sz="2800" b="1" dirty="0"/>
              <a:t>connectivity</a:t>
            </a:r>
            <a:r>
              <a:rPr lang="en-US" sz="2800" dirty="0"/>
              <a:t> and finding </a:t>
            </a:r>
            <a:r>
              <a:rPr lang="en-US" sz="2800" b="1" dirty="0"/>
              <a:t>connectivity components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Прямая со стрелкой 16"/>
          <p:cNvCxnSpPr/>
          <p:nvPr/>
        </p:nvCxnSpPr>
        <p:spPr>
          <a:xfrm flipH="1">
            <a:off x="2729619" y="2576147"/>
            <a:ext cx="588418" cy="444402"/>
          </a:xfrm>
          <a:prstGeom prst="straightConnector1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2081547" y="3224219"/>
            <a:ext cx="444402" cy="444402"/>
          </a:xfrm>
          <a:prstGeom prst="straightConnector1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2576147"/>
            <a:ext cx="372394" cy="660426"/>
          </a:xfrm>
          <a:prstGeom prst="straightConnector1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3338408"/>
            <a:ext cx="1296144" cy="40650"/>
          </a:xfrm>
          <a:prstGeom prst="straightConnector1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3379058"/>
            <a:ext cx="1223306" cy="360040"/>
          </a:xfrm>
          <a:prstGeom prst="straightConnector1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endCxn id="13" idx="0"/>
          </p:cNvCxnSpPr>
          <p:nvPr/>
        </p:nvCxnSpPr>
        <p:spPr>
          <a:xfrm flipH="1">
            <a:off x="6876256" y="39144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3482424"/>
            <a:ext cx="864096" cy="15528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51386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35637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38424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Овал 12"/>
          <p:cNvSpPr/>
          <p:nvPr/>
        </p:nvSpPr>
        <p:spPr>
          <a:xfrm>
            <a:off x="6732240" y="50666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319439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29783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32664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49225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1835696" y="36264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Овал 42"/>
          <p:cNvSpPr/>
          <p:nvPr/>
        </p:nvSpPr>
        <p:spPr>
          <a:xfrm>
            <a:off x="6948264" y="36264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3" name="TextBox 52"/>
          <p:cNvSpPr txBox="1"/>
          <p:nvPr/>
        </p:nvSpPr>
        <p:spPr>
          <a:xfrm>
            <a:off x="6718586" y="49945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4" name="TextBox 53"/>
          <p:cNvSpPr txBox="1"/>
          <p:nvPr/>
        </p:nvSpPr>
        <p:spPr>
          <a:xfrm>
            <a:off x="6926468" y="35544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5" name="TextBox 54"/>
          <p:cNvSpPr txBox="1"/>
          <p:nvPr/>
        </p:nvSpPr>
        <p:spPr>
          <a:xfrm>
            <a:off x="1822042" y="35544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56" name="TextBox 55"/>
          <p:cNvSpPr txBox="1"/>
          <p:nvPr/>
        </p:nvSpPr>
        <p:spPr>
          <a:xfrm>
            <a:off x="4846378" y="48505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57" name="TextBox 56"/>
          <p:cNvSpPr txBox="1"/>
          <p:nvPr/>
        </p:nvSpPr>
        <p:spPr>
          <a:xfrm>
            <a:off x="5422442" y="31943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58" name="TextBox 57"/>
          <p:cNvSpPr txBox="1"/>
          <p:nvPr/>
        </p:nvSpPr>
        <p:spPr>
          <a:xfrm>
            <a:off x="2470114" y="29063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59" name="TextBox 58"/>
          <p:cNvSpPr txBox="1"/>
          <p:nvPr/>
        </p:nvSpPr>
        <p:spPr>
          <a:xfrm>
            <a:off x="3838266" y="31223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cxnSp>
        <p:nvCxnSpPr>
          <p:cNvPr id="38" name="Прямая со стрелкой 37"/>
          <p:cNvCxnSpPr/>
          <p:nvPr/>
        </p:nvCxnSpPr>
        <p:spPr>
          <a:xfrm flipH="1">
            <a:off x="1879177" y="5024419"/>
            <a:ext cx="444402" cy="444402"/>
          </a:xfrm>
          <a:prstGeom prst="straightConnector1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Овал 39"/>
          <p:cNvSpPr/>
          <p:nvPr/>
        </p:nvSpPr>
        <p:spPr>
          <a:xfrm>
            <a:off x="2281398" y="47785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Овал 41"/>
          <p:cNvSpPr/>
          <p:nvPr/>
        </p:nvSpPr>
        <p:spPr>
          <a:xfrm>
            <a:off x="1633326" y="54266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TextBox 63"/>
          <p:cNvSpPr txBox="1"/>
          <p:nvPr/>
        </p:nvSpPr>
        <p:spPr>
          <a:xfrm>
            <a:off x="1547664" y="535463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10</a:t>
            </a:r>
            <a:endParaRPr lang="ru-RU" dirty="0"/>
          </a:p>
        </p:txBody>
      </p:sp>
      <p:sp>
        <p:nvSpPr>
          <p:cNvPr id="65" name="TextBox 64"/>
          <p:cNvSpPr txBox="1"/>
          <p:nvPr/>
        </p:nvSpPr>
        <p:spPr>
          <a:xfrm>
            <a:off x="2267744" y="47065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9</a:t>
            </a:r>
            <a:endParaRPr lang="ru-RU" dirty="0"/>
          </a:p>
        </p:txBody>
      </p:sp>
      <p:cxnSp>
        <p:nvCxnSpPr>
          <p:cNvPr id="66" name="Прямая со стрелкой 65"/>
          <p:cNvCxnSpPr>
            <a:stCxn id="67" idx="5"/>
          </p:cNvCxnSpPr>
          <p:nvPr/>
        </p:nvCxnSpPr>
        <p:spPr>
          <a:xfrm>
            <a:off x="3456526" y="5591191"/>
            <a:ext cx="1043466" cy="636829"/>
          </a:xfrm>
          <a:prstGeom prst="straightConnector1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Овал 66"/>
          <p:cNvSpPr/>
          <p:nvPr/>
        </p:nvSpPr>
        <p:spPr>
          <a:xfrm>
            <a:off x="3210675" y="53453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Овал 67"/>
          <p:cNvSpPr/>
          <p:nvPr/>
        </p:nvSpPr>
        <p:spPr>
          <a:xfrm>
            <a:off x="4513646" y="615601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4427984" y="608400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12</a:t>
            </a:r>
            <a:endParaRPr lang="ru-RU" dirty="0"/>
          </a:p>
        </p:txBody>
      </p:sp>
      <p:sp>
        <p:nvSpPr>
          <p:cNvPr id="72" name="TextBox 71"/>
          <p:cNvSpPr txBox="1"/>
          <p:nvPr/>
        </p:nvSpPr>
        <p:spPr>
          <a:xfrm>
            <a:off x="3131840" y="527333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11</a:t>
            </a:r>
            <a:endParaRPr lang="ru-RU" dirty="0"/>
          </a:p>
        </p:txBody>
      </p:sp>
      <p:cxnSp>
        <p:nvCxnSpPr>
          <p:cNvPr id="78" name="Прямая со стрелкой 77"/>
          <p:cNvCxnSpPr/>
          <p:nvPr/>
        </p:nvCxnSpPr>
        <p:spPr>
          <a:xfrm>
            <a:off x="2562603" y="4994592"/>
            <a:ext cx="641245" cy="432048"/>
          </a:xfrm>
          <a:prstGeom prst="straightConnector1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/>
            </a:pPr>
            <a:r>
              <a:rPr lang="en-US" sz="2800" dirty="0"/>
              <a:t>Checking undirected graph for connectivity and finding connectivity components</a:t>
            </a:r>
            <a:r>
              <a:rPr lang="ru-RU" sz="2800" dirty="0" smtClean="0"/>
              <a:t>.</a:t>
            </a:r>
          </a:p>
        </p:txBody>
      </p:sp>
      <p:sp>
        <p:nvSpPr>
          <p:cNvPr id="61" name="Овал 60"/>
          <p:cNvSpPr/>
          <p:nvPr/>
        </p:nvSpPr>
        <p:spPr>
          <a:xfrm>
            <a:off x="3275856" y="23302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TextBox 61"/>
          <p:cNvSpPr txBox="1"/>
          <p:nvPr/>
        </p:nvSpPr>
        <p:spPr>
          <a:xfrm>
            <a:off x="3275856" y="22582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Прямая со стрелкой 16"/>
          <p:cNvCxnSpPr/>
          <p:nvPr/>
        </p:nvCxnSpPr>
        <p:spPr>
          <a:xfrm flipH="1">
            <a:off x="2729619" y="25761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2081547" y="32242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25761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33384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33790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endCxn id="13" idx="0"/>
          </p:cNvCxnSpPr>
          <p:nvPr/>
        </p:nvCxnSpPr>
        <p:spPr>
          <a:xfrm flipH="1">
            <a:off x="6876256" y="39144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34824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51386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35637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38424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Овал 12"/>
          <p:cNvSpPr/>
          <p:nvPr/>
        </p:nvSpPr>
        <p:spPr>
          <a:xfrm>
            <a:off x="6732240" y="50666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2330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31943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29783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32664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49225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1835696" y="36264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Овал 42"/>
          <p:cNvSpPr/>
          <p:nvPr/>
        </p:nvSpPr>
        <p:spPr>
          <a:xfrm>
            <a:off x="6948264" y="36264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3275856" y="20422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3838266" y="29063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2470114" y="26903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5422442" y="29783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4846378" y="46345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1822042" y="33384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6926468" y="33384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2" name="TextBox 51"/>
          <p:cNvSpPr txBox="1"/>
          <p:nvPr/>
        </p:nvSpPr>
        <p:spPr>
          <a:xfrm>
            <a:off x="6718586" y="47785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3" name="TextBox 52"/>
          <p:cNvSpPr txBox="1"/>
          <p:nvPr/>
        </p:nvSpPr>
        <p:spPr>
          <a:xfrm>
            <a:off x="6718586" y="49945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926468" y="35544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822042" y="35544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46378" y="48505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422442" y="31943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470114" y="29063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838266" y="31223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3275856" y="22582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38" name="Прямая со стрелкой 37"/>
          <p:cNvCxnSpPr/>
          <p:nvPr/>
        </p:nvCxnSpPr>
        <p:spPr>
          <a:xfrm flipH="1">
            <a:off x="1879177" y="50244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Овал 39"/>
          <p:cNvSpPr/>
          <p:nvPr/>
        </p:nvSpPr>
        <p:spPr>
          <a:xfrm>
            <a:off x="2281398" y="47785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Овал 41"/>
          <p:cNvSpPr/>
          <p:nvPr/>
        </p:nvSpPr>
        <p:spPr>
          <a:xfrm>
            <a:off x="1633326" y="54266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TextBox 43"/>
          <p:cNvSpPr txBox="1"/>
          <p:nvPr/>
        </p:nvSpPr>
        <p:spPr>
          <a:xfrm>
            <a:off x="2267744" y="44905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0</a:t>
            </a:r>
            <a:endParaRPr lang="ru-RU" dirty="0"/>
          </a:p>
        </p:txBody>
      </p:sp>
      <p:sp>
        <p:nvSpPr>
          <p:cNvPr id="63" name="TextBox 62"/>
          <p:cNvSpPr txBox="1"/>
          <p:nvPr/>
        </p:nvSpPr>
        <p:spPr>
          <a:xfrm>
            <a:off x="1619672" y="51386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64" name="TextBox 63"/>
          <p:cNvSpPr txBox="1"/>
          <p:nvPr/>
        </p:nvSpPr>
        <p:spPr>
          <a:xfrm>
            <a:off x="1547664" y="535463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10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267744" y="47065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9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66" name="Прямая со стрелкой 65"/>
          <p:cNvCxnSpPr>
            <a:stCxn id="67" idx="5"/>
          </p:cNvCxnSpPr>
          <p:nvPr/>
        </p:nvCxnSpPr>
        <p:spPr>
          <a:xfrm>
            <a:off x="3456526" y="5591191"/>
            <a:ext cx="1043466" cy="636829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Овал 66"/>
          <p:cNvSpPr/>
          <p:nvPr/>
        </p:nvSpPr>
        <p:spPr>
          <a:xfrm>
            <a:off x="3210675" y="53453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Овал 67"/>
          <p:cNvSpPr/>
          <p:nvPr/>
        </p:nvSpPr>
        <p:spPr>
          <a:xfrm>
            <a:off x="4513646" y="615601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TextBox 68"/>
          <p:cNvSpPr txBox="1"/>
          <p:nvPr/>
        </p:nvSpPr>
        <p:spPr>
          <a:xfrm>
            <a:off x="3197021" y="50573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70" name="TextBox 69"/>
          <p:cNvSpPr txBox="1"/>
          <p:nvPr/>
        </p:nvSpPr>
        <p:spPr>
          <a:xfrm>
            <a:off x="4499992" y="58679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71" name="TextBox 70"/>
          <p:cNvSpPr txBox="1"/>
          <p:nvPr/>
        </p:nvSpPr>
        <p:spPr>
          <a:xfrm>
            <a:off x="4427984" y="608400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131840" y="527333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11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78" name="Прямая со стрелкой 77"/>
          <p:cNvCxnSpPr/>
          <p:nvPr/>
        </p:nvCxnSpPr>
        <p:spPr>
          <a:xfrm>
            <a:off x="2562603" y="4994592"/>
            <a:ext cx="641245" cy="432048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/>
            </a:pPr>
            <a:r>
              <a:rPr lang="en-US" sz="2800" dirty="0"/>
              <a:t>Checking undirected graph for connectivity and finding connectivity components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832048" y="1914401"/>
            <a:ext cx="7772400" cy="15145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en-US" sz="2000" b="1" dirty="0" smtClean="0"/>
              <a:t>Algorithm</a:t>
            </a:r>
            <a:r>
              <a:rPr lang="ru-RU" sz="2000" b="1" dirty="0" smtClean="0"/>
              <a:t>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en-US" sz="2000" dirty="0"/>
              <a:t>If </a:t>
            </a:r>
            <a:r>
              <a:rPr lang="en-US" sz="2000" dirty="0" smtClean="0"/>
              <a:t>BFS </a:t>
            </a:r>
            <a:r>
              <a:rPr lang="en-US" sz="2000" dirty="0"/>
              <a:t>has bypassed all vertices in one run (the </a:t>
            </a:r>
            <a:r>
              <a:rPr lang="en-US" sz="2000" dirty="0" err="1"/>
              <a:t>BFS_Visit</a:t>
            </a:r>
            <a:r>
              <a:rPr lang="en-US" sz="2000" dirty="0"/>
              <a:t> function), then the graph is connected</a:t>
            </a:r>
            <a:r>
              <a:rPr lang="ru-RU" sz="2000" dirty="0" smtClean="0"/>
              <a:t>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/>
            </a:pPr>
            <a:r>
              <a:rPr lang="en-US" sz="2800" dirty="0"/>
              <a:t>Checking undirected graph for </a:t>
            </a:r>
            <a:r>
              <a:rPr lang="en-US" sz="2800" b="1" dirty="0">
                <a:solidFill>
                  <a:srgbClr val="00B050"/>
                </a:solidFill>
              </a:rPr>
              <a:t>connectivity</a:t>
            </a:r>
            <a:r>
              <a:rPr lang="en-US" sz="2800" dirty="0"/>
              <a:t> and finding connectivity components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332656"/>
            <a:ext cx="5902424" cy="6264696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all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u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(G, u, color) 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all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u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color[u] = WHITE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NOT CONNECTED GRAPH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err="1" smtClean="0"/>
              <a:t>BFS_Visit</a:t>
            </a:r>
            <a:r>
              <a:rPr lang="ru-RU" sz="1600" dirty="0" smtClean="0"/>
              <a:t> (</a:t>
            </a:r>
            <a:r>
              <a:rPr lang="en-US" sz="1600" dirty="0" smtClean="0"/>
              <a:t>G</a:t>
            </a:r>
            <a:r>
              <a:rPr lang="ru-RU" sz="1600" dirty="0" smtClean="0"/>
              <a:t>, </a:t>
            </a:r>
            <a:r>
              <a:rPr lang="en-US" sz="1600" dirty="0" smtClean="0"/>
              <a:t>s, color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/>
              <a:t>color[s]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Q ⟵ ∅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/>
              <a:t>to end(Q) ⟵ s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while</a:t>
            </a:r>
            <a:r>
              <a:rPr lang="en-US" sz="1600" dirty="0" smtClean="0"/>
              <a:t> Q ≠ ∅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</a:t>
            </a:r>
            <a:r>
              <a:rPr lang="en-US" sz="1600" dirty="0"/>
              <a:t> u ⟵ first(Q)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for</a:t>
            </a:r>
            <a:r>
              <a:rPr lang="en-US" sz="1600" dirty="0" smtClean="0"/>
              <a:t> all</a:t>
            </a:r>
            <a:r>
              <a:rPr lang="ru-RU" sz="1600" dirty="0" smtClean="0"/>
              <a:t> </a:t>
            </a:r>
            <a:r>
              <a:rPr lang="en-US" sz="1600" dirty="0" smtClean="0"/>
              <a:t>v </a:t>
            </a:r>
            <a:r>
              <a:rPr lang="ru-RU" sz="1600" dirty="0" smtClean="0"/>
              <a:t>∈ </a:t>
            </a:r>
            <a:r>
              <a:rPr lang="en-US" sz="1600" dirty="0" err="1" smtClean="0"/>
              <a:t>Adj</a:t>
            </a:r>
            <a:r>
              <a:rPr lang="ru-RU" sz="1600" dirty="0" smtClean="0"/>
              <a:t>[</a:t>
            </a:r>
            <a:r>
              <a:rPr lang="en-US" sz="1600" dirty="0" smtClean="0"/>
              <a:t>u</a:t>
            </a:r>
            <a:r>
              <a:rPr lang="ru-RU" sz="1600" dirty="0" smtClean="0"/>
              <a:t>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</a:t>
            </a:r>
            <a:r>
              <a:rPr lang="ru-RU" sz="1600" dirty="0" smtClean="0"/>
              <a:t>=</a:t>
            </a:r>
            <a:r>
              <a:rPr lang="en-US" sz="1600" dirty="0" smtClean="0"/>
              <a:t> WHITE </a:t>
            </a:r>
            <a:r>
              <a:rPr lang="en-US" sz="1600" b="1" dirty="0" smtClean="0"/>
              <a:t>than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color[v]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</a:t>
            </a:r>
            <a:r>
              <a:rPr lang="en-US" sz="1600" dirty="0"/>
              <a:t> to end(Q) ⟵ </a:t>
            </a:r>
            <a:r>
              <a:rPr lang="en-US" sz="1600" dirty="0" smtClean="0"/>
              <a:t>v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832048" y="1914401"/>
            <a:ext cx="7772400" cy="15145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en-US" sz="20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Algorithm</a:t>
            </a:r>
            <a:r>
              <a:rPr lang="ru-RU" sz="20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:</a:t>
            </a:r>
            <a:endParaRPr lang="ru-RU" sz="2000" dirty="0" smtClean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If BFS has bypassed all vertices in one run (the </a:t>
            </a:r>
            <a:r>
              <a:rPr lang="en-US" sz="20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BFS_Visit</a:t>
            </a:r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function), then the graph is connected</a:t>
            </a:r>
            <a:r>
              <a:rPr lang="ru-RU" sz="20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2">
                  <a:lumMod val="60000"/>
                  <a:lumOff val="40000"/>
                </a:schemeClr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821432" y="3356992"/>
            <a:ext cx="7772400" cy="1730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en-US" sz="2000" b="1" dirty="0" smtClean="0"/>
              <a:t>Algorithm</a:t>
            </a:r>
            <a:r>
              <a:rPr lang="ru-RU" sz="2000" b="1" dirty="0" smtClean="0"/>
              <a:t>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>
                <a:solidFill>
                  <a:srgbClr val="FF0000"/>
                </a:solidFill>
              </a:rPr>
              <a:t>Для каждого запуска обхода в ширину </a:t>
            </a:r>
            <a:r>
              <a:rPr lang="en-US" sz="2000" dirty="0" smtClean="0">
                <a:solidFill>
                  <a:srgbClr val="FF0000"/>
                </a:solidFill>
              </a:rPr>
              <a:t>(</a:t>
            </a:r>
            <a:r>
              <a:rPr lang="ru-RU" sz="2000" dirty="0" smtClean="0">
                <a:solidFill>
                  <a:srgbClr val="FF0000"/>
                </a:solidFill>
              </a:rPr>
              <a:t>функции </a:t>
            </a:r>
            <a:r>
              <a:rPr lang="en-US" sz="2000" dirty="0" err="1" smtClean="0">
                <a:solidFill>
                  <a:srgbClr val="FF0000"/>
                </a:solidFill>
              </a:rPr>
              <a:t>BFS_Visit</a:t>
            </a:r>
            <a:r>
              <a:rPr lang="en-US" sz="2000" dirty="0" smtClean="0">
                <a:solidFill>
                  <a:srgbClr val="FF0000"/>
                </a:solidFill>
              </a:rPr>
              <a:t>) </a:t>
            </a:r>
            <a:r>
              <a:rPr lang="ru-RU" sz="2000" dirty="0" smtClean="0">
                <a:solidFill>
                  <a:srgbClr val="FF0000"/>
                </a:solidFill>
              </a:rPr>
              <a:t>все пройденные вершины помещаются в отдельное множество соответствующее обходимой компоненте</a:t>
            </a:r>
            <a:r>
              <a:rPr lang="ru-RU" sz="2000" dirty="0" smtClean="0"/>
              <a:t>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/>
            </a:pPr>
            <a:r>
              <a:rPr lang="en-US" sz="2800" dirty="0"/>
              <a:t>Checking undirected graph for connectivity and finding </a:t>
            </a:r>
            <a:r>
              <a:rPr lang="en-US" sz="2800" b="1" dirty="0">
                <a:solidFill>
                  <a:srgbClr val="00B050"/>
                </a:solidFill>
              </a:rPr>
              <a:t>connectivity components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332656"/>
            <a:ext cx="5902424" cy="6264696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all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u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d[u] ⟵ 0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count</a:t>
            </a:r>
            <a:r>
              <a:rPr lang="en-US" sz="1600" dirty="0" smtClean="0"/>
              <a:t> 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⟵ 0 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all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u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color[u] = WHITE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 </a:t>
            </a: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(G, u, color, d, count) 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count ⟵ count+1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err="1" smtClean="0"/>
              <a:t>BFS_Visit</a:t>
            </a:r>
            <a:r>
              <a:rPr lang="ru-RU" sz="1600" dirty="0" smtClean="0"/>
              <a:t> (</a:t>
            </a:r>
            <a:r>
              <a:rPr lang="en-US" sz="1600" dirty="0" smtClean="0"/>
              <a:t>G</a:t>
            </a:r>
            <a:r>
              <a:rPr lang="ru-RU" sz="1600" dirty="0" smtClean="0"/>
              <a:t>, </a:t>
            </a:r>
            <a:r>
              <a:rPr lang="en-US" sz="1600" dirty="0" smtClean="0"/>
              <a:t>s, color, d, count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/>
              <a:t>color[s]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Q ⟵ ∅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/>
              <a:t>to end(Q) ⟵ s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while</a:t>
            </a:r>
            <a:r>
              <a:rPr lang="en-US" sz="1600" dirty="0" smtClean="0"/>
              <a:t> Q ≠ ∅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u </a:t>
            </a:r>
            <a:r>
              <a:rPr lang="en-US" sz="1600" dirty="0"/>
              <a:t>⟵ first(Q)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for</a:t>
            </a:r>
            <a:r>
              <a:rPr lang="en-US" sz="1600" dirty="0" smtClean="0"/>
              <a:t> all</a:t>
            </a:r>
            <a:r>
              <a:rPr lang="ru-RU" sz="1600" dirty="0" smtClean="0"/>
              <a:t> </a:t>
            </a:r>
            <a:r>
              <a:rPr lang="en-US" sz="1600" dirty="0" smtClean="0"/>
              <a:t>v </a:t>
            </a:r>
            <a:r>
              <a:rPr lang="ru-RU" sz="1600" dirty="0" smtClean="0"/>
              <a:t>∈ </a:t>
            </a:r>
            <a:r>
              <a:rPr lang="en-US" sz="1600" dirty="0" err="1" smtClean="0"/>
              <a:t>Adj</a:t>
            </a:r>
            <a:r>
              <a:rPr lang="ru-RU" sz="1600" dirty="0" smtClean="0"/>
              <a:t>[</a:t>
            </a:r>
            <a:r>
              <a:rPr lang="en-US" sz="1600" dirty="0" smtClean="0"/>
              <a:t>u</a:t>
            </a:r>
            <a:r>
              <a:rPr lang="ru-RU" sz="1600" dirty="0" smtClean="0"/>
              <a:t>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</a:t>
            </a:r>
            <a:r>
              <a:rPr lang="ru-RU" sz="1600" dirty="0" smtClean="0"/>
              <a:t>=</a:t>
            </a:r>
            <a:r>
              <a:rPr lang="en-US" sz="1600" dirty="0" smtClean="0"/>
              <a:t> WHITE </a:t>
            </a:r>
            <a:r>
              <a:rPr lang="en-US" sz="1600" b="1" dirty="0" smtClean="0"/>
              <a:t>than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color[v] ⟵ BLACK</a:t>
            </a:r>
            <a:br>
              <a:rPr lang="en-US" sz="1600" dirty="0" smtClean="0"/>
            </a:br>
            <a:r>
              <a:rPr lang="en-US" sz="1600" dirty="0" smtClean="0"/>
              <a:t>			d[v] ⟵ count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</a:t>
            </a:r>
            <a:r>
              <a:rPr lang="en-US" sz="1600" dirty="0"/>
              <a:t> to end(Q) ⟵ </a:t>
            </a:r>
            <a:r>
              <a:rPr lang="en-US" sz="1600" dirty="0" smtClean="0"/>
              <a:t>v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 startAt="2"/>
            </a:pPr>
            <a:r>
              <a:rPr lang="en-US" sz="2800" b="1" dirty="0"/>
              <a:t>Checking</a:t>
            </a:r>
            <a:r>
              <a:rPr lang="en-US" sz="2800" dirty="0"/>
              <a:t> </a:t>
            </a:r>
            <a:r>
              <a:rPr lang="en-US" sz="2800" dirty="0" smtClean="0">
                <a:solidFill>
                  <a:srgbClr val="00B050"/>
                </a:solidFill>
              </a:rPr>
              <a:t>directed</a:t>
            </a:r>
            <a:r>
              <a:rPr lang="en-US" sz="2800" dirty="0" smtClean="0"/>
              <a:t> </a:t>
            </a:r>
            <a:r>
              <a:rPr lang="en-US" sz="2800" dirty="0"/>
              <a:t>graph for </a:t>
            </a:r>
            <a:r>
              <a:rPr lang="en-US" sz="2800" b="1" dirty="0"/>
              <a:t>connectivity</a:t>
            </a:r>
            <a:r>
              <a:rPr lang="en-US" sz="2800" dirty="0"/>
              <a:t> and finding </a:t>
            </a:r>
            <a:r>
              <a:rPr lang="en-US" sz="2800" b="1" dirty="0"/>
              <a:t>connectivity components</a:t>
            </a:r>
            <a:r>
              <a:rPr lang="ru-RU" sz="2800" b="1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Заголовок 1"/>
          <p:cNvSpPr txBox="1">
            <a:spLocks/>
          </p:cNvSpPr>
          <p:nvPr/>
        </p:nvSpPr>
        <p:spPr>
          <a:xfrm>
            <a:off x="832048" y="3568154"/>
            <a:ext cx="7772400" cy="15145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Алгоритм:</a:t>
            </a:r>
            <a:endParaRPr lang="ru-RU" sz="2000" dirty="0" smtClean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Если обход в ширину обошел все вершины за один запуск, то граф связен.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2">
                  <a:lumMod val="60000"/>
                  <a:lumOff val="40000"/>
                </a:schemeClr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1" name="Заголовок 1"/>
          <p:cNvSpPr txBox="1">
            <a:spLocks/>
          </p:cNvSpPr>
          <p:nvPr/>
        </p:nvSpPr>
        <p:spPr>
          <a:xfrm>
            <a:off x="821432" y="5010745"/>
            <a:ext cx="7772400" cy="1730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Для каждого запуска обхода в ширину все пройденные вершины помещаются в отдельное множество соответствующее обходимой компоненте.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2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 startAt="2"/>
            </a:pPr>
            <a:r>
              <a:rPr lang="ru-RU" sz="2800" dirty="0" smtClean="0"/>
              <a:t>Проверка орграфа на </a:t>
            </a:r>
            <a:r>
              <a:rPr lang="ru-RU" sz="2800" b="1" dirty="0" smtClean="0"/>
              <a:t>связность</a:t>
            </a:r>
            <a:r>
              <a:rPr lang="ru-RU" sz="2800" dirty="0" smtClean="0"/>
              <a:t> и поиск </a:t>
            </a:r>
            <a:r>
              <a:rPr lang="ru-RU" sz="2800" b="1" dirty="0" smtClean="0">
                <a:solidFill>
                  <a:srgbClr val="00B050"/>
                </a:solidFill>
              </a:rPr>
              <a:t>компонент связности</a:t>
            </a:r>
            <a:r>
              <a:rPr lang="ru-RU" sz="2800" dirty="0" smtClean="0"/>
              <a:t>.</a:t>
            </a:r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827584" y="1914401"/>
            <a:ext cx="7772400" cy="1730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</a:pPr>
            <a:r>
              <a:rPr lang="ru-RU" sz="2000" dirty="0" smtClean="0"/>
              <a:t>Задачу можно решить Для решения поставленных задач следует проводить обход 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 startAt="3"/>
            </a:pPr>
            <a:r>
              <a:rPr lang="ru-RU" sz="2800" dirty="0" smtClean="0"/>
              <a:t>Поиск (из заданной</a:t>
            </a:r>
            <a:r>
              <a:rPr lang="en-US" sz="2800" dirty="0" smtClean="0"/>
              <a:t> </a:t>
            </a:r>
            <a:r>
              <a:rPr lang="ru-RU" sz="2800" dirty="0" smtClean="0"/>
              <a:t>вершины) </a:t>
            </a:r>
            <a:r>
              <a:rPr lang="ru-RU" sz="2800" b="1" dirty="0" smtClean="0"/>
              <a:t>кратчайших расстояний</a:t>
            </a:r>
            <a:r>
              <a:rPr lang="ru-RU" sz="2800" dirty="0" smtClean="0"/>
              <a:t> и </a:t>
            </a:r>
            <a:r>
              <a:rPr lang="ru-RU" sz="2800" b="1" dirty="0" smtClean="0"/>
              <a:t>кратчайших путей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</a:t>
            </a:r>
            <a:r>
              <a:rPr lang="ru-RU" sz="2800" dirty="0" err="1" smtClean="0"/>
              <a:t>НЕориентированном</a:t>
            </a:r>
            <a:r>
              <a:rPr lang="ru-RU" sz="2800" dirty="0" smtClean="0"/>
              <a:t> графе.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Прямая со стрелкой 16"/>
          <p:cNvCxnSpPr/>
          <p:nvPr/>
        </p:nvCxnSpPr>
        <p:spPr>
          <a:xfrm flipH="1">
            <a:off x="2729619" y="25761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2081547" y="32242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25761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33384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33790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endCxn id="13" idx="0"/>
          </p:cNvCxnSpPr>
          <p:nvPr/>
        </p:nvCxnSpPr>
        <p:spPr>
          <a:xfrm flipH="1">
            <a:off x="6876256" y="39144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34824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51386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35637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38424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Овал 12"/>
          <p:cNvSpPr/>
          <p:nvPr/>
        </p:nvSpPr>
        <p:spPr>
          <a:xfrm>
            <a:off x="6732240" y="50666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2330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31943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29783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32664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49225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1835696" y="36264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Овал 42"/>
          <p:cNvSpPr/>
          <p:nvPr/>
        </p:nvSpPr>
        <p:spPr>
          <a:xfrm>
            <a:off x="6948264" y="36264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3275856" y="20422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3838266" y="29063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2470114" y="26903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5422442" y="29783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4846378" y="46345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1822042" y="33384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6926468" y="33384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2" name="TextBox 51"/>
          <p:cNvSpPr txBox="1"/>
          <p:nvPr/>
        </p:nvSpPr>
        <p:spPr>
          <a:xfrm>
            <a:off x="6718586" y="47785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3" name="TextBox 52"/>
          <p:cNvSpPr txBox="1"/>
          <p:nvPr/>
        </p:nvSpPr>
        <p:spPr>
          <a:xfrm>
            <a:off x="6718586" y="49945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926468" y="35544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822042" y="35544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46378" y="48505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422442" y="31943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470114" y="29063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838266" y="31223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3275856" y="22582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0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 startAt="3"/>
            </a:pPr>
            <a:r>
              <a:rPr lang="ru-RU" sz="2800" dirty="0" smtClean="0"/>
              <a:t>Поиск (из заданной</a:t>
            </a:r>
            <a:r>
              <a:rPr lang="en-US" sz="2800" dirty="0" smtClean="0"/>
              <a:t> </a:t>
            </a:r>
            <a:r>
              <a:rPr lang="ru-RU" sz="2800" dirty="0" smtClean="0"/>
              <a:t>вершины) </a:t>
            </a:r>
            <a:r>
              <a:rPr lang="ru-RU" sz="2800" b="1" dirty="0" smtClean="0"/>
              <a:t>кратчайших расстояний</a:t>
            </a:r>
            <a:r>
              <a:rPr lang="ru-RU" sz="2800" dirty="0" smtClean="0"/>
              <a:t> и </a:t>
            </a:r>
            <a:r>
              <a:rPr lang="ru-RU" sz="2800" b="1" dirty="0" smtClean="0"/>
              <a:t>кратчайших путей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</a:t>
            </a:r>
            <a:r>
              <a:rPr lang="ru-RU" sz="2800" dirty="0" err="1" smtClean="0"/>
              <a:t>НЕориентированном</a:t>
            </a:r>
            <a:r>
              <a:rPr lang="ru-RU" sz="2800" dirty="0" smtClean="0"/>
              <a:t> графе.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1054224" y="1986409"/>
            <a:ext cx="7772400" cy="20906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Обход в ширину запускается из вершины для которой ищутся кратчайшие расстояния (пути). Номера волн находимые при обходе являются кратчайшими расстояниями.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 startAt="3"/>
            </a:pPr>
            <a:r>
              <a:rPr lang="ru-RU" sz="2800" dirty="0" smtClean="0"/>
              <a:t>Поиск (из заданной</a:t>
            </a:r>
            <a:r>
              <a:rPr lang="en-US" sz="2800" dirty="0" smtClean="0"/>
              <a:t> </a:t>
            </a:r>
            <a:r>
              <a:rPr lang="ru-RU" sz="2800" dirty="0" smtClean="0"/>
              <a:t>вершины) </a:t>
            </a:r>
            <a:r>
              <a:rPr lang="ru-RU" sz="2800" b="1" dirty="0" smtClean="0">
                <a:solidFill>
                  <a:srgbClr val="00B050"/>
                </a:solidFill>
              </a:rPr>
              <a:t>кратчайших расстояний</a:t>
            </a:r>
            <a:r>
              <a:rPr lang="ru-RU" sz="2800" dirty="0" smtClean="0"/>
              <a:t> и </a:t>
            </a:r>
            <a:r>
              <a:rPr lang="ru-RU" sz="2800" b="1" dirty="0" smtClean="0"/>
              <a:t>кратчайших путей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</a:t>
            </a:r>
            <a:r>
              <a:rPr lang="ru-RU" sz="2800" dirty="0" err="1" smtClean="0"/>
              <a:t>НЕориентированном</a:t>
            </a:r>
            <a:r>
              <a:rPr lang="ru-RU" sz="2800" dirty="0" smtClean="0"/>
              <a:t> графе.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332656"/>
            <a:ext cx="5902424" cy="6264696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d[u] ⟵ 0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color[u] = WHITE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 </a:t>
            </a: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(G, u, color, d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err="1" smtClean="0"/>
              <a:t>BFS_Visit</a:t>
            </a:r>
            <a:r>
              <a:rPr lang="ru-RU" sz="1600" dirty="0" smtClean="0"/>
              <a:t> (</a:t>
            </a:r>
            <a:r>
              <a:rPr lang="en-US" sz="1600" dirty="0" smtClean="0"/>
              <a:t>G</a:t>
            </a:r>
            <a:r>
              <a:rPr lang="ru-RU" sz="1600" dirty="0" smtClean="0"/>
              <a:t>, </a:t>
            </a:r>
            <a:r>
              <a:rPr lang="en-US" sz="1600" dirty="0" smtClean="0"/>
              <a:t>s, color, d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/>
              <a:t>color[s]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Q ⟵ ∅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В очередь(</a:t>
            </a:r>
            <a:r>
              <a:rPr lang="en-US" sz="1600" dirty="0" smtClean="0"/>
              <a:t>Q, s)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while</a:t>
            </a:r>
            <a:r>
              <a:rPr lang="en-US" sz="1600" dirty="0" smtClean="0"/>
              <a:t> Q ≠ ∅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u ⟵ </a:t>
            </a:r>
            <a:r>
              <a:rPr lang="ru-RU" sz="1600" dirty="0" smtClean="0"/>
              <a:t>из очереди(</a:t>
            </a:r>
            <a:r>
              <a:rPr lang="en-US" sz="1600" dirty="0" smtClean="0"/>
              <a:t>Q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for</a:t>
            </a:r>
            <a:r>
              <a:rPr lang="en-US" sz="1600" dirty="0" smtClean="0"/>
              <a:t> </a:t>
            </a:r>
            <a:r>
              <a:rPr lang="ru-RU" sz="1600" dirty="0" smtClean="0"/>
              <a:t>(для) каждой </a:t>
            </a:r>
            <a:r>
              <a:rPr lang="en-US" sz="1600" dirty="0" smtClean="0"/>
              <a:t>v </a:t>
            </a:r>
            <a:r>
              <a:rPr lang="ru-RU" sz="1600" dirty="0" smtClean="0"/>
              <a:t>∈ </a:t>
            </a:r>
            <a:r>
              <a:rPr lang="en-US" sz="1600" dirty="0" err="1" smtClean="0"/>
              <a:t>Adj</a:t>
            </a:r>
            <a:r>
              <a:rPr lang="ru-RU" sz="1600" dirty="0" smtClean="0"/>
              <a:t>[</a:t>
            </a:r>
            <a:r>
              <a:rPr lang="en-US" sz="1600" dirty="0" smtClean="0"/>
              <a:t>u</a:t>
            </a:r>
            <a:r>
              <a:rPr lang="ru-RU" sz="1600" dirty="0" smtClean="0"/>
              <a:t>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</a:t>
            </a:r>
            <a:r>
              <a:rPr lang="ru-RU" sz="1600" dirty="0" smtClean="0"/>
              <a:t>=</a:t>
            </a:r>
            <a:r>
              <a:rPr lang="en-US" sz="1600" dirty="0" smtClean="0"/>
              <a:t> WHITE </a:t>
            </a:r>
            <a:r>
              <a:rPr lang="en-US" sz="1600" b="1" dirty="0" smtClean="0"/>
              <a:t>than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color[v] ⟵ BLACK</a:t>
            </a:r>
            <a:br>
              <a:rPr lang="en-US" sz="1600" dirty="0" smtClean="0"/>
            </a:br>
            <a:r>
              <a:rPr lang="en-US" sz="1600" dirty="0" smtClean="0"/>
              <a:t>			d[v] ⟵ d[v]+1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</a:t>
            </a:r>
            <a:r>
              <a:rPr lang="ru-RU" sz="1600" dirty="0" smtClean="0"/>
              <a:t>В очередь(</a:t>
            </a:r>
            <a:r>
              <a:rPr lang="en-US" sz="1600" dirty="0" smtClean="0"/>
              <a:t>Q, v)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1054224" y="1986409"/>
            <a:ext cx="7772400" cy="20906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Алгоритм:</a:t>
            </a:r>
            <a:endParaRPr lang="ru-RU" sz="2000" dirty="0" smtClean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Обход в ширину запускается из вершины для которой ищутся кратчайшие расстояния (пути). Номера волн находимые при обходе являются кратчайшими расстояниями.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2">
                  <a:lumMod val="60000"/>
                  <a:lumOff val="40000"/>
                </a:schemeClr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3"/>
            </a:pPr>
            <a:r>
              <a:rPr lang="ru-RU" sz="2800" dirty="0" smtClean="0"/>
              <a:t>Поиск (из заданной</a:t>
            </a:r>
            <a:r>
              <a:rPr lang="en-US" sz="2800" dirty="0" smtClean="0"/>
              <a:t> </a:t>
            </a:r>
            <a:r>
              <a:rPr lang="ru-RU" sz="2800" dirty="0" smtClean="0"/>
              <a:t>вершины) </a:t>
            </a:r>
            <a:r>
              <a:rPr lang="ru-RU" sz="2800" b="1" dirty="0" smtClean="0"/>
              <a:t>кратчайших расстояний</a:t>
            </a:r>
            <a:r>
              <a:rPr lang="ru-RU" sz="2800" dirty="0" smtClean="0"/>
              <a:t> и </a:t>
            </a:r>
            <a:r>
              <a:rPr lang="ru-RU" sz="2800" b="1" dirty="0" smtClean="0">
                <a:solidFill>
                  <a:srgbClr val="00B050"/>
                </a:solidFill>
              </a:rPr>
              <a:t>кратчайших путей</a:t>
            </a:r>
            <a:r>
              <a:rPr lang="ru-RU" sz="2800" b="1" dirty="0" smtClean="0"/>
              <a:t>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</a:t>
            </a:r>
            <a:r>
              <a:rPr lang="ru-RU" sz="2800" dirty="0" err="1" smtClean="0"/>
              <a:t>НЕориентированном</a:t>
            </a:r>
            <a:r>
              <a:rPr lang="ru-RU" sz="2800" dirty="0" smtClean="0"/>
              <a:t> графе.</a:t>
            </a: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1043608" y="4149080"/>
            <a:ext cx="7772400" cy="16561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Путь к выбранной вершине, собирается в стек двигаясь от нее по предкам к вершине из которой производился обход.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332656"/>
            <a:ext cx="5902424" cy="6264696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G, s, t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π[u] ⟵ NIL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(G, s, color, π) 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PATH⟵ ∅</a:t>
            </a:r>
            <a:r>
              <a:rPr lang="en-US" sz="1600" dirty="0" smtClean="0"/>
              <a:t> 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parent ⟵ t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while   π[parent] != NIL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в начало очереди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PATH, (parent, π[parent ]))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parent ⟵ π[parent ]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err="1" smtClean="0"/>
              <a:t>BFS_Visit</a:t>
            </a:r>
            <a:r>
              <a:rPr lang="ru-RU" sz="1600" dirty="0" smtClean="0"/>
              <a:t> (</a:t>
            </a:r>
            <a:r>
              <a:rPr lang="en-US" sz="1600" dirty="0" smtClean="0"/>
              <a:t>G</a:t>
            </a:r>
            <a:r>
              <a:rPr lang="ru-RU" sz="1600" dirty="0" smtClean="0"/>
              <a:t>, </a:t>
            </a:r>
            <a:r>
              <a:rPr lang="en-US" sz="1600" dirty="0" smtClean="0"/>
              <a:t>s, color, π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/>
              <a:t>color[s]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Q ⟵ ∅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В очередь(</a:t>
            </a:r>
            <a:r>
              <a:rPr lang="en-US" sz="1600" dirty="0" smtClean="0"/>
              <a:t>Q, s)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while</a:t>
            </a:r>
            <a:r>
              <a:rPr lang="en-US" sz="1600" dirty="0" smtClean="0"/>
              <a:t> Q ≠ ∅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u ⟵ </a:t>
            </a:r>
            <a:r>
              <a:rPr lang="ru-RU" sz="1600" dirty="0" smtClean="0"/>
              <a:t>из очереди(</a:t>
            </a:r>
            <a:r>
              <a:rPr lang="en-US" sz="1600" dirty="0" smtClean="0"/>
              <a:t>Q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for</a:t>
            </a:r>
            <a:r>
              <a:rPr lang="en-US" sz="1600" dirty="0" smtClean="0"/>
              <a:t> </a:t>
            </a:r>
            <a:r>
              <a:rPr lang="ru-RU" sz="1600" dirty="0" smtClean="0"/>
              <a:t>(для) каждой </a:t>
            </a:r>
            <a:r>
              <a:rPr lang="en-US" sz="1600" dirty="0" smtClean="0"/>
              <a:t>v </a:t>
            </a:r>
            <a:r>
              <a:rPr lang="ru-RU" sz="1600" dirty="0" smtClean="0"/>
              <a:t>∈ </a:t>
            </a:r>
            <a:r>
              <a:rPr lang="en-US" sz="1600" dirty="0" err="1" smtClean="0"/>
              <a:t>Adj</a:t>
            </a:r>
            <a:r>
              <a:rPr lang="ru-RU" sz="1600" dirty="0" smtClean="0"/>
              <a:t>[</a:t>
            </a:r>
            <a:r>
              <a:rPr lang="en-US" sz="1600" dirty="0" smtClean="0"/>
              <a:t>u</a:t>
            </a:r>
            <a:r>
              <a:rPr lang="ru-RU" sz="1600" dirty="0" smtClean="0"/>
              <a:t>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</a:t>
            </a:r>
            <a:r>
              <a:rPr lang="ru-RU" sz="1600" dirty="0" smtClean="0"/>
              <a:t>=</a:t>
            </a:r>
            <a:r>
              <a:rPr lang="en-US" sz="1600" dirty="0" smtClean="0"/>
              <a:t> WHITE </a:t>
            </a:r>
            <a:r>
              <a:rPr lang="en-US" sz="1600" b="1" dirty="0" smtClean="0"/>
              <a:t>than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color[v]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π[v] ⟵ u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</a:t>
            </a:r>
            <a:r>
              <a:rPr lang="ru-RU" sz="1600" dirty="0" smtClean="0"/>
              <a:t>В очередь(</a:t>
            </a:r>
            <a:r>
              <a:rPr lang="en-US" sz="1600" dirty="0" smtClean="0"/>
              <a:t>Q, v)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4"/>
            </a:pPr>
            <a:r>
              <a:rPr lang="ru-RU" sz="2800" dirty="0" smtClean="0"/>
              <a:t>Проверка </a:t>
            </a:r>
            <a:r>
              <a:rPr lang="ru-RU" sz="2800" dirty="0" err="1" smtClean="0"/>
              <a:t>НЕориентированного</a:t>
            </a:r>
            <a:r>
              <a:rPr lang="ru-RU" sz="2800" dirty="0" smtClean="0"/>
              <a:t> графа на </a:t>
            </a:r>
            <a:r>
              <a:rPr lang="ru-RU" sz="2800" b="1" dirty="0" smtClean="0"/>
              <a:t>ацикличность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4"/>
            </a:pPr>
            <a:r>
              <a:rPr lang="ru-RU" sz="2800" dirty="0" smtClean="0"/>
              <a:t>Проверка </a:t>
            </a:r>
            <a:r>
              <a:rPr lang="ru-RU" sz="2800" dirty="0" err="1" smtClean="0"/>
              <a:t>НЕориентированного</a:t>
            </a:r>
            <a:r>
              <a:rPr lang="ru-RU" sz="2800" dirty="0" smtClean="0"/>
              <a:t> графа на </a:t>
            </a:r>
            <a:r>
              <a:rPr lang="ru-RU" sz="2800" b="1" dirty="0" smtClean="0">
                <a:solidFill>
                  <a:srgbClr val="00B050"/>
                </a:solidFill>
              </a:rPr>
              <a:t>ацикличность</a:t>
            </a:r>
            <a:r>
              <a:rPr lang="ru-RU" sz="2800" dirty="0" smtClean="0"/>
              <a:t>.</a:t>
            </a:r>
            <a:endParaRPr lang="ru-RU" sz="2800" b="1" dirty="0" smtClean="0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1120080" y="2346449"/>
            <a:ext cx="7772400" cy="15145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Если во время обхода происходит попытка обратиться к не белой вершине (которая не является непосредственным предком), то это говорит о найденном цикле (но не обязательно контуре).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332656"/>
            <a:ext cx="5902424" cy="6264696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color[u] = WHITE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 </a:t>
            </a: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(G, u, color) 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err="1" smtClean="0"/>
              <a:t>BFS_Visit</a:t>
            </a:r>
            <a:r>
              <a:rPr lang="ru-RU" sz="1600" dirty="0" smtClean="0"/>
              <a:t> (</a:t>
            </a:r>
            <a:r>
              <a:rPr lang="en-US" sz="1600" dirty="0" smtClean="0"/>
              <a:t>G</a:t>
            </a:r>
            <a:r>
              <a:rPr lang="ru-RU" sz="1600" dirty="0" smtClean="0"/>
              <a:t>, </a:t>
            </a:r>
            <a:r>
              <a:rPr lang="en-US" sz="1600" dirty="0" smtClean="0"/>
              <a:t>s, color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/>
              <a:t>color[s]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Q ⟵ ∅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В очередь(</a:t>
            </a:r>
            <a:r>
              <a:rPr lang="en-US" sz="1600" dirty="0" smtClean="0"/>
              <a:t>Q, s)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while</a:t>
            </a:r>
            <a:r>
              <a:rPr lang="en-US" sz="1600" dirty="0" smtClean="0"/>
              <a:t> Q ≠ ∅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u ⟵ </a:t>
            </a:r>
            <a:r>
              <a:rPr lang="ru-RU" sz="1600" dirty="0" smtClean="0"/>
              <a:t>из очереди(</a:t>
            </a:r>
            <a:r>
              <a:rPr lang="en-US" sz="1600" dirty="0" smtClean="0"/>
              <a:t>Q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for</a:t>
            </a:r>
            <a:r>
              <a:rPr lang="en-US" sz="1600" dirty="0" smtClean="0"/>
              <a:t> </a:t>
            </a:r>
            <a:r>
              <a:rPr lang="ru-RU" sz="1600" dirty="0" smtClean="0"/>
              <a:t>(для) каждой </a:t>
            </a:r>
            <a:r>
              <a:rPr lang="en-US" sz="1600" dirty="0" smtClean="0"/>
              <a:t>v </a:t>
            </a:r>
            <a:r>
              <a:rPr lang="ru-RU" sz="1600" dirty="0" smtClean="0"/>
              <a:t>∈ </a:t>
            </a:r>
            <a:r>
              <a:rPr lang="en-US" sz="1600" dirty="0" err="1" smtClean="0"/>
              <a:t>Adj</a:t>
            </a:r>
            <a:r>
              <a:rPr lang="ru-RU" sz="1600" dirty="0" smtClean="0"/>
              <a:t>[</a:t>
            </a:r>
            <a:r>
              <a:rPr lang="en-US" sz="1600" dirty="0" smtClean="0"/>
              <a:t>u</a:t>
            </a:r>
            <a:r>
              <a:rPr lang="ru-RU" sz="1600" dirty="0" smtClean="0"/>
              <a:t>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</a:t>
            </a:r>
            <a:r>
              <a:rPr lang="ru-RU" sz="1600" dirty="0" smtClean="0"/>
              <a:t>=</a:t>
            </a:r>
            <a:r>
              <a:rPr lang="en-US" sz="1600" dirty="0" smtClean="0"/>
              <a:t> WHITE </a:t>
            </a:r>
            <a:r>
              <a:rPr lang="en-US" sz="1600" b="1" dirty="0" smtClean="0"/>
              <a:t>than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color[v] ⟵ BLACK</a:t>
            </a:r>
            <a:br>
              <a:rPr lang="en-US" sz="1600" dirty="0" smtClean="0"/>
            </a:br>
            <a:r>
              <a:rPr lang="en-US" sz="1600" dirty="0" smtClean="0"/>
              <a:t>			</a:t>
            </a:r>
            <a:r>
              <a:rPr lang="ru-RU" sz="1600" dirty="0" smtClean="0"/>
              <a:t>В очередь(</a:t>
            </a:r>
            <a:r>
              <a:rPr lang="en-US" sz="1600" dirty="0" smtClean="0"/>
              <a:t>Q, v)</a:t>
            </a:r>
            <a:br>
              <a:rPr lang="en-US" sz="1600" dirty="0" smtClean="0"/>
            </a:br>
            <a:r>
              <a:rPr lang="en-US" sz="1600" dirty="0" smtClean="0"/>
              <a:t>		else</a:t>
            </a:r>
            <a:br>
              <a:rPr lang="en-US" sz="1600" dirty="0" smtClean="0"/>
            </a:br>
            <a:r>
              <a:rPr lang="en-US" sz="1600" dirty="0" smtClean="0"/>
              <a:t>			THERE IS A LOOP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5"/>
            </a:pPr>
            <a:r>
              <a:rPr lang="ru-RU" sz="2800" dirty="0" smtClean="0"/>
              <a:t>Проверка орграфа на </a:t>
            </a:r>
            <a:r>
              <a:rPr lang="ru-RU" sz="2800" b="1" dirty="0" smtClean="0"/>
              <a:t>ацикличность</a:t>
            </a:r>
            <a:r>
              <a:rPr lang="ru-RU" sz="2800" dirty="0" smtClean="0"/>
              <a:t> и </a:t>
            </a:r>
            <a:r>
              <a:rPr lang="ru-RU" sz="2800" b="1" dirty="0" err="1" smtClean="0"/>
              <a:t>бесконтурность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5"/>
            </a:pPr>
            <a:r>
              <a:rPr lang="ru-RU" sz="2800" dirty="0" smtClean="0"/>
              <a:t>Проверка орграфа на </a:t>
            </a:r>
            <a:r>
              <a:rPr lang="ru-RU" sz="2800" b="1" dirty="0" smtClean="0">
                <a:solidFill>
                  <a:srgbClr val="00B050"/>
                </a:solidFill>
              </a:rPr>
              <a:t>ацикличность</a:t>
            </a:r>
            <a:r>
              <a:rPr lang="ru-RU" sz="2800" dirty="0" smtClean="0"/>
              <a:t> и </a:t>
            </a:r>
            <a:r>
              <a:rPr lang="ru-RU" sz="2800" b="1" dirty="0" err="1" smtClean="0"/>
              <a:t>бесконтурность</a:t>
            </a:r>
            <a:r>
              <a:rPr lang="ru-RU" sz="2800" dirty="0" smtClean="0"/>
              <a:t>.</a:t>
            </a:r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1120080" y="2346449"/>
            <a:ext cx="7772400" cy="15145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Если во время обхода происходит попытка обратиться к не белой вершине (которая не является непосредственным предком), то это говорит о найденном цикле (но не обязательно контуре).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5"/>
            </a:pPr>
            <a:r>
              <a:rPr lang="ru-RU" sz="2800" dirty="0" smtClean="0"/>
              <a:t>Проверка орграфа на </a:t>
            </a:r>
            <a:r>
              <a:rPr lang="ru-RU" sz="2800" b="1" dirty="0" smtClean="0"/>
              <a:t>ацикличность</a:t>
            </a:r>
            <a:r>
              <a:rPr lang="ru-RU" sz="2800" dirty="0" smtClean="0"/>
              <a:t> и </a:t>
            </a:r>
            <a:r>
              <a:rPr lang="ru-RU" sz="2800" b="1" dirty="0" err="1" smtClean="0">
                <a:solidFill>
                  <a:srgbClr val="00B050"/>
                </a:solidFill>
              </a:rPr>
              <a:t>бесконтурность</a:t>
            </a:r>
            <a:r>
              <a:rPr lang="ru-RU" sz="2800" dirty="0" smtClean="0"/>
              <a:t>.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1115616" y="4005064"/>
            <a:ext cx="777686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dirty="0" smtClean="0"/>
              <a:t>Нужно определить дуга является обратной или перекрестной. Если дуга обратная, то найден контур.</a:t>
            </a:r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1120080" y="2346449"/>
            <a:ext cx="7772400" cy="15145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Если во время обхода происходит попытка обратиться к не белой вершине (которая не является непосредственным предком), то это говорит о найденном цикле (но не обязательно контуре).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6"/>
            </a:pPr>
            <a:r>
              <a:rPr lang="ru-RU" sz="2800" dirty="0" smtClean="0"/>
              <a:t>Проверка </a:t>
            </a:r>
            <a:r>
              <a:rPr lang="ru-RU" sz="2800" dirty="0" err="1" smtClean="0"/>
              <a:t>оргафа</a:t>
            </a:r>
            <a:r>
              <a:rPr lang="ru-RU" sz="2800" dirty="0" smtClean="0"/>
              <a:t> на </a:t>
            </a:r>
            <a:r>
              <a:rPr lang="ru-RU" sz="2800" b="1" dirty="0" smtClean="0"/>
              <a:t>ацикличность</a:t>
            </a:r>
            <a:r>
              <a:rPr lang="ru-RU" sz="2800" dirty="0" smtClean="0"/>
              <a:t> и </a:t>
            </a:r>
            <a:r>
              <a:rPr lang="ru-RU" sz="2800" b="1" dirty="0" err="1" smtClean="0"/>
              <a:t>бесконтурность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6"/>
            </a:pPr>
            <a:r>
              <a:rPr lang="ru-RU" sz="2800" dirty="0" smtClean="0"/>
              <a:t>Проверка любого графа на </a:t>
            </a:r>
            <a:r>
              <a:rPr lang="ru-RU" sz="2800" b="1" dirty="0" smtClean="0"/>
              <a:t>ацикличность</a:t>
            </a:r>
            <a:r>
              <a:rPr lang="ru-RU" sz="2800" dirty="0" smtClean="0"/>
              <a:t> и </a:t>
            </a:r>
            <a:r>
              <a:rPr lang="ru-RU" sz="2800" b="1" dirty="0" err="1" smtClean="0"/>
              <a:t>бесконтурность</a:t>
            </a:r>
            <a:endParaRPr lang="ru-RU" sz="2800" b="1" dirty="0" smtClean="0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1120080" y="2346449"/>
            <a:ext cx="7772400" cy="24507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Если во время обхода происходит попытка обратиться к не белой вершине (которая не является непосредственным предком), то это говорит о найденном цикле (но не обязательно контуре).</a:t>
            </a:r>
          </a:p>
          <a:p>
            <a:pPr lvl="0">
              <a:spcBef>
                <a:spcPct val="0"/>
              </a:spcBef>
            </a:pP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Нужно определить дуга является обратной или перекрестной. Если дуга обратная, то найден контур.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7"/>
            </a:pPr>
            <a:r>
              <a:rPr lang="ru-RU" sz="2800" dirty="0" smtClean="0"/>
              <a:t>Поиск </a:t>
            </a:r>
            <a:r>
              <a:rPr lang="ru-RU" sz="2800" b="1" dirty="0" smtClean="0"/>
              <a:t>кратчайшего цикла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</a:t>
            </a:r>
            <a:r>
              <a:rPr lang="ru-RU" sz="2800" dirty="0" err="1" smtClean="0"/>
              <a:t>НЕориентированном</a:t>
            </a:r>
            <a:r>
              <a:rPr lang="ru-RU" sz="2800" dirty="0" smtClean="0"/>
              <a:t> графе.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7"/>
            </a:pPr>
            <a:r>
              <a:rPr lang="ru-RU" sz="2800" dirty="0" smtClean="0"/>
              <a:t>Поиск </a:t>
            </a:r>
            <a:r>
              <a:rPr lang="ru-RU" sz="2800" b="1" dirty="0" smtClean="0"/>
              <a:t>кратчайшего цикла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</a:t>
            </a:r>
            <a:r>
              <a:rPr lang="ru-RU" sz="2800" dirty="0" err="1" smtClean="0"/>
              <a:t>НЕориентированном</a:t>
            </a:r>
            <a:r>
              <a:rPr lang="ru-RU" sz="2800" dirty="0" smtClean="0"/>
              <a:t> графе.</a:t>
            </a: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838200" y="1986409"/>
            <a:ext cx="7772400" cy="20906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Обход в ширину запускается для каждой вершины графа.</a:t>
            </a: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Для каждого обхода сохраняется первый найденный цикл.</a:t>
            </a: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endParaRPr lang="ru-RU" sz="2000" dirty="0" smtClean="0">
              <a:latin typeface="+mj-lt"/>
              <a:ea typeface="+mj-ea"/>
              <a:cs typeface="+mj-cs"/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Наименьший из этих циклов и будет кратчайшим.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7"/>
            </a:pPr>
            <a:r>
              <a:rPr lang="ru-RU" sz="2800" dirty="0" smtClean="0"/>
              <a:t>Поиск </a:t>
            </a:r>
            <a:r>
              <a:rPr lang="ru-RU" sz="2800" b="1" dirty="0" smtClean="0"/>
              <a:t>кратчайшего цикла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</a:t>
            </a:r>
            <a:r>
              <a:rPr lang="ru-RU" sz="2800" dirty="0" err="1" smtClean="0"/>
              <a:t>НЕориентированном</a:t>
            </a:r>
            <a:r>
              <a:rPr lang="ru-RU" sz="2800" dirty="0" smtClean="0"/>
              <a:t> графе.</a:t>
            </a: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838200" y="1986409"/>
            <a:ext cx="7772400" cy="34588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</a:t>
            </a:r>
            <a:r>
              <a:rPr lang="en-US" sz="2000" b="1" dirty="0" smtClean="0"/>
              <a:t>2</a:t>
            </a:r>
            <a:r>
              <a:rPr lang="ru-RU" sz="2000" b="1" dirty="0" smtClean="0"/>
              <a:t>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Во время обхода в ширину каждой вершине назначается номер волны и список всех предков.</a:t>
            </a: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Если во время обхода происходит попытка обратиться к не белой вершине (что говорит о цикле), то для вершин образующих просматриваемое ребро ищется общий предок с минимальным номером волны. Из номеров волны получившихся трех вершин определяется длина цикла.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7"/>
            </a:pPr>
            <a:r>
              <a:rPr lang="ru-RU" sz="2800" dirty="0" smtClean="0"/>
              <a:t>Поиск </a:t>
            </a:r>
            <a:r>
              <a:rPr lang="ru-RU" sz="2800" b="1" dirty="0" smtClean="0"/>
              <a:t>кратчайшего цикла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</a:t>
            </a:r>
            <a:r>
              <a:rPr lang="ru-RU" sz="2800" dirty="0" err="1" smtClean="0"/>
              <a:t>НЕориентированном</a:t>
            </a:r>
            <a:r>
              <a:rPr lang="ru-RU" sz="2800" dirty="0" smtClean="0"/>
              <a:t> графе.</a:t>
            </a: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838200" y="1986409"/>
            <a:ext cx="7772400" cy="34588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Алгоритм3: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Во время обхода в ширину каждой вершине назначается номер волны.</a:t>
            </a: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Если во время обхода происходит попытка обратиться к не белой вершине (что говорит о цикле), то просматриваемое ребро помещаются в специальный список.</a:t>
            </a: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После обхода, для вершин каждого ребра, из созданного списка, находится ближайший общий предок </a:t>
            </a:r>
            <a:r>
              <a:rPr lang="ru-RU" sz="2000" smtClean="0"/>
              <a:t>(например, </a:t>
            </a:r>
            <a:r>
              <a:rPr lang="ru-RU" sz="2000" dirty="0" smtClean="0"/>
              <a:t>с помощью описанного </a:t>
            </a:r>
            <a:r>
              <a:rPr lang="ru-RU" sz="2000" smtClean="0"/>
              <a:t>выше алгоритма).</a:t>
            </a:r>
            <a:endParaRPr lang="ru-RU" sz="20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3568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8"/>
            </a:pPr>
            <a:r>
              <a:rPr lang="ru-RU" sz="2800" dirty="0" smtClean="0"/>
              <a:t>Поиск </a:t>
            </a:r>
            <a:r>
              <a:rPr lang="ru-RU" sz="2800" b="1" dirty="0" smtClean="0"/>
              <a:t>кратчайшего цикла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орграфе.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1986409"/>
            <a:ext cx="7772400" cy="20906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Обход в ширину запускается для каждой вершины графа.</a:t>
            </a: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Для каждого обхода сохраняется первый найденный цикл.</a:t>
            </a: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endParaRPr lang="ru-RU" sz="2000" dirty="0" smtClean="0">
              <a:latin typeface="+mj-lt"/>
              <a:ea typeface="+mj-ea"/>
              <a:cs typeface="+mj-cs"/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Наименьший из этих циклов и будет кратчайшим.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8"/>
            </a:pPr>
            <a:r>
              <a:rPr lang="ru-RU" sz="2800" dirty="0" smtClean="0"/>
              <a:t>Поиск </a:t>
            </a:r>
            <a:r>
              <a:rPr lang="ru-RU" sz="2800" b="1" dirty="0" smtClean="0"/>
              <a:t>кратчайшего цикла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орграфе.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 txBox="1">
            <a:spLocks/>
          </p:cNvSpPr>
          <p:nvPr/>
        </p:nvSpPr>
        <p:spPr>
          <a:xfrm>
            <a:off x="683568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9"/>
            </a:pPr>
            <a:r>
              <a:rPr lang="ru-RU" sz="2800" dirty="0" smtClean="0"/>
              <a:t>Проверка </a:t>
            </a:r>
            <a:r>
              <a:rPr lang="ru-RU" sz="2800" dirty="0" err="1" smtClean="0"/>
              <a:t>НЕориентированного</a:t>
            </a:r>
            <a:r>
              <a:rPr lang="ru-RU" sz="2800" dirty="0" smtClean="0"/>
              <a:t> графа на </a:t>
            </a:r>
            <a:r>
              <a:rPr lang="ru-RU" sz="2800" b="1" dirty="0" err="1" smtClean="0"/>
              <a:t>двудольность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1700809"/>
            <a:ext cx="7772400" cy="15121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b="1" dirty="0" smtClean="0"/>
              <a:t>Определение</a:t>
            </a:r>
            <a:r>
              <a:rPr lang="ru-RU" sz="2000" dirty="0" smtClean="0"/>
              <a:t>: Двудольный граф – это граф все вершины которого можно разделить на два множества, таких что ни какие две вершины, каждого из этих множеств не соединены ребром.</a:t>
            </a:r>
          </a:p>
        </p:txBody>
      </p:sp>
      <p:cxnSp>
        <p:nvCxnSpPr>
          <p:cNvPr id="39" name="Прямая со стрелкой 38"/>
          <p:cNvCxnSpPr>
            <a:stCxn id="57" idx="3"/>
            <a:endCxn id="63" idx="1"/>
          </p:cNvCxnSpPr>
          <p:nvPr/>
        </p:nvCxnSpPr>
        <p:spPr>
          <a:xfrm>
            <a:off x="3347864" y="3541658"/>
            <a:ext cx="2218594" cy="422756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 стрелкой 39"/>
          <p:cNvCxnSpPr>
            <a:stCxn id="63" idx="1"/>
            <a:endCxn id="60" idx="3"/>
          </p:cNvCxnSpPr>
          <p:nvPr/>
        </p:nvCxnSpPr>
        <p:spPr>
          <a:xfrm flipH="1">
            <a:off x="3334210" y="3964414"/>
            <a:ext cx="2232248" cy="4413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 стрелкой 40"/>
          <p:cNvCxnSpPr>
            <a:stCxn id="57" idx="3"/>
            <a:endCxn id="64" idx="1"/>
          </p:cNvCxnSpPr>
          <p:nvPr/>
        </p:nvCxnSpPr>
        <p:spPr>
          <a:xfrm>
            <a:off x="3347864" y="3541658"/>
            <a:ext cx="2218594" cy="1142836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 стрелкой 41"/>
          <p:cNvCxnSpPr>
            <a:stCxn id="64" idx="1"/>
            <a:endCxn id="58" idx="3"/>
          </p:cNvCxnSpPr>
          <p:nvPr/>
        </p:nvCxnSpPr>
        <p:spPr>
          <a:xfrm flipH="1">
            <a:off x="3267714" y="4684494"/>
            <a:ext cx="2298744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Прямая со стрелкой 43"/>
          <p:cNvCxnSpPr>
            <a:stCxn id="54" idx="6"/>
            <a:endCxn id="59" idx="1"/>
          </p:cNvCxnSpPr>
          <p:nvPr/>
        </p:nvCxnSpPr>
        <p:spPr>
          <a:xfrm flipV="1">
            <a:off x="3275856" y="5548590"/>
            <a:ext cx="2290602" cy="463406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Прямая соединительная линия 44"/>
          <p:cNvCxnSpPr>
            <a:stCxn id="64" idx="1"/>
            <a:endCxn id="61" idx="3"/>
          </p:cNvCxnSpPr>
          <p:nvPr/>
        </p:nvCxnSpPr>
        <p:spPr>
          <a:xfrm flipH="1">
            <a:off x="3289510" y="4684494"/>
            <a:ext cx="2276948" cy="51334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Овал 48"/>
          <p:cNvSpPr/>
          <p:nvPr/>
        </p:nvSpPr>
        <p:spPr>
          <a:xfrm>
            <a:off x="3046178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Овал 49"/>
          <p:cNvSpPr/>
          <p:nvPr/>
        </p:nvSpPr>
        <p:spPr>
          <a:xfrm>
            <a:off x="5580112" y="385175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Овал 50"/>
          <p:cNvSpPr/>
          <p:nvPr/>
        </p:nvSpPr>
        <p:spPr>
          <a:xfrm>
            <a:off x="3046178" y="42930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Овал 51"/>
          <p:cNvSpPr/>
          <p:nvPr/>
        </p:nvSpPr>
        <p:spPr>
          <a:xfrm>
            <a:off x="5580112" y="45718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Овал 53"/>
          <p:cNvSpPr/>
          <p:nvPr/>
        </p:nvSpPr>
        <p:spPr>
          <a:xfrm>
            <a:off x="2987824" y="586798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5" name="Овал 54"/>
          <p:cNvSpPr/>
          <p:nvPr/>
        </p:nvSpPr>
        <p:spPr>
          <a:xfrm>
            <a:off x="5580112" y="543593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Овал 55"/>
          <p:cNvSpPr/>
          <p:nvPr/>
        </p:nvSpPr>
        <p:spPr>
          <a:xfrm>
            <a:off x="3001478" y="50851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TextBox 56"/>
          <p:cNvSpPr txBox="1"/>
          <p:nvPr/>
        </p:nvSpPr>
        <p:spPr>
          <a:xfrm>
            <a:off x="3046178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58" name="TextBox 57"/>
          <p:cNvSpPr txBox="1"/>
          <p:nvPr/>
        </p:nvSpPr>
        <p:spPr>
          <a:xfrm>
            <a:off x="2966028" y="57959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9" name="TextBox 58"/>
          <p:cNvSpPr txBox="1"/>
          <p:nvPr/>
        </p:nvSpPr>
        <p:spPr>
          <a:xfrm>
            <a:off x="5566458" y="536392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60" name="TextBox 59"/>
          <p:cNvSpPr txBox="1"/>
          <p:nvPr/>
        </p:nvSpPr>
        <p:spPr>
          <a:xfrm>
            <a:off x="3032524" y="42210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1" name="TextBox 60"/>
          <p:cNvSpPr txBox="1"/>
          <p:nvPr/>
        </p:nvSpPr>
        <p:spPr>
          <a:xfrm>
            <a:off x="2987824" y="50131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63" name="TextBox 62"/>
          <p:cNvSpPr txBox="1"/>
          <p:nvPr/>
        </p:nvSpPr>
        <p:spPr>
          <a:xfrm>
            <a:off x="5566458" y="37797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64" name="TextBox 63"/>
          <p:cNvSpPr txBox="1"/>
          <p:nvPr/>
        </p:nvSpPr>
        <p:spPr>
          <a:xfrm>
            <a:off x="5566458" y="44998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cxnSp>
        <p:nvCxnSpPr>
          <p:cNvPr id="85" name="Прямая со стрелкой 84"/>
          <p:cNvCxnSpPr>
            <a:stCxn id="64" idx="1"/>
            <a:endCxn id="60" idx="3"/>
          </p:cNvCxnSpPr>
          <p:nvPr/>
        </p:nvCxnSpPr>
        <p:spPr>
          <a:xfrm flipH="1" flipV="1">
            <a:off x="3334210" y="4405754"/>
            <a:ext cx="2232248" cy="2787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Прямая со стрелкой 85"/>
          <p:cNvCxnSpPr>
            <a:stCxn id="59" idx="1"/>
            <a:endCxn id="60" idx="3"/>
          </p:cNvCxnSpPr>
          <p:nvPr/>
        </p:nvCxnSpPr>
        <p:spPr>
          <a:xfrm flipH="1" flipV="1">
            <a:off x="3334210" y="4405754"/>
            <a:ext cx="2232248" cy="1142836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Прямая со стрелкой 86"/>
          <p:cNvCxnSpPr>
            <a:stCxn id="63" idx="1"/>
            <a:endCxn id="61" idx="3"/>
          </p:cNvCxnSpPr>
          <p:nvPr/>
        </p:nvCxnSpPr>
        <p:spPr>
          <a:xfrm flipH="1">
            <a:off x="3289510" y="3964414"/>
            <a:ext cx="2276948" cy="12334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Прямая со стрелкой 87"/>
          <p:cNvCxnSpPr>
            <a:stCxn id="63" idx="1"/>
            <a:endCxn id="58" idx="3"/>
          </p:cNvCxnSpPr>
          <p:nvPr/>
        </p:nvCxnSpPr>
        <p:spPr>
          <a:xfrm flipH="1">
            <a:off x="3267714" y="3964414"/>
            <a:ext cx="2298744" cy="201622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Прямая со стрелкой 98"/>
          <p:cNvCxnSpPr>
            <a:stCxn id="59" idx="1"/>
            <a:endCxn id="56" idx="6"/>
          </p:cNvCxnSpPr>
          <p:nvPr/>
        </p:nvCxnSpPr>
        <p:spPr>
          <a:xfrm flipH="1" flipV="1">
            <a:off x="3289510" y="5229200"/>
            <a:ext cx="2276948" cy="31939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Прямая со стрелкой 102"/>
          <p:cNvCxnSpPr>
            <a:stCxn id="57" idx="3"/>
            <a:endCxn id="59" idx="1"/>
          </p:cNvCxnSpPr>
          <p:nvPr/>
        </p:nvCxnSpPr>
        <p:spPr>
          <a:xfrm>
            <a:off x="3347864" y="3541658"/>
            <a:ext cx="2218594" cy="20069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Заголовок 1"/>
          <p:cNvSpPr txBox="1">
            <a:spLocks/>
          </p:cNvSpPr>
          <p:nvPr/>
        </p:nvSpPr>
        <p:spPr>
          <a:xfrm>
            <a:off x="683568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9"/>
            </a:pPr>
            <a:r>
              <a:rPr lang="ru-RU" sz="2800" dirty="0" smtClean="0"/>
              <a:t>Проверка </a:t>
            </a:r>
            <a:r>
              <a:rPr lang="ru-RU" sz="2800" dirty="0" err="1" smtClean="0"/>
              <a:t>НЕориентированного</a:t>
            </a:r>
            <a:r>
              <a:rPr lang="ru-RU" sz="2800" dirty="0" smtClean="0"/>
              <a:t> графа на </a:t>
            </a:r>
            <a:r>
              <a:rPr lang="ru-RU" sz="2800" b="1" dirty="0" err="1" smtClean="0"/>
              <a:t>двудольность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1844825"/>
            <a:ext cx="7772400" cy="10081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b="1" dirty="0" smtClean="0"/>
              <a:t>Теорема</a:t>
            </a:r>
            <a:r>
              <a:rPr lang="ru-RU" sz="2000" dirty="0" smtClean="0"/>
              <a:t>: Граф является двудольным тогда и только тогда, когда все его циклы имеют чётную длину.</a:t>
            </a:r>
            <a:endParaRPr lang="ru-RU" sz="2000" b="1" dirty="0" smtClean="0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683568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9"/>
            </a:pPr>
            <a:r>
              <a:rPr lang="ru-RU" sz="2800" dirty="0" smtClean="0"/>
              <a:t>Проверка </a:t>
            </a:r>
            <a:r>
              <a:rPr lang="ru-RU" sz="2800" dirty="0" err="1" smtClean="0"/>
              <a:t>НЕориентированного</a:t>
            </a:r>
            <a:r>
              <a:rPr lang="ru-RU" sz="2800" dirty="0" smtClean="0"/>
              <a:t> графа на </a:t>
            </a:r>
            <a:r>
              <a:rPr lang="ru-RU" sz="2800" b="1" dirty="0" err="1" smtClean="0"/>
              <a:t>двудольность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2780928"/>
            <a:ext cx="7772400" cy="16561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b="1" dirty="0" smtClean="0"/>
              <a:t>Алгоритм1:</a:t>
            </a:r>
            <a:endParaRPr lang="ru-RU" sz="2000" dirty="0" smtClean="0"/>
          </a:p>
          <a:p>
            <a:pPr>
              <a:buFont typeface="Arial" pitchFamily="34" charset="0"/>
              <a:buChar char="•"/>
            </a:pPr>
            <a:r>
              <a:rPr lang="ru-RU" sz="2000" dirty="0" smtClean="0"/>
              <a:t>В соответствии с теоремой, обходом в ширину, ищутся все циклы. По номерам волны можно понять их четность.</a:t>
            </a: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683568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9"/>
            </a:pPr>
            <a:r>
              <a:rPr lang="ru-RU" sz="2800" dirty="0" smtClean="0"/>
              <a:t>Проверка </a:t>
            </a:r>
            <a:r>
              <a:rPr lang="ru-RU" sz="2800" dirty="0" err="1" smtClean="0"/>
              <a:t>НЕориентированного</a:t>
            </a:r>
            <a:r>
              <a:rPr lang="ru-RU" sz="2800" dirty="0" smtClean="0"/>
              <a:t> графа на </a:t>
            </a:r>
            <a:r>
              <a:rPr lang="ru-RU" sz="2800" b="1" dirty="0" err="1" smtClean="0"/>
              <a:t>двудольность</a:t>
            </a:r>
            <a:r>
              <a:rPr lang="ru-RU" sz="2800" dirty="0" smtClean="0"/>
              <a:t>.</a:t>
            </a:r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838200" y="1844825"/>
            <a:ext cx="7772400" cy="10081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b="1" dirty="0" smtClean="0">
                <a:solidFill>
                  <a:schemeClr val="bg1">
                    <a:lumMod val="65000"/>
                  </a:schemeClr>
                </a:solidFill>
              </a:rPr>
              <a:t>Теорема</a:t>
            </a:r>
            <a:r>
              <a:rPr lang="ru-RU" sz="2000" dirty="0" smtClean="0">
                <a:solidFill>
                  <a:schemeClr val="bg1">
                    <a:lumMod val="65000"/>
                  </a:schemeClr>
                </a:solidFill>
              </a:rPr>
              <a:t>: Граф является двудольным тогда и только тогда, когда все его циклы имеют чётную длину.</a:t>
            </a:r>
            <a:endParaRPr lang="ru-RU" sz="2000" b="1" dirty="0" smtClean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 txBox="1">
            <a:spLocks/>
          </p:cNvSpPr>
          <p:nvPr/>
        </p:nvSpPr>
        <p:spPr>
          <a:xfrm>
            <a:off x="838200" y="1916832"/>
            <a:ext cx="7772400" cy="3744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r>
              <a:rPr lang="ru-RU" sz="2000" b="1" dirty="0" smtClean="0"/>
              <a:t>Алгоритм2:</a:t>
            </a:r>
            <a:endParaRPr lang="ru-RU" sz="2000" dirty="0" smtClean="0"/>
          </a:p>
          <a:p>
            <a:endParaRPr lang="ru-RU" sz="2000" dirty="0" smtClean="0"/>
          </a:p>
          <a:p>
            <a:pPr algn="ctr"/>
            <a:r>
              <a:rPr lang="ru-RU" sz="2000" dirty="0" smtClean="0"/>
              <a:t>Во время обхода в ширину:</a:t>
            </a:r>
          </a:p>
          <a:p>
            <a:endParaRPr lang="ru-RU" sz="2000" dirty="0" smtClean="0"/>
          </a:p>
          <a:p>
            <a:pPr>
              <a:buFont typeface="Arial" pitchFamily="34" charset="0"/>
              <a:buChar char="•"/>
            </a:pPr>
            <a:r>
              <a:rPr lang="ru-RU" sz="2000" dirty="0" smtClean="0"/>
              <a:t>Вершина, из которой начинается обход, помещается в первую долю.</a:t>
            </a:r>
          </a:p>
          <a:p>
            <a:pPr>
              <a:buFont typeface="Arial" pitchFamily="34" charset="0"/>
              <a:buChar char="•"/>
            </a:pPr>
            <a:endParaRPr lang="ru-RU" sz="2000" dirty="0" smtClean="0"/>
          </a:p>
          <a:p>
            <a:pPr>
              <a:buFont typeface="Arial" pitchFamily="34" charset="0"/>
              <a:buChar char="•"/>
            </a:pPr>
            <a:r>
              <a:rPr lang="ru-RU" sz="2000" dirty="0" smtClean="0"/>
              <a:t>Новая вершина в процессе обхода помещается в долю, отличную от доли текущей вершины.</a:t>
            </a:r>
          </a:p>
          <a:p>
            <a:pPr>
              <a:buFont typeface="Arial" pitchFamily="34" charset="0"/>
              <a:buChar char="•"/>
            </a:pPr>
            <a:endParaRPr lang="ru-RU" sz="2000" dirty="0" smtClean="0"/>
          </a:p>
          <a:p>
            <a:pPr>
              <a:buFont typeface="Arial" pitchFamily="34" charset="0"/>
              <a:buChar char="•"/>
            </a:pPr>
            <a:r>
              <a:rPr lang="ru-RU" sz="2000" dirty="0" smtClean="0"/>
              <a:t>Если же обход направляется по ребру в вершину, которая уже посещена, то проверяется, находятся ли начало ребра и конец в разных долях. Если находятся в одной, то граф двудольным не является.</a:t>
            </a:r>
            <a:endParaRPr lang="ru-RU" sz="2000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683568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9"/>
            </a:pPr>
            <a:r>
              <a:rPr lang="ru-RU" sz="2800" dirty="0" smtClean="0"/>
              <a:t>Проверка </a:t>
            </a:r>
            <a:r>
              <a:rPr lang="ru-RU" sz="2800" dirty="0" err="1" smtClean="0"/>
              <a:t>НЕориентированного</a:t>
            </a:r>
            <a:r>
              <a:rPr lang="ru-RU" sz="2800" dirty="0" smtClean="0"/>
              <a:t> графа на </a:t>
            </a:r>
            <a:r>
              <a:rPr lang="ru-RU" sz="2800" b="1" dirty="0" err="1" smtClean="0"/>
              <a:t>двудольность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332656"/>
            <a:ext cx="5902424" cy="6264696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part[u] ⟵ 0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time ⟵ 0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color[u] = WHITE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</a:t>
            </a: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(G, u) 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err="1" smtClean="0"/>
              <a:t>BFS_Visit</a:t>
            </a:r>
            <a:r>
              <a:rPr lang="ru-RU" sz="1600" dirty="0" smtClean="0"/>
              <a:t> (</a:t>
            </a:r>
            <a:r>
              <a:rPr lang="en-US" sz="1600" dirty="0" smtClean="0"/>
              <a:t>G</a:t>
            </a:r>
            <a:r>
              <a:rPr lang="ru-RU" sz="1600" dirty="0" smtClean="0"/>
              <a:t>, </a:t>
            </a:r>
            <a:r>
              <a:rPr lang="en-US" sz="1600" dirty="0" smtClean="0"/>
              <a:t>s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/>
              <a:t>color[s] ⟵ GRAY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part[s] ⟵ 1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/>
              <a:t>Q ⟵ ∅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В очередь(</a:t>
            </a:r>
            <a:r>
              <a:rPr lang="en-US" sz="1600" dirty="0" smtClean="0"/>
              <a:t>Q, s)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while</a:t>
            </a:r>
            <a:r>
              <a:rPr lang="en-US" sz="1600" dirty="0" smtClean="0"/>
              <a:t> Q ≠ ∅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u ⟵ </a:t>
            </a:r>
            <a:r>
              <a:rPr lang="ru-RU" sz="1600" dirty="0" smtClean="0"/>
              <a:t>из очереди(</a:t>
            </a:r>
            <a:r>
              <a:rPr lang="en-US" sz="1600" dirty="0" smtClean="0"/>
              <a:t>Q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for</a:t>
            </a:r>
            <a:r>
              <a:rPr lang="en-US" sz="1600" dirty="0" smtClean="0"/>
              <a:t> </a:t>
            </a:r>
            <a:r>
              <a:rPr lang="ru-RU" sz="1600" dirty="0" smtClean="0"/>
              <a:t>(для) каждой </a:t>
            </a:r>
            <a:r>
              <a:rPr lang="en-US" sz="1600" dirty="0" smtClean="0"/>
              <a:t>v </a:t>
            </a:r>
            <a:r>
              <a:rPr lang="ru-RU" sz="1600" dirty="0" smtClean="0"/>
              <a:t>∈ </a:t>
            </a:r>
            <a:r>
              <a:rPr lang="en-US" sz="1600" dirty="0" err="1" smtClean="0"/>
              <a:t>Adj</a:t>
            </a:r>
            <a:r>
              <a:rPr lang="ru-RU" sz="1600" dirty="0" smtClean="0"/>
              <a:t>[</a:t>
            </a:r>
            <a:r>
              <a:rPr lang="en-US" sz="1600" dirty="0" smtClean="0"/>
              <a:t>u</a:t>
            </a:r>
            <a:r>
              <a:rPr lang="ru-RU" sz="1600" dirty="0" smtClean="0"/>
              <a:t>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</a:t>
            </a:r>
            <a:r>
              <a:rPr lang="ru-RU" sz="1600" dirty="0" smtClean="0"/>
              <a:t>=</a:t>
            </a:r>
            <a:r>
              <a:rPr lang="en-US" sz="1600" dirty="0" smtClean="0"/>
              <a:t> WHITE </a:t>
            </a:r>
            <a:r>
              <a:rPr lang="en-US" sz="1600" b="1" dirty="0" smtClean="0"/>
              <a:t>than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color[v] ⟵ GRAY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part[v] ⟵ (part[u] +1) mod 2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</a:t>
            </a:r>
            <a:r>
              <a:rPr lang="ru-RU" sz="1600" dirty="0" smtClean="0"/>
              <a:t>В очередь(</a:t>
            </a:r>
            <a:r>
              <a:rPr lang="en-US" sz="1600" dirty="0" smtClean="0"/>
              <a:t>Q, v)</a:t>
            </a:r>
            <a:br>
              <a:rPr lang="en-US" sz="1600" dirty="0" smtClean="0"/>
            </a:br>
            <a:r>
              <a:rPr lang="en-US" sz="1600" dirty="0" smtClean="0"/>
              <a:t>	</a:t>
            </a:r>
            <a:r>
              <a:rPr lang="en-US" sz="1600" smtClean="0"/>
              <a:t>	</a:t>
            </a:r>
            <a:r>
              <a:rPr lang="en-US" sz="1600" b="1" smtClean="0"/>
              <a:t>else</a:t>
            </a:r>
            <a:r>
              <a:rPr lang="en-US" sz="1600" b="1" dirty="0" smtClean="0"/>
              <a:t/>
            </a:r>
            <a:br>
              <a:rPr lang="en-US" sz="1600" b="1" dirty="0" smtClean="0"/>
            </a:br>
            <a:r>
              <a:rPr lang="en-US" sz="1600" b="1" dirty="0" smtClean="0"/>
              <a:t>			return ERROR</a:t>
            </a:r>
            <a:r>
              <a:rPr lang="en-US" sz="1600" dirty="0" smtClean="0"/>
              <a:t/>
            </a:r>
            <a:br>
              <a:rPr lang="en-US" sz="1600" dirty="0" smtClean="0"/>
            </a:br>
            <a:r>
              <a:rPr lang="en-US" sz="1600" dirty="0" smtClean="0"/>
              <a:t>	 color[v] ⟵ BLACK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685800" y="476672"/>
            <a:ext cx="7772400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10"/>
            </a:pPr>
            <a:r>
              <a:rPr lang="ru-RU" sz="2800" dirty="0" smtClean="0"/>
              <a:t>Проверка орграфа на </a:t>
            </a:r>
            <a:r>
              <a:rPr lang="ru-RU" sz="2800" b="1" dirty="0" err="1" smtClean="0"/>
              <a:t>двудольность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2780928"/>
            <a:ext cx="7772400" cy="16561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b="1" dirty="0" smtClean="0"/>
              <a:t>Алгоритм1:</a:t>
            </a:r>
            <a:endParaRPr lang="ru-RU" sz="2000" dirty="0" smtClean="0"/>
          </a:p>
          <a:p>
            <a:pPr>
              <a:buFont typeface="Arial" pitchFamily="34" charset="0"/>
              <a:buChar char="•"/>
            </a:pPr>
            <a:r>
              <a:rPr lang="ru-RU" sz="2000" dirty="0" smtClean="0"/>
              <a:t>В соответствии с теоремой, обходом в ширину, ищутся все циклы. По номерам волны можно понять их четность.</a:t>
            </a:r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838200" y="1844825"/>
            <a:ext cx="7772400" cy="10081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b="1" dirty="0" smtClean="0">
                <a:solidFill>
                  <a:schemeClr val="bg1">
                    <a:lumMod val="65000"/>
                  </a:schemeClr>
                </a:solidFill>
              </a:rPr>
              <a:t>Теорема</a:t>
            </a:r>
            <a:r>
              <a:rPr lang="ru-RU" sz="2000" dirty="0" smtClean="0">
                <a:solidFill>
                  <a:schemeClr val="bg1">
                    <a:lumMod val="65000"/>
                  </a:schemeClr>
                </a:solidFill>
              </a:rPr>
              <a:t>: Граф является двудольным тогда и только тогда, когда все его циклы имеют чётную длину.</a:t>
            </a:r>
            <a:endParaRPr lang="ru-RU" sz="2000" b="1" dirty="0" smtClean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" name="Заголовок 1"/>
          <p:cNvSpPr txBox="1">
            <a:spLocks/>
          </p:cNvSpPr>
          <p:nvPr/>
        </p:nvSpPr>
        <p:spPr>
          <a:xfrm>
            <a:off x="685800" y="476672"/>
            <a:ext cx="7772400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10"/>
            </a:pPr>
            <a:r>
              <a:rPr lang="ru-RU" sz="2800" dirty="0" smtClean="0"/>
              <a:t>Проверка орграфа на </a:t>
            </a:r>
            <a:r>
              <a:rPr lang="ru-RU" sz="2800" b="1" dirty="0" err="1" smtClean="0"/>
              <a:t>двудольность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2951</TotalTime>
  <Words>1894</Words>
  <Application>Microsoft Office PowerPoint</Application>
  <PresentationFormat>Экран (4:3)</PresentationFormat>
  <Paragraphs>713</Paragraphs>
  <Slides>72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72</vt:i4>
      </vt:variant>
    </vt:vector>
  </HeadingPairs>
  <TitlesOfParts>
    <vt:vector size="75" baseType="lpstr">
      <vt:lpstr>Arial</vt:lpstr>
      <vt:lpstr>Calibri</vt:lpstr>
      <vt:lpstr>Тема Office</vt:lpstr>
      <vt:lpstr>Graph algorithms</vt:lpstr>
      <vt:lpstr>Breadth-first search (BFS)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BFS (G) for each u ∈ V[G] do  color[u] ⟵ WHITE  d[u] ⟵ ∞  π[u] ⟵ NIL for each u ∈ V[G] do  if color[u] = WHITE then   BFS_Visit(G, u, color, d, π)   BFS_Visit (G, s, color, d, π) color[s] ⟵ GRAY d[s] ⟵ 0 π[s] ⟵ NIL Q ⟵ ∅ to end(Q) ⟵ s while Q ≠ ∅ do  u ⟵ first(Q)  for all v ∈ Adj[u] do   If color[v] = WHITE than    color[v] ⟵ GRAY    d[v] ⟵ d[u]+1    π[v] ⟵ u    to end(Q) ⟵ v  color[u] ⟵ BLACK</vt:lpstr>
      <vt:lpstr>Tasks that can be solved using BFS</vt:lpstr>
      <vt:lpstr>The lowest common ancestor (lca) of vertices u and v in the root tree T </vt:lpstr>
      <vt:lpstr>LCA (root, u, v) for all u ∈ V[G] do  color[u] ⟵ WHITE a ⟵ u while a!= root do  color[a] = BLACK  a ⟵ π[a] color[a] = BLACK a ⟵ v while a! do  a ⟵ π[a] return a</vt:lpstr>
      <vt:lpstr>Презентация PowerPoint</vt:lpstr>
      <vt:lpstr>Презентация PowerPoint</vt:lpstr>
      <vt:lpstr>Презентация PowerPoint</vt:lpstr>
      <vt:lpstr>Презентация PowerPoint</vt:lpstr>
      <vt:lpstr>BFS (G) for all u ∈ V[G] do  color[u] ⟵ WHITE BFS_Visit(G, u, color)  for all u ∈ V[G] do  if color[u] = WHITE then   NOT CONNECTED GRAPH  BFS_Visit (G, s, color) color[s] ⟵ BLACK Q ⟵ ∅ to end(Q) ⟵ s while Q ≠ ∅ do   u ⟵ first(Q)  for all v ∈ Adj[u] do   If color[v] = WHITE than    color[v] ⟵ BLACK     to end(Q) ⟵ v</vt:lpstr>
      <vt:lpstr>Презентация PowerPoint</vt:lpstr>
      <vt:lpstr>BFS (G) for all u ∈ V[G] do  color[u] ⟵ WHITE  d[u] ⟵ 0  count ⟵ 0  for all u ∈ V[G] do  if color[u] = WHITE then    BFS_Visit(G, u, color, d, count)    count ⟵ count+1  BFS_Visit (G, s, color, d, count) color[s] ⟵ BLACK Q ⟵ ∅ to end(Q) ⟵ s while Q ≠ ∅ do  u ⟵ first(Q)  for all v ∈ Adj[u] do   If color[v] = WHITE than    color[v] ⟵ BLACK    d[v] ⟵ count     to end(Q) ⟵ v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BFS (G) for (для) каждой u ∈ V[G] do  color[u] ⟵ WHITE  d[u] ⟵ 0 for (для) каждой u ∈ V[G] do  if color[u] = WHITE then    BFS_Visit(G, u, color, d)   BFS_Visit (G, s, color, d) color[s] ⟵ BLACK Q ⟵ ∅ В очередь(Q, s) while Q ≠ ∅ do  u ⟵ из очереди(Q)  for (для) каждой v ∈ Adj[u] do   If color[v] = WHITE than    color[v] ⟵ BLACK    d[v] ⟵ d[v]+1    В очередь(Q, v)</vt:lpstr>
      <vt:lpstr>Презентация PowerPoint</vt:lpstr>
      <vt:lpstr>BFS (G, s, t) for (для) каждой u ∈ V[G] do  color[u] ⟵ WHITE  π[u] ⟵ NIL BFS_Visit(G, s, color, π)  PATH⟵ ∅  parent ⟵ t while   π[parent] != NIL  в начало очереди (PATH, (parent, π[parent ]))  parent ⟵ π[parent ]  BFS_Visit (G, s, color, π) color[s] ⟵ BLACK Q ⟵ ∅ В очередь(Q, s) while Q ≠ ∅ do  u ⟵ из очереди(Q)  for (для) каждой v ∈ Adj[u] do   If color[v] = WHITE than    color[v] ⟵ BLACK    π[v] ⟵ u    В очередь(Q, v)</vt:lpstr>
      <vt:lpstr>Презентация PowerPoint</vt:lpstr>
      <vt:lpstr>Презентация PowerPoint</vt:lpstr>
      <vt:lpstr>BFS (G) for (для) каждой u ∈ V[G] do  color[u] ⟵ WHITE for (для) каждой u ∈ V[G] do  if color[u] = WHITE then    BFS_Visit(G, u, color)   BFS_Visit (G, s, color) color[s] ⟵ BLACK Q ⟵ ∅ В очередь(Q, s) while Q ≠ ∅ do  u ⟵ из очереди(Q)  for (для) каждой v ∈ Adj[u] do   If color[v] = WHITE than    color[v] ⟵ BLACK    В очередь(Q, v)   else    THERE IS A LOOP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BFS (G) for (для) каждой u ∈ V[G] do  color[u] ⟵ WHITE  part[u] ⟵ 0 time ⟵ 0 for (для) каждой u ∈ V[G] do  if color[u] = WHITE then   BFS_Visit(G, u)   BFS_Visit (G, s) color[s] ⟵ GRAY part[s] ⟵ 1 Q ⟵ ∅ В очередь(Q, s) while Q ≠ ∅ do  u ⟵ из очереди(Q)  for (для) каждой v ∈ Adj[u] do   If color[v] = WHITE than    color[v] ⟵ GRAY    part[v] ⟵ (part[u] +1) mod 2    В очередь(Q, v)   else    return ERROR   color[v] ⟵ BLACK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Алгоритмы на графах</dc:title>
  <dc:creator>Мамочка и папочка</dc:creator>
  <cp:lastModifiedBy>Oleg</cp:lastModifiedBy>
  <cp:revision>179</cp:revision>
  <dcterms:created xsi:type="dcterms:W3CDTF">2020-02-18T13:52:34Z</dcterms:created>
  <dcterms:modified xsi:type="dcterms:W3CDTF">2022-02-15T09:09:31Z</dcterms:modified>
</cp:coreProperties>
</file>
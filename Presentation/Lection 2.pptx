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1" r:id="rId3"/>
    <p:sldId id="362" r:id="rId4"/>
    <p:sldId id="363" r:id="rId5"/>
    <p:sldId id="364" r:id="rId6"/>
    <p:sldId id="365" r:id="rId7"/>
    <p:sldId id="366" r:id="rId8"/>
    <p:sldId id="367" r:id="rId9"/>
    <p:sldId id="368" r:id="rId10"/>
    <p:sldId id="369" r:id="rId11"/>
    <p:sldId id="370" r:id="rId12"/>
    <p:sldId id="371" r:id="rId13"/>
    <p:sldId id="372" r:id="rId14"/>
    <p:sldId id="373" r:id="rId15"/>
    <p:sldId id="374" r:id="rId16"/>
    <p:sldId id="375" r:id="rId17"/>
    <p:sldId id="376" r:id="rId18"/>
    <p:sldId id="377" r:id="rId19"/>
    <p:sldId id="378" r:id="rId20"/>
    <p:sldId id="379" r:id="rId21"/>
    <p:sldId id="380" r:id="rId22"/>
    <p:sldId id="381" r:id="rId23"/>
    <p:sldId id="382" r:id="rId24"/>
    <p:sldId id="383" r:id="rId25"/>
    <p:sldId id="384" r:id="rId26"/>
    <p:sldId id="385" r:id="rId27"/>
    <p:sldId id="386" r:id="rId28"/>
    <p:sldId id="387" r:id="rId29"/>
    <p:sldId id="388" r:id="rId30"/>
    <p:sldId id="389" r:id="rId31"/>
    <p:sldId id="390" r:id="rId32"/>
    <p:sldId id="391" r:id="rId33"/>
    <p:sldId id="392" r:id="rId34"/>
    <p:sldId id="393" r:id="rId35"/>
    <p:sldId id="394" r:id="rId36"/>
    <p:sldId id="395" r:id="rId37"/>
    <p:sldId id="396" r:id="rId38"/>
    <p:sldId id="267" r:id="rId39"/>
    <p:sldId id="302" r:id="rId40"/>
    <p:sldId id="292" r:id="rId41"/>
    <p:sldId id="301" r:id="rId42"/>
    <p:sldId id="305" r:id="rId43"/>
    <p:sldId id="304" r:id="rId44"/>
    <p:sldId id="307" r:id="rId45"/>
    <p:sldId id="306" r:id="rId46"/>
    <p:sldId id="308" r:id="rId47"/>
    <p:sldId id="269" r:id="rId48"/>
    <p:sldId id="303" r:id="rId49"/>
    <p:sldId id="271" r:id="rId50"/>
    <p:sldId id="272" r:id="rId51"/>
    <p:sldId id="273" r:id="rId52"/>
    <p:sldId id="276" r:id="rId53"/>
    <p:sldId id="277" r:id="rId54"/>
    <p:sldId id="278" r:id="rId55"/>
    <p:sldId id="279" r:id="rId56"/>
    <p:sldId id="280" r:id="rId57"/>
    <p:sldId id="281" r:id="rId58"/>
    <p:sldId id="282" r:id="rId59"/>
    <p:sldId id="283" r:id="rId60"/>
    <p:sldId id="284" r:id="rId61"/>
    <p:sldId id="285" r:id="rId62"/>
    <p:sldId id="286" r:id="rId63"/>
    <p:sldId id="270" r:id="rId64"/>
    <p:sldId id="266" r:id="rId65"/>
    <p:sldId id="289" r:id="rId66"/>
    <p:sldId id="357" r:id="rId67"/>
    <p:sldId id="290" r:id="rId68"/>
    <p:sldId id="287" r:id="rId69"/>
    <p:sldId id="257" r:id="rId70"/>
    <p:sldId id="261" r:id="rId71"/>
    <p:sldId id="358" r:id="rId72"/>
    <p:sldId id="359" r:id="rId73"/>
    <p:sldId id="262" r:id="rId74"/>
    <p:sldId id="360" r:id="rId75"/>
    <p:sldId id="263" r:id="rId76"/>
    <p:sldId id="321" r:id="rId77"/>
    <p:sldId id="324" r:id="rId78"/>
    <p:sldId id="325" r:id="rId79"/>
    <p:sldId id="326" r:id="rId80"/>
    <p:sldId id="327" r:id="rId81"/>
    <p:sldId id="328" r:id="rId82"/>
    <p:sldId id="329" r:id="rId83"/>
    <p:sldId id="330" r:id="rId84"/>
    <p:sldId id="331" r:id="rId85"/>
    <p:sldId id="332" r:id="rId86"/>
    <p:sldId id="333" r:id="rId87"/>
    <p:sldId id="352" r:id="rId88"/>
    <p:sldId id="353" r:id="rId89"/>
    <p:sldId id="334" r:id="rId90"/>
    <p:sldId id="335" r:id="rId91"/>
    <p:sldId id="336" r:id="rId92"/>
    <p:sldId id="337" r:id="rId93"/>
    <p:sldId id="338" r:id="rId94"/>
    <p:sldId id="339" r:id="rId95"/>
    <p:sldId id="340" r:id="rId96"/>
    <p:sldId id="341" r:id="rId97"/>
    <p:sldId id="342" r:id="rId98"/>
    <p:sldId id="343" r:id="rId99"/>
    <p:sldId id="344" r:id="rId100"/>
    <p:sldId id="345" r:id="rId101"/>
    <p:sldId id="346" r:id="rId102"/>
    <p:sldId id="354" r:id="rId103"/>
    <p:sldId id="355" r:id="rId104"/>
    <p:sldId id="347" r:id="rId105"/>
    <p:sldId id="348" r:id="rId106"/>
    <p:sldId id="314" r:id="rId107"/>
    <p:sldId id="317" r:id="rId108"/>
    <p:sldId id="318" r:id="rId109"/>
    <p:sldId id="313" r:id="rId110"/>
    <p:sldId id="319" r:id="rId111"/>
    <p:sldId id="320" r:id="rId112"/>
    <p:sldId id="356" r:id="rId1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494" autoAdjust="0"/>
  </p:normalViewPr>
  <p:slideViewPr>
    <p:cSldViewPr>
      <p:cViewPr varScale="1">
        <p:scale>
          <a:sx n="96" d="100"/>
          <a:sy n="96" d="100"/>
        </p:scale>
        <p:origin x="41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ableStyles" Target="tableStyle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26.04.2022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 algorithms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Лекция 2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Depth-first </a:t>
            </a:r>
            <a:r>
              <a:rPr lang="en-US" dirty="0" smtClean="0"/>
              <a:t>search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(</a:t>
            </a:r>
            <a:r>
              <a:rPr lang="en-US" dirty="0" smtClean="0"/>
              <a:t>DFS</a:t>
            </a:r>
            <a:r>
              <a:rPr lang="ru-RU" dirty="0" smtClean="0"/>
              <a:t>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Прямая со стрелкой 16"/>
          <p:cNvCxnSpPr>
            <a:stCxn id="5" idx="3"/>
            <a:endCxn id="8" idx="7"/>
          </p:cNvCxnSpPr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8" idx="3"/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5" idx="5"/>
            <a:endCxn id="10" idx="1"/>
          </p:cNvCxnSpPr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10" idx="6"/>
          </p:cNvCxnSpPr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>
            <a:stCxn id="10" idx="4"/>
          </p:cNvCxnSpPr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Овал 4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Овал 112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5" name="TextBox 144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146" name="TextBox 145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147" name="TextBox 146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148" name="TextBox 147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149" name="TextBox 148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150" name="TextBox 149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151" name="TextBox 150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152" name="TextBox 151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38" name="TextBox 37"/>
          <p:cNvSpPr txBox="1"/>
          <p:nvPr/>
        </p:nvSpPr>
        <p:spPr>
          <a:xfrm>
            <a:off x="3100045" y="404664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(1,?)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3685727" y="126876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2339752" y="105273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5305296" y="13407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4693839" y="299695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1691680" y="170080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6804248" y="170080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6566047" y="31409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Прямая со стрелкой 16"/>
          <p:cNvCxnSpPr>
            <a:endCxn id="8" idx="7"/>
          </p:cNvCxnSpPr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8" idx="3"/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endCxn id="10" idx="1"/>
          </p:cNvCxnSpPr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10" idx="6"/>
          </p:cNvCxnSpPr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>
            <a:stCxn id="10" idx="4"/>
          </p:cNvCxnSpPr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Овал 7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Овал 112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38" name="TextBox 37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2339752" y="1052736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(2,?)</a:t>
            </a:r>
            <a:endParaRPr lang="ru-RU" dirty="0"/>
          </a:p>
        </p:txBody>
      </p:sp>
      <p:sp>
        <p:nvSpPr>
          <p:cNvPr id="55" name="TextBox 54"/>
          <p:cNvSpPr txBox="1"/>
          <p:nvPr/>
        </p:nvSpPr>
        <p:spPr>
          <a:xfrm>
            <a:off x="3685727" y="126876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56" name="TextBox 55"/>
          <p:cNvSpPr txBox="1"/>
          <p:nvPr/>
        </p:nvSpPr>
        <p:spPr>
          <a:xfrm>
            <a:off x="5305296" y="13407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57" name="TextBox 56"/>
          <p:cNvSpPr txBox="1"/>
          <p:nvPr/>
        </p:nvSpPr>
        <p:spPr>
          <a:xfrm>
            <a:off x="4693839" y="299695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58" name="TextBox 57"/>
          <p:cNvSpPr txBox="1"/>
          <p:nvPr/>
        </p:nvSpPr>
        <p:spPr>
          <a:xfrm>
            <a:off x="1691680" y="170080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59" name="TextBox 58"/>
          <p:cNvSpPr txBox="1"/>
          <p:nvPr/>
        </p:nvSpPr>
        <p:spPr>
          <a:xfrm>
            <a:off x="6804248" y="170080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60" name="TextBox 59"/>
          <p:cNvSpPr txBox="1"/>
          <p:nvPr/>
        </p:nvSpPr>
        <p:spPr>
          <a:xfrm>
            <a:off x="6566047" y="31409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67" name="TextBox 66"/>
          <p:cNvSpPr txBox="1"/>
          <p:nvPr/>
        </p:nvSpPr>
        <p:spPr>
          <a:xfrm>
            <a:off x="3100045" y="404664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(1,?)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 стрелкой 21"/>
          <p:cNvCxnSpPr>
            <a:endCxn id="10" idx="1"/>
          </p:cNvCxnSpPr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10" idx="6"/>
          </p:cNvCxnSpPr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>
            <a:stCxn id="10" idx="4"/>
          </p:cNvCxnSpPr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 стрелкой 67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 стрелкой 68"/>
          <p:cNvCxnSpPr/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Овал 7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3" name="Овал 112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58" name="TextBox 57"/>
          <p:cNvSpPr txBox="1"/>
          <p:nvPr/>
        </p:nvSpPr>
        <p:spPr>
          <a:xfrm>
            <a:off x="3100045" y="404664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(1,?)</a:t>
            </a:r>
            <a:endParaRPr lang="ru-RU" dirty="0"/>
          </a:p>
        </p:txBody>
      </p:sp>
      <p:sp>
        <p:nvSpPr>
          <p:cNvPr id="60" name="TextBox 59"/>
          <p:cNvSpPr txBox="1"/>
          <p:nvPr/>
        </p:nvSpPr>
        <p:spPr>
          <a:xfrm>
            <a:off x="2339752" y="1052736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(2,?)</a:t>
            </a:r>
            <a:endParaRPr lang="ru-RU" dirty="0"/>
          </a:p>
        </p:txBody>
      </p:sp>
      <p:sp>
        <p:nvSpPr>
          <p:cNvPr id="61" name="TextBox 60"/>
          <p:cNvSpPr txBox="1"/>
          <p:nvPr/>
        </p:nvSpPr>
        <p:spPr>
          <a:xfrm>
            <a:off x="1691680" y="170080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(3,?)</a:t>
            </a:r>
            <a:endParaRPr lang="ru-RU" dirty="0"/>
          </a:p>
        </p:txBody>
      </p:sp>
      <p:sp>
        <p:nvSpPr>
          <p:cNvPr id="62" name="TextBox 61"/>
          <p:cNvSpPr txBox="1"/>
          <p:nvPr/>
        </p:nvSpPr>
        <p:spPr>
          <a:xfrm>
            <a:off x="3100045" y="404664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(1,?)</a:t>
            </a:r>
            <a:endParaRPr lang="ru-RU" dirty="0"/>
          </a:p>
        </p:txBody>
      </p:sp>
      <p:sp>
        <p:nvSpPr>
          <p:cNvPr id="63" name="TextBox 62"/>
          <p:cNvSpPr txBox="1"/>
          <p:nvPr/>
        </p:nvSpPr>
        <p:spPr>
          <a:xfrm>
            <a:off x="3685727" y="126876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64" name="TextBox 63"/>
          <p:cNvSpPr txBox="1"/>
          <p:nvPr/>
        </p:nvSpPr>
        <p:spPr>
          <a:xfrm>
            <a:off x="5305296" y="13407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65" name="TextBox 64"/>
          <p:cNvSpPr txBox="1"/>
          <p:nvPr/>
        </p:nvSpPr>
        <p:spPr>
          <a:xfrm>
            <a:off x="4693839" y="299695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66" name="TextBox 65"/>
          <p:cNvSpPr txBox="1"/>
          <p:nvPr/>
        </p:nvSpPr>
        <p:spPr>
          <a:xfrm>
            <a:off x="6804248" y="170080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67" name="TextBox 66"/>
          <p:cNvSpPr txBox="1"/>
          <p:nvPr/>
        </p:nvSpPr>
        <p:spPr>
          <a:xfrm>
            <a:off x="6566047" y="31409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 стрелкой 21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 стрелкой 82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 стрелкой 83"/>
          <p:cNvCxnSpPr/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38" name="Овал 3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55" name="Овал 5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TextBox 55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57" name="Овал 56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1" name="Овал 60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Овал 61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TextBox 62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64" name="TextBox 63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65" name="Овал 64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TextBox 65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75" name="TextBox 74"/>
          <p:cNvSpPr txBox="1"/>
          <p:nvPr/>
        </p:nvSpPr>
        <p:spPr>
          <a:xfrm>
            <a:off x="3685727" y="126876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76" name="TextBox 75"/>
          <p:cNvSpPr txBox="1"/>
          <p:nvPr/>
        </p:nvSpPr>
        <p:spPr>
          <a:xfrm>
            <a:off x="5305296" y="13407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77" name="TextBox 76"/>
          <p:cNvSpPr txBox="1"/>
          <p:nvPr/>
        </p:nvSpPr>
        <p:spPr>
          <a:xfrm>
            <a:off x="4693839" y="299695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78" name="TextBox 77"/>
          <p:cNvSpPr txBox="1"/>
          <p:nvPr/>
        </p:nvSpPr>
        <p:spPr>
          <a:xfrm>
            <a:off x="1691680" y="170080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(3,4)</a:t>
            </a:r>
            <a:endParaRPr lang="ru-RU" dirty="0"/>
          </a:p>
        </p:txBody>
      </p:sp>
      <p:sp>
        <p:nvSpPr>
          <p:cNvPr id="79" name="TextBox 78"/>
          <p:cNvSpPr txBox="1"/>
          <p:nvPr/>
        </p:nvSpPr>
        <p:spPr>
          <a:xfrm>
            <a:off x="6804248" y="170080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80" name="TextBox 79"/>
          <p:cNvSpPr txBox="1"/>
          <p:nvPr/>
        </p:nvSpPr>
        <p:spPr>
          <a:xfrm>
            <a:off x="6566047" y="31409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81" name="TextBox 80"/>
          <p:cNvSpPr txBox="1"/>
          <p:nvPr/>
        </p:nvSpPr>
        <p:spPr>
          <a:xfrm>
            <a:off x="3100045" y="404664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(1,?)</a:t>
            </a:r>
            <a:endParaRPr lang="ru-RU" dirty="0"/>
          </a:p>
        </p:txBody>
      </p:sp>
      <p:sp>
        <p:nvSpPr>
          <p:cNvPr id="82" name="TextBox 81"/>
          <p:cNvSpPr txBox="1"/>
          <p:nvPr/>
        </p:nvSpPr>
        <p:spPr>
          <a:xfrm>
            <a:off x="2339752" y="1052736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(2,?)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 стрелкой 21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 стрелкой 78"/>
          <p:cNvCxnSpPr/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38" name="Овал 3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57" name="Овал 56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6" name="Овал 45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1" name="Овал 50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Овал 58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61" name="TextBox 60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62" name="Овал 61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TextBox 62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66" name="TextBox 65"/>
          <p:cNvSpPr txBox="1"/>
          <p:nvPr/>
        </p:nvSpPr>
        <p:spPr>
          <a:xfrm>
            <a:off x="2339752" y="105273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(2,5)</a:t>
            </a:r>
            <a:endParaRPr lang="ru-RU" dirty="0"/>
          </a:p>
        </p:txBody>
      </p:sp>
      <p:sp>
        <p:nvSpPr>
          <p:cNvPr id="69" name="TextBox 68"/>
          <p:cNvSpPr txBox="1"/>
          <p:nvPr/>
        </p:nvSpPr>
        <p:spPr>
          <a:xfrm>
            <a:off x="1691680" y="170080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(3,4)</a:t>
            </a:r>
            <a:endParaRPr lang="ru-RU" dirty="0"/>
          </a:p>
        </p:txBody>
      </p:sp>
      <p:sp>
        <p:nvSpPr>
          <p:cNvPr id="72" name="TextBox 71"/>
          <p:cNvSpPr txBox="1"/>
          <p:nvPr/>
        </p:nvSpPr>
        <p:spPr>
          <a:xfrm>
            <a:off x="3100045" y="404664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(1,?)</a:t>
            </a:r>
            <a:endParaRPr lang="ru-RU" dirty="0"/>
          </a:p>
        </p:txBody>
      </p:sp>
      <p:sp>
        <p:nvSpPr>
          <p:cNvPr id="73" name="TextBox 72"/>
          <p:cNvSpPr txBox="1"/>
          <p:nvPr/>
        </p:nvSpPr>
        <p:spPr>
          <a:xfrm>
            <a:off x="3685727" y="126876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74" name="TextBox 73"/>
          <p:cNvSpPr txBox="1"/>
          <p:nvPr/>
        </p:nvSpPr>
        <p:spPr>
          <a:xfrm>
            <a:off x="5305296" y="13407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75" name="TextBox 74"/>
          <p:cNvSpPr txBox="1"/>
          <p:nvPr/>
        </p:nvSpPr>
        <p:spPr>
          <a:xfrm>
            <a:off x="4693839" y="299695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76" name="TextBox 75"/>
          <p:cNvSpPr txBox="1"/>
          <p:nvPr/>
        </p:nvSpPr>
        <p:spPr>
          <a:xfrm>
            <a:off x="6804248" y="170080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77" name="TextBox 76"/>
          <p:cNvSpPr txBox="1"/>
          <p:nvPr/>
        </p:nvSpPr>
        <p:spPr>
          <a:xfrm>
            <a:off x="6566047" y="31409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 стрелкой 78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 стрелкой 79"/>
          <p:cNvCxnSpPr/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 стрелкой 80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50" name="TextBox 49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5" name="Овал 44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TextBox 55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7" name="Овал 56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59" name="Овал 58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61" name="Овал 60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2" name="TextBox 61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65" name="TextBox 64"/>
          <p:cNvSpPr txBox="1"/>
          <p:nvPr/>
        </p:nvSpPr>
        <p:spPr>
          <a:xfrm>
            <a:off x="2339752" y="105273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(2,5)</a:t>
            </a:r>
            <a:endParaRPr lang="ru-RU" dirty="0"/>
          </a:p>
        </p:txBody>
      </p:sp>
      <p:sp>
        <p:nvSpPr>
          <p:cNvPr id="68" name="TextBox 67"/>
          <p:cNvSpPr txBox="1"/>
          <p:nvPr/>
        </p:nvSpPr>
        <p:spPr>
          <a:xfrm>
            <a:off x="1691680" y="170080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(3,4)</a:t>
            </a:r>
            <a:endParaRPr lang="ru-RU" dirty="0"/>
          </a:p>
        </p:txBody>
      </p:sp>
      <p:sp>
        <p:nvSpPr>
          <p:cNvPr id="71" name="Овал 70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TextBox 71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73" name="TextBox 72"/>
          <p:cNvSpPr txBox="1"/>
          <p:nvPr/>
        </p:nvSpPr>
        <p:spPr>
          <a:xfrm>
            <a:off x="3100045" y="404664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(1,?)</a:t>
            </a:r>
            <a:endParaRPr lang="ru-RU" dirty="0"/>
          </a:p>
        </p:txBody>
      </p:sp>
      <p:sp>
        <p:nvSpPr>
          <p:cNvPr id="74" name="TextBox 73"/>
          <p:cNvSpPr txBox="1"/>
          <p:nvPr/>
        </p:nvSpPr>
        <p:spPr>
          <a:xfrm>
            <a:off x="3685727" y="126876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(6,?)</a:t>
            </a:r>
            <a:endParaRPr lang="ru-RU" dirty="0"/>
          </a:p>
        </p:txBody>
      </p:sp>
      <p:sp>
        <p:nvSpPr>
          <p:cNvPr id="75" name="TextBox 74"/>
          <p:cNvSpPr txBox="1"/>
          <p:nvPr/>
        </p:nvSpPr>
        <p:spPr>
          <a:xfrm>
            <a:off x="5305296" y="13407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76" name="TextBox 75"/>
          <p:cNvSpPr txBox="1"/>
          <p:nvPr/>
        </p:nvSpPr>
        <p:spPr>
          <a:xfrm>
            <a:off x="4693839" y="299695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77" name="TextBox 76"/>
          <p:cNvSpPr txBox="1"/>
          <p:nvPr/>
        </p:nvSpPr>
        <p:spPr>
          <a:xfrm>
            <a:off x="6804248" y="170080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78" name="TextBox 77"/>
          <p:cNvSpPr txBox="1"/>
          <p:nvPr/>
        </p:nvSpPr>
        <p:spPr>
          <a:xfrm>
            <a:off x="6566047" y="31409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/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 стрелкой 85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Прямая со стрелкой 86"/>
          <p:cNvCxnSpPr/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Прямая со стрелкой 88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Box 56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8" name="Овал 57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TextBox 58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60" name="Овал 59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64" name="Овал 63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TextBox 64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66" name="Овал 65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7" name="TextBox 66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68" name="Овал 67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TextBox 68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72" name="TextBox 71"/>
          <p:cNvSpPr txBox="1"/>
          <p:nvPr/>
        </p:nvSpPr>
        <p:spPr>
          <a:xfrm>
            <a:off x="2339752" y="105273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(2,5)</a:t>
            </a:r>
            <a:endParaRPr lang="ru-RU" dirty="0"/>
          </a:p>
        </p:txBody>
      </p:sp>
      <p:sp>
        <p:nvSpPr>
          <p:cNvPr id="75" name="TextBox 74"/>
          <p:cNvSpPr txBox="1"/>
          <p:nvPr/>
        </p:nvSpPr>
        <p:spPr>
          <a:xfrm>
            <a:off x="1691680" y="170080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(3,4)</a:t>
            </a:r>
            <a:endParaRPr lang="ru-RU" dirty="0"/>
          </a:p>
        </p:txBody>
      </p:sp>
      <p:sp>
        <p:nvSpPr>
          <p:cNvPr id="78" name="Овал 7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9" name="TextBox 78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80" name="TextBox 79"/>
          <p:cNvSpPr txBox="1"/>
          <p:nvPr/>
        </p:nvSpPr>
        <p:spPr>
          <a:xfrm>
            <a:off x="3100045" y="404664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(1,?)</a:t>
            </a:r>
            <a:endParaRPr lang="ru-RU" dirty="0"/>
          </a:p>
        </p:txBody>
      </p:sp>
      <p:sp>
        <p:nvSpPr>
          <p:cNvPr id="81" name="TextBox 80"/>
          <p:cNvSpPr txBox="1"/>
          <p:nvPr/>
        </p:nvSpPr>
        <p:spPr>
          <a:xfrm>
            <a:off x="5305296" y="13407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82" name="TextBox 81"/>
          <p:cNvSpPr txBox="1"/>
          <p:nvPr/>
        </p:nvSpPr>
        <p:spPr>
          <a:xfrm>
            <a:off x="4693839" y="299695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(7,?)</a:t>
            </a:r>
            <a:endParaRPr lang="ru-RU" dirty="0"/>
          </a:p>
        </p:txBody>
      </p:sp>
      <p:sp>
        <p:nvSpPr>
          <p:cNvPr id="83" name="TextBox 82"/>
          <p:cNvSpPr txBox="1"/>
          <p:nvPr/>
        </p:nvSpPr>
        <p:spPr>
          <a:xfrm>
            <a:off x="6804248" y="170080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84" name="TextBox 83"/>
          <p:cNvSpPr txBox="1"/>
          <p:nvPr/>
        </p:nvSpPr>
        <p:spPr>
          <a:xfrm>
            <a:off x="6566047" y="31409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85" name="TextBox 84"/>
          <p:cNvSpPr txBox="1"/>
          <p:nvPr/>
        </p:nvSpPr>
        <p:spPr>
          <a:xfrm>
            <a:off x="3685727" y="126876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(6,?)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 стрелкой 82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 стрелкой 83"/>
          <p:cNvCxnSpPr/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единительная линия 85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Прямая со стрелкой 86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51" name="TextBox 50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59" name="Овал 58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" name="TextBox 59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63" name="Овал 62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TextBox 63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65" name="Овал 64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TextBox 65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69" name="TextBox 68"/>
          <p:cNvSpPr txBox="1"/>
          <p:nvPr/>
        </p:nvSpPr>
        <p:spPr>
          <a:xfrm>
            <a:off x="2339752" y="105273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(2,5)</a:t>
            </a:r>
            <a:endParaRPr lang="ru-RU" dirty="0"/>
          </a:p>
        </p:txBody>
      </p:sp>
      <p:sp>
        <p:nvSpPr>
          <p:cNvPr id="72" name="TextBox 71"/>
          <p:cNvSpPr txBox="1"/>
          <p:nvPr/>
        </p:nvSpPr>
        <p:spPr>
          <a:xfrm>
            <a:off x="1691680" y="170080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(3,4)</a:t>
            </a:r>
            <a:endParaRPr lang="ru-RU" dirty="0"/>
          </a:p>
        </p:txBody>
      </p:sp>
      <p:sp>
        <p:nvSpPr>
          <p:cNvPr id="75" name="Овал 74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TextBox 75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77" name="TextBox 76"/>
          <p:cNvSpPr txBox="1"/>
          <p:nvPr/>
        </p:nvSpPr>
        <p:spPr>
          <a:xfrm>
            <a:off x="3100045" y="404664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(1,?)</a:t>
            </a:r>
            <a:endParaRPr lang="ru-RU" dirty="0"/>
          </a:p>
        </p:txBody>
      </p:sp>
      <p:sp>
        <p:nvSpPr>
          <p:cNvPr id="78" name="TextBox 77"/>
          <p:cNvSpPr txBox="1"/>
          <p:nvPr/>
        </p:nvSpPr>
        <p:spPr>
          <a:xfrm>
            <a:off x="5305296" y="13407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79" name="TextBox 78"/>
          <p:cNvSpPr txBox="1"/>
          <p:nvPr/>
        </p:nvSpPr>
        <p:spPr>
          <a:xfrm>
            <a:off x="6804248" y="170080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80" name="TextBox 79"/>
          <p:cNvSpPr txBox="1"/>
          <p:nvPr/>
        </p:nvSpPr>
        <p:spPr>
          <a:xfrm>
            <a:off x="6566047" y="314096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(8,?)</a:t>
            </a:r>
            <a:endParaRPr lang="ru-RU" dirty="0"/>
          </a:p>
        </p:txBody>
      </p:sp>
      <p:sp>
        <p:nvSpPr>
          <p:cNvPr id="81" name="TextBox 80"/>
          <p:cNvSpPr txBox="1"/>
          <p:nvPr/>
        </p:nvSpPr>
        <p:spPr>
          <a:xfrm>
            <a:off x="3685727" y="126876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(6,?)</a:t>
            </a:r>
            <a:endParaRPr lang="ru-RU" dirty="0"/>
          </a:p>
        </p:txBody>
      </p:sp>
      <p:sp>
        <p:nvSpPr>
          <p:cNvPr id="82" name="TextBox 81"/>
          <p:cNvSpPr txBox="1"/>
          <p:nvPr/>
        </p:nvSpPr>
        <p:spPr>
          <a:xfrm>
            <a:off x="4693839" y="299695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(7,?)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 стрелкой 76"/>
          <p:cNvCxnSpPr/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/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79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 стрелкой 80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51" name="TextBox 50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59" name="Овал 58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" name="TextBox 59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63" name="Овал 62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TextBox 63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65" name="Овал 64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TextBox 65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52" name="TextBox 51"/>
          <p:cNvSpPr txBox="1"/>
          <p:nvPr/>
        </p:nvSpPr>
        <p:spPr>
          <a:xfrm>
            <a:off x="2339752" y="105273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(2,5)</a:t>
            </a:r>
            <a:endParaRPr lang="ru-RU" dirty="0"/>
          </a:p>
        </p:txBody>
      </p:sp>
      <p:sp>
        <p:nvSpPr>
          <p:cNvPr id="61" name="TextBox 60"/>
          <p:cNvSpPr txBox="1"/>
          <p:nvPr/>
        </p:nvSpPr>
        <p:spPr>
          <a:xfrm>
            <a:off x="1691680" y="170080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(3,4)</a:t>
            </a:r>
            <a:endParaRPr lang="ru-RU" dirty="0"/>
          </a:p>
        </p:txBody>
      </p:sp>
      <p:sp>
        <p:nvSpPr>
          <p:cNvPr id="68" name="Овал 6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TextBox 68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70" name="TextBox 69"/>
          <p:cNvSpPr txBox="1"/>
          <p:nvPr/>
        </p:nvSpPr>
        <p:spPr>
          <a:xfrm>
            <a:off x="3100045" y="404664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(1,?)</a:t>
            </a:r>
            <a:endParaRPr lang="ru-RU" dirty="0"/>
          </a:p>
        </p:txBody>
      </p:sp>
      <p:sp>
        <p:nvSpPr>
          <p:cNvPr id="71" name="TextBox 70"/>
          <p:cNvSpPr txBox="1"/>
          <p:nvPr/>
        </p:nvSpPr>
        <p:spPr>
          <a:xfrm>
            <a:off x="5305296" y="134076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(?,?)</a:t>
            </a:r>
            <a:endParaRPr lang="ru-RU" dirty="0"/>
          </a:p>
        </p:txBody>
      </p:sp>
      <p:sp>
        <p:nvSpPr>
          <p:cNvPr id="72" name="TextBox 71"/>
          <p:cNvSpPr txBox="1"/>
          <p:nvPr/>
        </p:nvSpPr>
        <p:spPr>
          <a:xfrm>
            <a:off x="6804248" y="170080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(9,?)</a:t>
            </a:r>
            <a:endParaRPr lang="ru-RU" dirty="0"/>
          </a:p>
        </p:txBody>
      </p:sp>
      <p:sp>
        <p:nvSpPr>
          <p:cNvPr id="73" name="TextBox 72"/>
          <p:cNvSpPr txBox="1"/>
          <p:nvPr/>
        </p:nvSpPr>
        <p:spPr>
          <a:xfrm>
            <a:off x="6566047" y="314096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(8,?)</a:t>
            </a:r>
            <a:endParaRPr lang="ru-RU" dirty="0"/>
          </a:p>
        </p:txBody>
      </p:sp>
      <p:sp>
        <p:nvSpPr>
          <p:cNvPr id="74" name="TextBox 73"/>
          <p:cNvSpPr txBox="1"/>
          <p:nvPr/>
        </p:nvSpPr>
        <p:spPr>
          <a:xfrm>
            <a:off x="3685727" y="126876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(6,?)</a:t>
            </a:r>
            <a:endParaRPr lang="ru-RU" dirty="0"/>
          </a:p>
        </p:txBody>
      </p:sp>
      <p:sp>
        <p:nvSpPr>
          <p:cNvPr id="75" name="TextBox 74"/>
          <p:cNvSpPr txBox="1"/>
          <p:nvPr/>
        </p:nvSpPr>
        <p:spPr>
          <a:xfrm>
            <a:off x="4693839" y="299695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(7,?)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 стрелкой 78"/>
          <p:cNvCxnSpPr/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 стрелкой 79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 стрелкой 8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 стрелкой 81"/>
          <p:cNvCxnSpPr/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51" name="TextBox 50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59" name="Овал 58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" name="TextBox 59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63" name="Овал 62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TextBox 63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65" name="Овал 64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TextBox 65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39" name="Овал 38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TextBox 49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71" name="TextBox 70"/>
          <p:cNvSpPr txBox="1"/>
          <p:nvPr/>
        </p:nvSpPr>
        <p:spPr>
          <a:xfrm>
            <a:off x="2339752" y="105273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(2,5)</a:t>
            </a:r>
            <a:endParaRPr lang="ru-RU" dirty="0"/>
          </a:p>
        </p:txBody>
      </p:sp>
      <p:sp>
        <p:nvSpPr>
          <p:cNvPr id="72" name="TextBox 71"/>
          <p:cNvSpPr txBox="1"/>
          <p:nvPr/>
        </p:nvSpPr>
        <p:spPr>
          <a:xfrm>
            <a:off x="1691680" y="170080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(3,4)</a:t>
            </a:r>
            <a:endParaRPr lang="ru-RU" dirty="0"/>
          </a:p>
        </p:txBody>
      </p:sp>
      <p:sp>
        <p:nvSpPr>
          <p:cNvPr id="73" name="TextBox 72"/>
          <p:cNvSpPr txBox="1"/>
          <p:nvPr/>
        </p:nvSpPr>
        <p:spPr>
          <a:xfrm>
            <a:off x="3100045" y="404664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(1,?)</a:t>
            </a:r>
            <a:endParaRPr lang="ru-RU" dirty="0"/>
          </a:p>
        </p:txBody>
      </p:sp>
      <p:sp>
        <p:nvSpPr>
          <p:cNvPr id="74" name="TextBox 73"/>
          <p:cNvSpPr txBox="1"/>
          <p:nvPr/>
        </p:nvSpPr>
        <p:spPr>
          <a:xfrm>
            <a:off x="5215274" y="1340768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(10,?)</a:t>
            </a:r>
            <a:endParaRPr lang="ru-RU" dirty="0"/>
          </a:p>
        </p:txBody>
      </p:sp>
      <p:sp>
        <p:nvSpPr>
          <p:cNvPr id="75" name="TextBox 74"/>
          <p:cNvSpPr txBox="1"/>
          <p:nvPr/>
        </p:nvSpPr>
        <p:spPr>
          <a:xfrm>
            <a:off x="6804248" y="170080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(9,?)</a:t>
            </a:r>
            <a:endParaRPr lang="ru-RU" dirty="0"/>
          </a:p>
        </p:txBody>
      </p:sp>
      <p:sp>
        <p:nvSpPr>
          <p:cNvPr id="76" name="TextBox 75"/>
          <p:cNvSpPr txBox="1"/>
          <p:nvPr/>
        </p:nvSpPr>
        <p:spPr>
          <a:xfrm>
            <a:off x="6566047" y="314096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(8,?)</a:t>
            </a:r>
            <a:endParaRPr lang="ru-RU" dirty="0"/>
          </a:p>
        </p:txBody>
      </p:sp>
      <p:sp>
        <p:nvSpPr>
          <p:cNvPr id="77" name="TextBox 76"/>
          <p:cNvSpPr txBox="1"/>
          <p:nvPr/>
        </p:nvSpPr>
        <p:spPr>
          <a:xfrm>
            <a:off x="3685727" y="126876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(6,?)</a:t>
            </a:r>
            <a:endParaRPr lang="ru-RU" dirty="0"/>
          </a:p>
        </p:txBody>
      </p:sp>
      <p:sp>
        <p:nvSpPr>
          <p:cNvPr id="78" name="TextBox 77"/>
          <p:cNvSpPr txBox="1"/>
          <p:nvPr/>
        </p:nvSpPr>
        <p:spPr>
          <a:xfrm>
            <a:off x="4693839" y="299695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(7,?)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 стрелкой 83"/>
          <p:cNvCxnSpPr/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 стрелкой 85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76200">
            <a:solidFill>
              <a:schemeClr val="accent3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Прямая со стрелкой 86"/>
          <p:cNvCxnSpPr/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Прямая соединительная линия 88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Прямая со стрелкой 89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53" name="TextBox 52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2" name="Овал 41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62" name="Овал 6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3" name="TextBox 62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72" name="Овал 71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TextBox 72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75" name="TextBox 74"/>
          <p:cNvSpPr txBox="1"/>
          <p:nvPr/>
        </p:nvSpPr>
        <p:spPr>
          <a:xfrm>
            <a:off x="2339752" y="105273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(2,5)</a:t>
            </a:r>
            <a:endParaRPr lang="ru-RU" dirty="0"/>
          </a:p>
        </p:txBody>
      </p:sp>
      <p:sp>
        <p:nvSpPr>
          <p:cNvPr id="76" name="TextBox 75"/>
          <p:cNvSpPr txBox="1"/>
          <p:nvPr/>
        </p:nvSpPr>
        <p:spPr>
          <a:xfrm>
            <a:off x="1691680" y="170080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(3,4)</a:t>
            </a:r>
            <a:endParaRPr lang="ru-RU" dirty="0"/>
          </a:p>
        </p:txBody>
      </p:sp>
      <p:sp>
        <p:nvSpPr>
          <p:cNvPr id="77" name="TextBox 76"/>
          <p:cNvSpPr txBox="1"/>
          <p:nvPr/>
        </p:nvSpPr>
        <p:spPr>
          <a:xfrm>
            <a:off x="3100045" y="404664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(1,?)</a:t>
            </a:r>
            <a:endParaRPr lang="ru-RU" dirty="0"/>
          </a:p>
        </p:txBody>
      </p:sp>
      <p:sp>
        <p:nvSpPr>
          <p:cNvPr id="79" name="TextBox 78"/>
          <p:cNvSpPr txBox="1"/>
          <p:nvPr/>
        </p:nvSpPr>
        <p:spPr>
          <a:xfrm>
            <a:off x="6804248" y="170080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(9,?)</a:t>
            </a:r>
            <a:endParaRPr lang="ru-RU" dirty="0"/>
          </a:p>
        </p:txBody>
      </p:sp>
      <p:sp>
        <p:nvSpPr>
          <p:cNvPr id="80" name="TextBox 79"/>
          <p:cNvSpPr txBox="1"/>
          <p:nvPr/>
        </p:nvSpPr>
        <p:spPr>
          <a:xfrm>
            <a:off x="6566047" y="314096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(8,?)</a:t>
            </a:r>
            <a:endParaRPr lang="ru-RU" dirty="0"/>
          </a:p>
        </p:txBody>
      </p:sp>
      <p:sp>
        <p:nvSpPr>
          <p:cNvPr id="81" name="TextBox 80"/>
          <p:cNvSpPr txBox="1"/>
          <p:nvPr/>
        </p:nvSpPr>
        <p:spPr>
          <a:xfrm>
            <a:off x="3685727" y="126876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(6,?)</a:t>
            </a:r>
            <a:endParaRPr lang="ru-RU" dirty="0"/>
          </a:p>
        </p:txBody>
      </p:sp>
      <p:sp>
        <p:nvSpPr>
          <p:cNvPr id="82" name="TextBox 81"/>
          <p:cNvSpPr txBox="1"/>
          <p:nvPr/>
        </p:nvSpPr>
        <p:spPr>
          <a:xfrm>
            <a:off x="4693839" y="299695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(7,?)</a:t>
            </a:r>
            <a:endParaRPr lang="ru-RU" dirty="0"/>
          </a:p>
        </p:txBody>
      </p:sp>
      <p:sp>
        <p:nvSpPr>
          <p:cNvPr id="83" name="TextBox 82"/>
          <p:cNvSpPr txBox="1"/>
          <p:nvPr/>
        </p:nvSpPr>
        <p:spPr>
          <a:xfrm>
            <a:off x="5148064" y="1340768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(10,11)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 стрелкой 72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/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76200">
            <a:solidFill>
              <a:schemeClr val="accent3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 стрелкой 76"/>
          <p:cNvCxnSpPr/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76200">
            <a:solidFill>
              <a:schemeClr val="accent3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52" name="TextBox 51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2" name="Овал 41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57" name="TextBox 56"/>
          <p:cNvSpPr txBox="1"/>
          <p:nvPr/>
        </p:nvSpPr>
        <p:spPr>
          <a:xfrm>
            <a:off x="2339752" y="105273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(2,5)</a:t>
            </a:r>
            <a:endParaRPr lang="ru-RU" dirty="0"/>
          </a:p>
        </p:txBody>
      </p:sp>
      <p:sp>
        <p:nvSpPr>
          <p:cNvPr id="62" name="TextBox 61"/>
          <p:cNvSpPr txBox="1"/>
          <p:nvPr/>
        </p:nvSpPr>
        <p:spPr>
          <a:xfrm>
            <a:off x="5148064" y="1340768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(10,11)</a:t>
            </a:r>
            <a:endParaRPr lang="ru-RU" dirty="0"/>
          </a:p>
        </p:txBody>
      </p:sp>
      <p:sp>
        <p:nvSpPr>
          <p:cNvPr id="64" name="TextBox 63"/>
          <p:cNvSpPr txBox="1"/>
          <p:nvPr/>
        </p:nvSpPr>
        <p:spPr>
          <a:xfrm>
            <a:off x="1691680" y="170080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(3,4)</a:t>
            </a:r>
            <a:endParaRPr lang="ru-RU" dirty="0"/>
          </a:p>
        </p:txBody>
      </p:sp>
      <p:sp>
        <p:nvSpPr>
          <p:cNvPr id="65" name="TextBox 64"/>
          <p:cNvSpPr txBox="1"/>
          <p:nvPr/>
        </p:nvSpPr>
        <p:spPr>
          <a:xfrm>
            <a:off x="6732240" y="1700808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(9,12)</a:t>
            </a:r>
            <a:endParaRPr lang="ru-RU" dirty="0"/>
          </a:p>
        </p:txBody>
      </p:sp>
      <p:sp>
        <p:nvSpPr>
          <p:cNvPr id="67" name="Овал 66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TextBox 67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69" name="TextBox 68"/>
          <p:cNvSpPr txBox="1"/>
          <p:nvPr/>
        </p:nvSpPr>
        <p:spPr>
          <a:xfrm>
            <a:off x="3100045" y="404664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(1,?)</a:t>
            </a:r>
            <a:endParaRPr lang="ru-RU" dirty="0"/>
          </a:p>
        </p:txBody>
      </p:sp>
      <p:sp>
        <p:nvSpPr>
          <p:cNvPr id="70" name="TextBox 69"/>
          <p:cNvSpPr txBox="1"/>
          <p:nvPr/>
        </p:nvSpPr>
        <p:spPr>
          <a:xfrm>
            <a:off x="6566047" y="314096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(8,?)</a:t>
            </a:r>
            <a:endParaRPr lang="ru-RU" dirty="0"/>
          </a:p>
        </p:txBody>
      </p:sp>
      <p:sp>
        <p:nvSpPr>
          <p:cNvPr id="71" name="TextBox 70"/>
          <p:cNvSpPr txBox="1"/>
          <p:nvPr/>
        </p:nvSpPr>
        <p:spPr>
          <a:xfrm>
            <a:off x="3685727" y="126876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(6,?)</a:t>
            </a:r>
            <a:endParaRPr lang="ru-RU" dirty="0"/>
          </a:p>
        </p:txBody>
      </p:sp>
      <p:sp>
        <p:nvSpPr>
          <p:cNvPr id="72" name="TextBox 71"/>
          <p:cNvSpPr txBox="1"/>
          <p:nvPr/>
        </p:nvSpPr>
        <p:spPr>
          <a:xfrm>
            <a:off x="4693839" y="299695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(7,?)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/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 стрелкой 76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76200">
            <a:solidFill>
              <a:schemeClr val="accent3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/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76200">
            <a:solidFill>
              <a:schemeClr val="accent3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79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2" name="Овал 41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39" name="Овал 38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TextBox 53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339752" y="105273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(2,5)</a:t>
            </a:r>
            <a:endParaRPr lang="ru-RU" dirty="0"/>
          </a:p>
        </p:txBody>
      </p:sp>
      <p:sp>
        <p:nvSpPr>
          <p:cNvPr id="64" name="TextBox 63"/>
          <p:cNvSpPr txBox="1"/>
          <p:nvPr/>
        </p:nvSpPr>
        <p:spPr>
          <a:xfrm>
            <a:off x="5148064" y="1340768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(10,11)</a:t>
            </a:r>
            <a:endParaRPr lang="ru-RU" dirty="0"/>
          </a:p>
        </p:txBody>
      </p:sp>
      <p:sp>
        <p:nvSpPr>
          <p:cNvPr id="66" name="TextBox 65"/>
          <p:cNvSpPr txBox="1"/>
          <p:nvPr/>
        </p:nvSpPr>
        <p:spPr>
          <a:xfrm>
            <a:off x="1691680" y="170080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(3,4)</a:t>
            </a:r>
            <a:endParaRPr lang="ru-RU" dirty="0"/>
          </a:p>
        </p:txBody>
      </p:sp>
      <p:sp>
        <p:nvSpPr>
          <p:cNvPr id="67" name="TextBox 66"/>
          <p:cNvSpPr txBox="1"/>
          <p:nvPr/>
        </p:nvSpPr>
        <p:spPr>
          <a:xfrm>
            <a:off x="6732240" y="1700808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(9,12)</a:t>
            </a:r>
            <a:endParaRPr lang="ru-RU" dirty="0"/>
          </a:p>
        </p:txBody>
      </p:sp>
      <p:sp>
        <p:nvSpPr>
          <p:cNvPr id="68" name="TextBox 67"/>
          <p:cNvSpPr txBox="1"/>
          <p:nvPr/>
        </p:nvSpPr>
        <p:spPr>
          <a:xfrm>
            <a:off x="6516216" y="3140968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(8,13)</a:t>
            </a:r>
            <a:endParaRPr lang="ru-RU" dirty="0"/>
          </a:p>
        </p:txBody>
      </p:sp>
      <p:sp>
        <p:nvSpPr>
          <p:cNvPr id="69" name="Овал 68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TextBox 69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71" name="TextBox 70"/>
          <p:cNvSpPr txBox="1"/>
          <p:nvPr/>
        </p:nvSpPr>
        <p:spPr>
          <a:xfrm>
            <a:off x="3100045" y="404664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(1,?)</a:t>
            </a:r>
            <a:endParaRPr lang="ru-RU" dirty="0"/>
          </a:p>
        </p:txBody>
      </p:sp>
      <p:sp>
        <p:nvSpPr>
          <p:cNvPr id="72" name="TextBox 71"/>
          <p:cNvSpPr txBox="1"/>
          <p:nvPr/>
        </p:nvSpPr>
        <p:spPr>
          <a:xfrm>
            <a:off x="3685727" y="126876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(6,?)</a:t>
            </a:r>
            <a:endParaRPr lang="ru-RU" dirty="0"/>
          </a:p>
        </p:txBody>
      </p:sp>
      <p:sp>
        <p:nvSpPr>
          <p:cNvPr id="73" name="TextBox 72"/>
          <p:cNvSpPr txBox="1"/>
          <p:nvPr/>
        </p:nvSpPr>
        <p:spPr>
          <a:xfrm>
            <a:off x="4693839" y="299695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(7,?)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 стрелкой 75"/>
          <p:cNvCxnSpPr/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 стрелкой 76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76200">
            <a:solidFill>
              <a:schemeClr val="accent3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 стрелкой 78"/>
          <p:cNvCxnSpPr/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76200">
            <a:solidFill>
              <a:schemeClr val="accent3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79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8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8" name="Овал 37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39" name="Овал 38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TextBox 53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7" name="Овал 56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339752" y="105273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(2,5)</a:t>
            </a:r>
            <a:endParaRPr lang="ru-RU" dirty="0"/>
          </a:p>
        </p:txBody>
      </p:sp>
      <p:sp>
        <p:nvSpPr>
          <p:cNvPr id="66" name="TextBox 65"/>
          <p:cNvSpPr txBox="1"/>
          <p:nvPr/>
        </p:nvSpPr>
        <p:spPr>
          <a:xfrm>
            <a:off x="5148064" y="1340768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(10,11)</a:t>
            </a:r>
            <a:endParaRPr lang="ru-RU" dirty="0"/>
          </a:p>
        </p:txBody>
      </p:sp>
      <p:sp>
        <p:nvSpPr>
          <p:cNvPr id="67" name="TextBox 66"/>
          <p:cNvSpPr txBox="1"/>
          <p:nvPr/>
        </p:nvSpPr>
        <p:spPr>
          <a:xfrm>
            <a:off x="4644008" y="2996952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(7,14)</a:t>
            </a:r>
            <a:endParaRPr lang="ru-RU" dirty="0"/>
          </a:p>
        </p:txBody>
      </p:sp>
      <p:sp>
        <p:nvSpPr>
          <p:cNvPr id="68" name="TextBox 67"/>
          <p:cNvSpPr txBox="1"/>
          <p:nvPr/>
        </p:nvSpPr>
        <p:spPr>
          <a:xfrm>
            <a:off x="1691680" y="170080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(3,4)</a:t>
            </a:r>
            <a:endParaRPr lang="ru-RU" dirty="0"/>
          </a:p>
        </p:txBody>
      </p:sp>
      <p:sp>
        <p:nvSpPr>
          <p:cNvPr id="69" name="TextBox 68"/>
          <p:cNvSpPr txBox="1"/>
          <p:nvPr/>
        </p:nvSpPr>
        <p:spPr>
          <a:xfrm>
            <a:off x="6732240" y="1700808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(9,12)</a:t>
            </a:r>
            <a:endParaRPr lang="ru-RU" dirty="0"/>
          </a:p>
        </p:txBody>
      </p:sp>
      <p:sp>
        <p:nvSpPr>
          <p:cNvPr id="70" name="TextBox 69"/>
          <p:cNvSpPr txBox="1"/>
          <p:nvPr/>
        </p:nvSpPr>
        <p:spPr>
          <a:xfrm>
            <a:off x="6516216" y="3140968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(8,13)</a:t>
            </a:r>
            <a:endParaRPr lang="ru-RU" dirty="0"/>
          </a:p>
        </p:txBody>
      </p:sp>
      <p:sp>
        <p:nvSpPr>
          <p:cNvPr id="71" name="Овал 70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TextBox 71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73" name="TextBox 72"/>
          <p:cNvSpPr txBox="1"/>
          <p:nvPr/>
        </p:nvSpPr>
        <p:spPr>
          <a:xfrm>
            <a:off x="3100045" y="404664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(1,?)</a:t>
            </a:r>
            <a:endParaRPr lang="ru-RU" dirty="0"/>
          </a:p>
        </p:txBody>
      </p:sp>
      <p:sp>
        <p:nvSpPr>
          <p:cNvPr id="74" name="TextBox 73"/>
          <p:cNvSpPr txBox="1"/>
          <p:nvPr/>
        </p:nvSpPr>
        <p:spPr>
          <a:xfrm>
            <a:off x="3685727" y="126876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(6,?)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 стрелкой 21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/>
          <p:cNvCxnSpPr/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76200">
            <a:solidFill>
              <a:schemeClr val="accent3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/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76200">
            <a:solidFill>
              <a:schemeClr val="accent3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Овал 38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TextBox 53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7" name="Овал 56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339752" y="105273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(2,5)</a:t>
            </a:r>
            <a:endParaRPr lang="ru-RU" dirty="0"/>
          </a:p>
        </p:txBody>
      </p:sp>
      <p:sp>
        <p:nvSpPr>
          <p:cNvPr id="66" name="TextBox 65"/>
          <p:cNvSpPr txBox="1"/>
          <p:nvPr/>
        </p:nvSpPr>
        <p:spPr>
          <a:xfrm>
            <a:off x="5148064" y="1340768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(10,11)</a:t>
            </a:r>
            <a:endParaRPr lang="ru-RU" dirty="0"/>
          </a:p>
        </p:txBody>
      </p:sp>
      <p:sp>
        <p:nvSpPr>
          <p:cNvPr id="67" name="TextBox 66"/>
          <p:cNvSpPr txBox="1"/>
          <p:nvPr/>
        </p:nvSpPr>
        <p:spPr>
          <a:xfrm>
            <a:off x="4644008" y="2996952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(7,14)</a:t>
            </a:r>
            <a:endParaRPr lang="ru-RU" dirty="0"/>
          </a:p>
        </p:txBody>
      </p:sp>
      <p:sp>
        <p:nvSpPr>
          <p:cNvPr id="68" name="TextBox 67"/>
          <p:cNvSpPr txBox="1"/>
          <p:nvPr/>
        </p:nvSpPr>
        <p:spPr>
          <a:xfrm>
            <a:off x="1691680" y="170080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(3,4)</a:t>
            </a:r>
            <a:endParaRPr lang="ru-RU" dirty="0"/>
          </a:p>
        </p:txBody>
      </p:sp>
      <p:sp>
        <p:nvSpPr>
          <p:cNvPr id="69" name="TextBox 68"/>
          <p:cNvSpPr txBox="1"/>
          <p:nvPr/>
        </p:nvSpPr>
        <p:spPr>
          <a:xfrm>
            <a:off x="6732240" y="1700808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(9,12)</a:t>
            </a:r>
            <a:endParaRPr lang="ru-RU" dirty="0"/>
          </a:p>
        </p:txBody>
      </p:sp>
      <p:sp>
        <p:nvSpPr>
          <p:cNvPr id="70" name="TextBox 69"/>
          <p:cNvSpPr txBox="1"/>
          <p:nvPr/>
        </p:nvSpPr>
        <p:spPr>
          <a:xfrm>
            <a:off x="6516216" y="3140968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(8,13)</a:t>
            </a:r>
            <a:endParaRPr lang="ru-RU" dirty="0"/>
          </a:p>
        </p:txBody>
      </p:sp>
      <p:sp>
        <p:nvSpPr>
          <p:cNvPr id="71" name="Овал 70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TextBox 71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73" name="TextBox 72"/>
          <p:cNvSpPr txBox="1"/>
          <p:nvPr/>
        </p:nvSpPr>
        <p:spPr>
          <a:xfrm>
            <a:off x="3100045" y="404664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(1,?)</a:t>
            </a:r>
            <a:endParaRPr lang="ru-RU" dirty="0"/>
          </a:p>
        </p:txBody>
      </p:sp>
      <p:sp>
        <p:nvSpPr>
          <p:cNvPr id="43" name="Овал 42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/>
          <p:cNvSpPr txBox="1"/>
          <p:nvPr/>
        </p:nvSpPr>
        <p:spPr>
          <a:xfrm>
            <a:off x="3635896" y="1268760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(6,15)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Прямая со стрелкой 16"/>
          <p:cNvCxnSpPr/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4139952" y="1700808"/>
            <a:ext cx="1296144" cy="40650"/>
          </a:xfrm>
          <a:prstGeom prst="straightConnector1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>
            <a:off x="5724958" y="1741458"/>
            <a:ext cx="1223306" cy="360040"/>
          </a:xfrm>
          <a:prstGeom prst="straightConnector1">
            <a:avLst/>
          </a:prstGeom>
          <a:ln w="76200">
            <a:solidFill>
              <a:schemeClr val="accent3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endCxn id="13" idx="0"/>
          </p:cNvCxnSpPr>
          <p:nvPr/>
        </p:nvCxnSpPr>
        <p:spPr>
          <a:xfrm flipH="1">
            <a:off x="6876256" y="2276872"/>
            <a:ext cx="216024" cy="1152128"/>
          </a:xfrm>
          <a:prstGeom prst="straightConnector1">
            <a:avLst/>
          </a:prstGeom>
          <a:ln w="76200">
            <a:solidFill>
              <a:schemeClr val="accent3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единительная линия 118"/>
          <p:cNvCxnSpPr/>
          <p:nvPr/>
        </p:nvCxnSpPr>
        <p:spPr>
          <a:xfrm>
            <a:off x="3995936" y="1844824"/>
            <a:ext cx="864096" cy="1552818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/>
          <p:cNvCxnSpPr/>
          <p:nvPr/>
        </p:nvCxnSpPr>
        <p:spPr>
          <a:xfrm>
            <a:off x="5148064" y="3501008"/>
            <a:ext cx="1584176" cy="40650"/>
          </a:xfrm>
          <a:prstGeom prst="line">
            <a:avLst/>
          </a:prstGeom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единительная линия 122"/>
          <p:cNvCxnSpPr/>
          <p:nvPr/>
        </p:nvCxnSpPr>
        <p:spPr>
          <a:xfrm flipH="1">
            <a:off x="5076056" y="1926124"/>
            <a:ext cx="504471" cy="13588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 flipH="1">
            <a:off x="5148894" y="2204864"/>
            <a:ext cx="1799370" cy="11927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вал 12"/>
          <p:cNvSpPr/>
          <p:nvPr/>
        </p:nvSpPr>
        <p:spPr>
          <a:xfrm>
            <a:off x="6732240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/>
          <p:cNvSpPr/>
          <p:nvPr/>
        </p:nvSpPr>
        <p:spPr>
          <a:xfrm>
            <a:off x="5436096" y="16288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/>
          <p:cNvSpPr/>
          <p:nvPr/>
        </p:nvSpPr>
        <p:spPr>
          <a:xfrm>
            <a:off x="4860032" y="32849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/>
          <p:cNvSpPr/>
          <p:nvPr/>
        </p:nvSpPr>
        <p:spPr>
          <a:xfrm>
            <a:off x="6948264" y="198884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3059832" y="404664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(1,16)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3635896" y="1268760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(6,15)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2339752" y="105273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(2,5)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5148064" y="1340768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(10,11)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4644008" y="2996952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(7,14)</a:t>
            </a:r>
            <a:endParaRPr lang="ru-RU" dirty="0"/>
          </a:p>
        </p:txBody>
      </p:sp>
      <p:sp>
        <p:nvSpPr>
          <p:cNvPr id="50" name="TextBox 49"/>
          <p:cNvSpPr txBox="1"/>
          <p:nvPr/>
        </p:nvSpPr>
        <p:spPr>
          <a:xfrm>
            <a:off x="1691680" y="170080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(3,4)</a:t>
            </a:r>
            <a:endParaRPr lang="ru-RU" dirty="0"/>
          </a:p>
        </p:txBody>
      </p:sp>
      <p:sp>
        <p:nvSpPr>
          <p:cNvPr id="51" name="TextBox 50"/>
          <p:cNvSpPr txBox="1"/>
          <p:nvPr/>
        </p:nvSpPr>
        <p:spPr>
          <a:xfrm>
            <a:off x="6732240" y="1700808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(9,12)</a:t>
            </a:r>
            <a:endParaRPr lang="ru-RU" dirty="0"/>
          </a:p>
        </p:txBody>
      </p:sp>
      <p:sp>
        <p:nvSpPr>
          <p:cNvPr id="52" name="TextBox 51"/>
          <p:cNvSpPr txBox="1"/>
          <p:nvPr/>
        </p:nvSpPr>
        <p:spPr>
          <a:xfrm>
            <a:off x="6516216" y="3140968"/>
            <a:ext cx="734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(8,13)</a:t>
            </a:r>
            <a:endParaRPr lang="ru-RU" dirty="0"/>
          </a:p>
        </p:txBody>
      </p:sp>
      <p:sp>
        <p:nvSpPr>
          <p:cNvPr id="53" name="TextBox 52"/>
          <p:cNvSpPr txBox="1"/>
          <p:nvPr/>
        </p:nvSpPr>
        <p:spPr>
          <a:xfrm>
            <a:off x="6718586" y="33569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926468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822042" y="1916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846378" y="32129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422442" y="1556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470114" y="12687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838266" y="14847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275856" y="62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55776" y="332656"/>
            <a:ext cx="5902424" cy="5976663"/>
          </a:xfrm>
        </p:spPr>
        <p:txBody>
          <a:bodyPr>
            <a:noAutofit/>
          </a:bodyPr>
          <a:lstStyle/>
          <a:p>
            <a:pPr algn="l"/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DFS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G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each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u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color[u] ⟵ WHITE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π[u] ⟵ NIL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time ⟵ 0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each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u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if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color[u] = WHITE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then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	</a:t>
            </a:r>
            <a:r>
              <a:rPr lang="en-US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DFS_Visit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(u)</a:t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DFS</a:t>
            </a:r>
            <a:r>
              <a:rPr lang="ru-RU" sz="1600" dirty="0" smtClean="0"/>
              <a:t>_</a:t>
            </a:r>
            <a:r>
              <a:rPr lang="en-US" sz="1600" dirty="0" smtClean="0"/>
              <a:t>Visit</a:t>
            </a:r>
            <a:r>
              <a:rPr lang="ru-RU" sz="1600" dirty="0" smtClean="0"/>
              <a:t> (</a:t>
            </a:r>
            <a:r>
              <a:rPr lang="en-US" sz="1600" dirty="0" smtClean="0"/>
              <a:t>u</a:t>
            </a:r>
            <a:r>
              <a:rPr lang="ru-RU" sz="1600" dirty="0" smtClean="0"/>
              <a:t>)</a:t>
            </a:r>
            <a:br>
              <a:rPr lang="ru-RU" sz="1600" dirty="0" smtClean="0"/>
            </a:br>
            <a:r>
              <a:rPr lang="en-US" sz="1600" dirty="0" smtClean="0"/>
              <a:t>color[u] ⟵ GRAY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time ⟵ time +1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in[u] ⟵ time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b="1" dirty="0" smtClean="0"/>
              <a:t>for</a:t>
            </a:r>
            <a:r>
              <a:rPr lang="ru-RU" sz="1600" dirty="0" smtClean="0"/>
              <a:t> </a:t>
            </a:r>
            <a:r>
              <a:rPr lang="en-US" sz="1600" dirty="0" smtClean="0"/>
              <a:t>each</a:t>
            </a:r>
            <a:r>
              <a:rPr lang="ru-RU" sz="1600" dirty="0" smtClean="0"/>
              <a:t> ∈ </a:t>
            </a:r>
            <a:r>
              <a:rPr lang="en-US" sz="1600" dirty="0" err="1" smtClean="0"/>
              <a:t>Adj</a:t>
            </a:r>
            <a:r>
              <a:rPr lang="en-US" sz="1600" dirty="0" smtClean="0"/>
              <a:t>[u]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	</a:t>
            </a:r>
            <a:r>
              <a:rPr lang="en-US" sz="1600" b="1" dirty="0" smtClean="0"/>
              <a:t>if</a:t>
            </a:r>
            <a:r>
              <a:rPr lang="en-US" sz="1600" dirty="0" smtClean="0"/>
              <a:t> color[v] </a:t>
            </a:r>
            <a:r>
              <a:rPr lang="ru-RU" sz="1600" dirty="0" smtClean="0"/>
              <a:t>=</a:t>
            </a:r>
            <a:r>
              <a:rPr lang="en-US" sz="1600" dirty="0" smtClean="0"/>
              <a:t> WHITE </a:t>
            </a:r>
            <a:r>
              <a:rPr lang="en-US" sz="1600" b="1" dirty="0" smtClean="0"/>
              <a:t>then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π[v] ⟵ u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</a:t>
            </a:r>
            <a:r>
              <a:rPr lang="en-US" sz="1600" dirty="0" err="1" smtClean="0"/>
              <a:t>DFS_Visit</a:t>
            </a:r>
            <a:r>
              <a:rPr lang="en-US" sz="1600" dirty="0" smtClean="0"/>
              <a:t>(v)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color[u] ⟵ BLACK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time ⟵time+1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out[u] ⟵ time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946647"/>
          </a:xfrm>
        </p:spPr>
        <p:txBody>
          <a:bodyPr>
            <a:normAutofit/>
          </a:bodyPr>
          <a:lstStyle/>
          <a:p>
            <a:r>
              <a:rPr lang="ru-RU" b="1" i="1" dirty="0" smtClean="0"/>
              <a:t>Дерево обхода в глубину. Классификация дуг. </a:t>
            </a:r>
            <a:endParaRPr lang="ru-RU" b="1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836712"/>
            <a:ext cx="7772400" cy="5256583"/>
          </a:xfrm>
        </p:spPr>
        <p:txBody>
          <a:bodyPr>
            <a:noAutofit/>
          </a:bodyPr>
          <a:lstStyle/>
          <a:p>
            <a:pPr algn="l"/>
            <a:r>
              <a:rPr lang="ru-RU" sz="2000" dirty="0" smtClean="0"/>
              <a:t>Введем понятие времени входа (_</a:t>
            </a:r>
            <a:r>
              <a:rPr lang="en-US" sz="2000" dirty="0" smtClean="0"/>
              <a:t>in</a:t>
            </a:r>
            <a:r>
              <a:rPr lang="ru-RU" sz="2000" dirty="0" smtClean="0"/>
              <a:t>) и выхода</a:t>
            </a:r>
            <a:r>
              <a:rPr lang="en-US" sz="2000" dirty="0" smtClean="0"/>
              <a:t> (_out)</a:t>
            </a:r>
            <a:r>
              <a:rPr lang="ru-RU" sz="2000" dirty="0" smtClean="0"/>
              <a:t>. Пусть даны две вершины </a:t>
            </a:r>
            <a:r>
              <a:rPr lang="en-US" sz="2000" b="1" dirty="0" smtClean="0">
                <a:solidFill>
                  <a:srgbClr val="00B050"/>
                </a:solidFill>
              </a:rPr>
              <a:t>u</a:t>
            </a:r>
            <a:r>
              <a:rPr lang="en-US" sz="2000" dirty="0" smtClean="0"/>
              <a:t> </a:t>
            </a:r>
            <a:r>
              <a:rPr lang="ru-RU" sz="2000" dirty="0" smtClean="0"/>
              <a:t>и </a:t>
            </a:r>
            <a:r>
              <a:rPr lang="en-US" sz="2000" b="1" dirty="0" smtClean="0">
                <a:solidFill>
                  <a:srgbClr val="7030A0"/>
                </a:solidFill>
              </a:rPr>
              <a:t>v</a:t>
            </a:r>
            <a:r>
              <a:rPr lang="ru-RU" sz="2000" dirty="0" smtClean="0"/>
              <a:t>. Причем, </a:t>
            </a:r>
            <a:r>
              <a:rPr lang="en-US" sz="2000" b="1" dirty="0" err="1" smtClean="0">
                <a:solidFill>
                  <a:srgbClr val="00B050"/>
                </a:solidFill>
              </a:rPr>
              <a:t>u_in</a:t>
            </a:r>
            <a:r>
              <a:rPr lang="en-US" sz="2000" dirty="0" smtClean="0"/>
              <a:t> &lt; </a:t>
            </a:r>
            <a:r>
              <a:rPr lang="en-US" sz="2000" b="1" dirty="0" err="1" smtClean="0">
                <a:solidFill>
                  <a:srgbClr val="7030A0"/>
                </a:solidFill>
              </a:rPr>
              <a:t>v_in</a:t>
            </a:r>
            <a:r>
              <a:rPr lang="ru-RU" sz="2000" dirty="0" smtClean="0"/>
              <a:t>.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b="1" dirty="0" smtClean="0"/>
              <a:t>Теорема о скобках: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Возможен только один из двух вариантов:</a:t>
            </a:r>
            <a:br>
              <a:rPr lang="ru-RU" sz="2000" dirty="0" smtClean="0"/>
            </a:br>
            <a:r>
              <a:rPr lang="en-US" sz="2000" b="1" dirty="0" err="1" smtClean="0">
                <a:solidFill>
                  <a:srgbClr val="00B050"/>
                </a:solidFill>
              </a:rPr>
              <a:t>u_in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smtClean="0"/>
              <a:t>&lt; </a:t>
            </a:r>
            <a:r>
              <a:rPr lang="en-US" sz="2000" b="1" dirty="0" err="1" smtClean="0">
                <a:solidFill>
                  <a:srgbClr val="7030A0"/>
                </a:solidFill>
              </a:rPr>
              <a:t>v_in</a:t>
            </a:r>
            <a:r>
              <a:rPr lang="en-US" sz="2000" dirty="0" smtClean="0"/>
              <a:t> &lt; </a:t>
            </a:r>
            <a:r>
              <a:rPr lang="en-US" sz="2000" b="1" dirty="0" err="1" smtClean="0">
                <a:solidFill>
                  <a:srgbClr val="7030A0"/>
                </a:solidFill>
              </a:rPr>
              <a:t>v_out</a:t>
            </a:r>
            <a:r>
              <a:rPr lang="en-US" sz="2000" dirty="0" smtClean="0"/>
              <a:t> &lt; </a:t>
            </a:r>
            <a:r>
              <a:rPr lang="en-US" sz="2000" b="1" dirty="0" err="1" smtClean="0">
                <a:solidFill>
                  <a:srgbClr val="00B050"/>
                </a:solidFill>
              </a:rPr>
              <a:t>u_out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en-US" sz="2000" b="1" dirty="0" err="1" smtClean="0">
                <a:solidFill>
                  <a:srgbClr val="00B050"/>
                </a:solidFill>
              </a:rPr>
              <a:t>u_in</a:t>
            </a:r>
            <a:r>
              <a:rPr lang="en-US" sz="2000" dirty="0" smtClean="0"/>
              <a:t> &lt; </a:t>
            </a:r>
            <a:r>
              <a:rPr lang="en-US" sz="2000" b="1" dirty="0" err="1" smtClean="0">
                <a:solidFill>
                  <a:srgbClr val="00B050"/>
                </a:solidFill>
              </a:rPr>
              <a:t>u_out</a:t>
            </a:r>
            <a:r>
              <a:rPr lang="en-US" sz="2000" dirty="0" smtClean="0"/>
              <a:t> &lt; </a:t>
            </a:r>
            <a:r>
              <a:rPr lang="en-US" sz="2000" b="1" dirty="0" err="1" smtClean="0">
                <a:solidFill>
                  <a:srgbClr val="7030A0"/>
                </a:solidFill>
              </a:rPr>
              <a:t>v_in</a:t>
            </a:r>
            <a:r>
              <a:rPr lang="en-US" sz="2000" dirty="0" smtClean="0"/>
              <a:t> &lt; </a:t>
            </a:r>
            <a:r>
              <a:rPr lang="en-US" sz="2000" b="1" dirty="0" err="1" smtClean="0">
                <a:solidFill>
                  <a:srgbClr val="7030A0"/>
                </a:solidFill>
              </a:rPr>
              <a:t>v_out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т</a:t>
            </a:r>
            <a:r>
              <a:rPr lang="en-US" sz="2000" dirty="0" smtClean="0"/>
              <a:t>.</a:t>
            </a:r>
            <a:r>
              <a:rPr lang="ru-RU" sz="2000" dirty="0" smtClean="0"/>
              <a:t>е</a:t>
            </a:r>
            <a:r>
              <a:rPr lang="en-US" sz="2000" dirty="0" smtClean="0"/>
              <a:t>. </a:t>
            </a:r>
            <a:r>
              <a:rPr lang="ru-RU" sz="2000" dirty="0" smtClean="0"/>
              <a:t>невозможен случай</a:t>
            </a:r>
            <a:r>
              <a:rPr lang="en-US" sz="2000" dirty="0" smtClean="0"/>
              <a:t>: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en-US" sz="2000" b="1" dirty="0" err="1" smtClean="0">
                <a:solidFill>
                  <a:srgbClr val="00B050"/>
                </a:solidFill>
              </a:rPr>
              <a:t>u_in</a:t>
            </a:r>
            <a:r>
              <a:rPr lang="en-US" sz="2000" dirty="0" smtClean="0"/>
              <a:t> &lt; </a:t>
            </a:r>
            <a:r>
              <a:rPr lang="en-US" sz="2000" b="1" dirty="0" err="1" smtClean="0">
                <a:solidFill>
                  <a:srgbClr val="7030A0"/>
                </a:solidFill>
              </a:rPr>
              <a:t>v_in</a:t>
            </a:r>
            <a:r>
              <a:rPr lang="en-US" sz="2000" dirty="0" smtClean="0"/>
              <a:t> &lt; </a:t>
            </a:r>
            <a:r>
              <a:rPr lang="en-US" sz="2000" b="1" dirty="0" err="1" smtClean="0">
                <a:solidFill>
                  <a:srgbClr val="00B050"/>
                </a:solidFill>
              </a:rPr>
              <a:t>u_out</a:t>
            </a:r>
            <a:r>
              <a:rPr lang="en-US" sz="2000" dirty="0" smtClean="0"/>
              <a:t> &lt; </a:t>
            </a:r>
            <a:r>
              <a:rPr lang="en-US" sz="2000" b="1" dirty="0" err="1" smtClean="0">
                <a:solidFill>
                  <a:srgbClr val="7030A0"/>
                </a:solidFill>
              </a:rPr>
              <a:t>v_out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b="1" dirty="0" smtClean="0"/>
              <a:t>Доказательство: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Если </a:t>
            </a:r>
            <a:r>
              <a:rPr lang="en-US" sz="2000" b="1" dirty="0" smtClean="0">
                <a:solidFill>
                  <a:srgbClr val="00B050"/>
                </a:solidFill>
              </a:rPr>
              <a:t>u</a:t>
            </a:r>
            <a:r>
              <a:rPr lang="ru-RU" sz="2000" b="1" dirty="0" smtClean="0">
                <a:solidFill>
                  <a:srgbClr val="00B050"/>
                </a:solidFill>
              </a:rPr>
              <a:t>_</a:t>
            </a:r>
            <a:r>
              <a:rPr lang="en-US" sz="2000" b="1" dirty="0" smtClean="0">
                <a:solidFill>
                  <a:srgbClr val="00B050"/>
                </a:solidFill>
              </a:rPr>
              <a:t>out</a:t>
            </a:r>
            <a:r>
              <a:rPr lang="en-US" sz="2000" dirty="0" smtClean="0"/>
              <a:t> </a:t>
            </a:r>
            <a:r>
              <a:rPr lang="ru-RU" sz="2000" dirty="0" smtClean="0"/>
              <a:t>&lt; </a:t>
            </a:r>
            <a:r>
              <a:rPr lang="en-US" sz="2000" b="1" dirty="0" smtClean="0">
                <a:solidFill>
                  <a:srgbClr val="7030A0"/>
                </a:solidFill>
              </a:rPr>
              <a:t>v</a:t>
            </a:r>
            <a:r>
              <a:rPr lang="ru-RU" sz="2000" b="1" dirty="0" smtClean="0">
                <a:solidFill>
                  <a:srgbClr val="7030A0"/>
                </a:solidFill>
              </a:rPr>
              <a:t>_</a:t>
            </a:r>
            <a:r>
              <a:rPr lang="en-US" sz="2000" b="1" dirty="0" smtClean="0">
                <a:solidFill>
                  <a:srgbClr val="7030A0"/>
                </a:solidFill>
              </a:rPr>
              <a:t>in</a:t>
            </a:r>
            <a:r>
              <a:rPr lang="ru-RU" sz="2000" dirty="0" smtClean="0"/>
              <a:t> – </a:t>
            </a:r>
            <a:r>
              <a:rPr lang="ru-RU" sz="2000" dirty="0" err="1" smtClean="0"/>
              <a:t>чтд</a:t>
            </a:r>
            <a:r>
              <a:rPr lang="ru-RU" sz="2000" dirty="0" smtClean="0"/>
              <a:t> (вариант 2).</a:t>
            </a:r>
            <a:br>
              <a:rPr lang="ru-RU" sz="2000" dirty="0" smtClean="0"/>
            </a:br>
            <a:r>
              <a:rPr lang="ru-RU" sz="2000" dirty="0" smtClean="0"/>
              <a:t>Если </a:t>
            </a:r>
            <a:r>
              <a:rPr lang="en-US" sz="2000" b="1" dirty="0" smtClean="0">
                <a:solidFill>
                  <a:srgbClr val="7030A0"/>
                </a:solidFill>
              </a:rPr>
              <a:t>v</a:t>
            </a:r>
            <a:r>
              <a:rPr lang="ru-RU" sz="2000" b="1" dirty="0" smtClean="0">
                <a:solidFill>
                  <a:srgbClr val="7030A0"/>
                </a:solidFill>
              </a:rPr>
              <a:t>_</a:t>
            </a:r>
            <a:r>
              <a:rPr lang="en-US" sz="2000" b="1" dirty="0" smtClean="0">
                <a:solidFill>
                  <a:srgbClr val="7030A0"/>
                </a:solidFill>
              </a:rPr>
              <a:t>in</a:t>
            </a:r>
            <a:r>
              <a:rPr lang="en-US" sz="2000" dirty="0" smtClean="0"/>
              <a:t> </a:t>
            </a:r>
            <a:r>
              <a:rPr lang="ru-RU" sz="2000" dirty="0" smtClean="0"/>
              <a:t>&lt; </a:t>
            </a:r>
            <a:r>
              <a:rPr lang="en-US" sz="2000" b="1" dirty="0" smtClean="0">
                <a:solidFill>
                  <a:srgbClr val="00B050"/>
                </a:solidFill>
              </a:rPr>
              <a:t>u</a:t>
            </a:r>
            <a:r>
              <a:rPr lang="ru-RU" sz="2000" b="1" dirty="0" smtClean="0">
                <a:solidFill>
                  <a:srgbClr val="00B050"/>
                </a:solidFill>
              </a:rPr>
              <a:t>_</a:t>
            </a:r>
            <a:r>
              <a:rPr lang="en-US" sz="2000" b="1" dirty="0" smtClean="0">
                <a:solidFill>
                  <a:srgbClr val="00B050"/>
                </a:solidFill>
              </a:rPr>
              <a:t>out</a:t>
            </a:r>
            <a:r>
              <a:rPr lang="ru-RU" sz="2000" dirty="0" smtClean="0"/>
              <a:t>, то получается </a:t>
            </a:r>
            <a:r>
              <a:rPr lang="en-US" sz="2000" b="1" dirty="0" err="1" smtClean="0">
                <a:solidFill>
                  <a:srgbClr val="00B050"/>
                </a:solidFill>
              </a:rPr>
              <a:t>u_in</a:t>
            </a:r>
            <a:r>
              <a:rPr lang="en-US" sz="2000" dirty="0" smtClean="0"/>
              <a:t> &lt; </a:t>
            </a:r>
            <a:r>
              <a:rPr lang="en-US" sz="2000" b="1" dirty="0" err="1" smtClean="0">
                <a:solidFill>
                  <a:srgbClr val="7030A0"/>
                </a:solidFill>
              </a:rPr>
              <a:t>v_in</a:t>
            </a:r>
            <a:r>
              <a:rPr lang="ru-RU" sz="2000" dirty="0" smtClean="0"/>
              <a:t> &lt; </a:t>
            </a:r>
            <a:r>
              <a:rPr lang="en-US" sz="2000" b="1" dirty="0" smtClean="0">
                <a:solidFill>
                  <a:srgbClr val="00B050"/>
                </a:solidFill>
              </a:rPr>
              <a:t>u</a:t>
            </a:r>
            <a:r>
              <a:rPr lang="ru-RU" sz="2000" b="1" dirty="0" smtClean="0">
                <a:solidFill>
                  <a:srgbClr val="00B050"/>
                </a:solidFill>
              </a:rPr>
              <a:t>_</a:t>
            </a:r>
            <a:r>
              <a:rPr lang="en-US" sz="2000" b="1" dirty="0" smtClean="0">
                <a:solidFill>
                  <a:srgbClr val="00B050"/>
                </a:solidFill>
              </a:rPr>
              <a:t>out</a:t>
            </a:r>
            <a:r>
              <a:rPr lang="ru-RU" sz="2000" dirty="0" smtClean="0"/>
              <a:t>.</a:t>
            </a:r>
            <a:r>
              <a:rPr lang="ru-RU" sz="2000" b="1" dirty="0" smtClean="0">
                <a:solidFill>
                  <a:srgbClr val="7030A0"/>
                </a:solidFill>
              </a:rPr>
              <a:t> </a:t>
            </a:r>
            <a:r>
              <a:rPr lang="ru-RU" sz="2000" dirty="0" smtClean="0"/>
              <a:t>Это говорит о том что вершина </a:t>
            </a:r>
            <a:r>
              <a:rPr lang="en-US" sz="2000" b="1" dirty="0" smtClean="0">
                <a:solidFill>
                  <a:srgbClr val="7030A0"/>
                </a:solidFill>
              </a:rPr>
              <a:t>v</a:t>
            </a:r>
            <a:r>
              <a:rPr lang="ru-RU" sz="2000" dirty="0" smtClean="0"/>
              <a:t> была открыта до закрытия вершины </a:t>
            </a:r>
            <a:r>
              <a:rPr lang="en-US" sz="2000" b="1" dirty="0" smtClean="0">
                <a:solidFill>
                  <a:srgbClr val="00B050"/>
                </a:solidFill>
              </a:rPr>
              <a:t>u</a:t>
            </a:r>
            <a:r>
              <a:rPr lang="ru-RU" sz="2000" dirty="0" smtClean="0"/>
              <a:t>,но после ее открытия. Следовательно, исходя из последовательности действий алгоритма, вершина </a:t>
            </a:r>
            <a:r>
              <a:rPr lang="en-US" sz="2000" b="1" dirty="0" smtClean="0">
                <a:solidFill>
                  <a:srgbClr val="00B050"/>
                </a:solidFill>
              </a:rPr>
              <a:t>u</a:t>
            </a:r>
            <a:r>
              <a:rPr lang="en-US" sz="2000" dirty="0" smtClean="0"/>
              <a:t> </a:t>
            </a:r>
            <a:r>
              <a:rPr lang="ru-RU" sz="2000" dirty="0" smtClean="0"/>
              <a:t>является предком вершины </a:t>
            </a:r>
            <a:r>
              <a:rPr lang="en-US" sz="2000" b="1" dirty="0" smtClean="0">
                <a:solidFill>
                  <a:srgbClr val="7030A0"/>
                </a:solidFill>
              </a:rPr>
              <a:t>v</a:t>
            </a:r>
            <a:r>
              <a:rPr lang="ru-RU" sz="2000" dirty="0" smtClean="0"/>
              <a:t>, а значит будет закрыта позже.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836712"/>
            <a:ext cx="7772400" cy="5688632"/>
          </a:xfrm>
        </p:spPr>
        <p:txBody>
          <a:bodyPr>
            <a:noAutofit/>
          </a:bodyPr>
          <a:lstStyle/>
          <a:p>
            <a:pPr algn="l"/>
            <a:r>
              <a:rPr lang="ru-RU" sz="2000" b="1" dirty="0" smtClean="0"/>
              <a:t>Дуги дерева</a:t>
            </a:r>
            <a:r>
              <a:rPr lang="ru-RU" sz="2000" dirty="0" smtClean="0"/>
              <a:t> – это дуги графа </a:t>
            </a:r>
            <a:r>
              <a:rPr lang="en-US" sz="2000" dirty="0" err="1" smtClean="0"/>
              <a:t>G</a:t>
            </a:r>
            <a:r>
              <a:rPr lang="en-US" sz="2000" baseline="-25000" dirty="0" err="1" smtClean="0"/>
              <a:t>π</a:t>
            </a:r>
            <a:r>
              <a:rPr lang="ru-RU" sz="2000" dirty="0" smtClean="0"/>
              <a:t>. Дуга (</a:t>
            </a:r>
            <a:r>
              <a:rPr lang="en-US" sz="2000" dirty="0" smtClean="0"/>
              <a:t>u</a:t>
            </a:r>
            <a:r>
              <a:rPr lang="ru-RU" sz="2000" dirty="0" smtClean="0"/>
              <a:t>, </a:t>
            </a:r>
            <a:r>
              <a:rPr lang="en-US" sz="2000" dirty="0" smtClean="0"/>
              <a:t>v</a:t>
            </a:r>
            <a:r>
              <a:rPr lang="ru-RU" sz="2000" dirty="0" smtClean="0"/>
              <a:t>) является дугой дерева, если при исследовании этой дуги была открыта </a:t>
            </a:r>
            <a:r>
              <a:rPr lang="en-US" sz="2000" dirty="0" smtClean="0"/>
              <a:t>v</a:t>
            </a:r>
            <a:r>
              <a:rPr lang="ru-RU" sz="2000" dirty="0" smtClean="0"/>
              <a:t> (т.е. </a:t>
            </a:r>
            <a:r>
              <a:rPr lang="en-US" sz="2000" dirty="0" smtClean="0"/>
              <a:t>u </a:t>
            </a:r>
            <a:r>
              <a:rPr lang="ru-RU" sz="2000" dirty="0" smtClean="0"/>
              <a:t>является ее непосредственным предком в дереве обхода).</a:t>
            </a:r>
            <a:br>
              <a:rPr lang="ru-RU" sz="2000" dirty="0" smtClean="0"/>
            </a:br>
            <a:r>
              <a:rPr lang="ru-RU" sz="2000" b="1" dirty="0" smtClean="0"/>
              <a:t>Прямые дуги </a:t>
            </a:r>
            <a:r>
              <a:rPr lang="ru-RU" sz="2000" dirty="0" smtClean="0"/>
              <a:t>– это дуги (</a:t>
            </a:r>
            <a:r>
              <a:rPr lang="en-US" sz="2000" dirty="0" smtClean="0"/>
              <a:t>u</a:t>
            </a:r>
            <a:r>
              <a:rPr lang="ru-RU" sz="2000" dirty="0" smtClean="0"/>
              <a:t>, </a:t>
            </a:r>
            <a:r>
              <a:rPr lang="en-US" sz="2000" dirty="0" smtClean="0"/>
              <a:t>v</a:t>
            </a:r>
            <a:r>
              <a:rPr lang="ru-RU" sz="2000" dirty="0" smtClean="0"/>
              <a:t>), не являющиеся дугами дерева обхода и соединяющие вершину </a:t>
            </a:r>
            <a:r>
              <a:rPr lang="en-US" sz="2000" dirty="0" smtClean="0"/>
              <a:t>u </a:t>
            </a:r>
            <a:r>
              <a:rPr lang="ru-RU" sz="2000" dirty="0" smtClean="0"/>
              <a:t>с ее потомком </a:t>
            </a:r>
            <a:r>
              <a:rPr lang="en-US" sz="2000" dirty="0" smtClean="0"/>
              <a:t>v </a:t>
            </a:r>
            <a:r>
              <a:rPr lang="ru-RU" sz="2000" dirty="0" smtClean="0"/>
              <a:t>в дереве обхода.</a:t>
            </a:r>
            <a:br>
              <a:rPr lang="ru-RU" sz="2000" dirty="0" smtClean="0"/>
            </a:br>
            <a:r>
              <a:rPr lang="ru-RU" sz="2000" b="1" dirty="0" smtClean="0"/>
              <a:t>Обратные дуги </a:t>
            </a:r>
            <a:r>
              <a:rPr lang="ru-RU" sz="2000" dirty="0" smtClean="0"/>
              <a:t>– это дуги (</a:t>
            </a:r>
            <a:r>
              <a:rPr lang="en-US" sz="2000" dirty="0" smtClean="0"/>
              <a:t>u</a:t>
            </a:r>
            <a:r>
              <a:rPr lang="ru-RU" sz="2000" dirty="0" smtClean="0"/>
              <a:t>, </a:t>
            </a:r>
            <a:r>
              <a:rPr lang="en-US" sz="2000" dirty="0" smtClean="0"/>
              <a:t>v</a:t>
            </a:r>
            <a:r>
              <a:rPr lang="ru-RU" sz="2000" dirty="0" smtClean="0"/>
              <a:t>), соединяющие вершину </a:t>
            </a:r>
            <a:r>
              <a:rPr lang="en-US" sz="2000" dirty="0" smtClean="0"/>
              <a:t>u </a:t>
            </a:r>
            <a:r>
              <a:rPr lang="ru-RU" sz="2000" dirty="0" smtClean="0"/>
              <a:t>с ее предком </a:t>
            </a:r>
            <a:r>
              <a:rPr lang="en-US" sz="2000" dirty="0" smtClean="0"/>
              <a:t>v</a:t>
            </a:r>
            <a:r>
              <a:rPr lang="ru-RU" sz="2000" dirty="0" smtClean="0"/>
              <a:t> в дереве обхода. Дуги-циклы, которые могут встречаться в орграфах, рассматриваются как обратные дуги.</a:t>
            </a:r>
            <a:br>
              <a:rPr lang="ru-RU" sz="2000" dirty="0" smtClean="0"/>
            </a:br>
            <a:r>
              <a:rPr lang="ru-RU" sz="2000" b="1" dirty="0" smtClean="0"/>
              <a:t>Перекрестные дуги </a:t>
            </a:r>
            <a:r>
              <a:rPr lang="ru-RU" sz="2000" dirty="0" smtClean="0"/>
              <a:t>– это дуги графа, не относящиеся к трем описанным выше типам. Они могут соединять вершины одного и того же дерева обхода, когда ни одна из вершин не является предком другой, или соединять вершины в различных деревьях.</a:t>
            </a:r>
            <a:br>
              <a:rPr lang="ru-RU" sz="2000" dirty="0" smtClean="0"/>
            </a:br>
            <a:r>
              <a:rPr lang="ru-RU" sz="2000" dirty="0" smtClean="0"/>
              <a:t> </a:t>
            </a:r>
            <a:br>
              <a:rPr lang="ru-RU" sz="2000" dirty="0" smtClean="0"/>
            </a:br>
            <a:r>
              <a:rPr lang="ru-RU" sz="2000" b="1" dirty="0" smtClean="0"/>
              <a:t>Следствие</a:t>
            </a:r>
            <a:r>
              <a:rPr lang="ru-RU" sz="2000" dirty="0" smtClean="0"/>
              <a:t>:</a:t>
            </a:r>
            <a:br>
              <a:rPr lang="ru-RU" sz="2000" dirty="0" smtClean="0"/>
            </a:br>
            <a:r>
              <a:rPr lang="ru-RU" sz="2000" dirty="0" smtClean="0"/>
              <a:t>Дуга</a:t>
            </a:r>
            <a:r>
              <a:rPr lang="en-US" sz="2000" dirty="0" smtClean="0"/>
              <a:t> (</a:t>
            </a:r>
            <a:r>
              <a:rPr lang="en-US" sz="2000" dirty="0" err="1" smtClean="0"/>
              <a:t>u,v</a:t>
            </a:r>
            <a:r>
              <a:rPr lang="en-US" sz="2000" dirty="0" smtClean="0"/>
              <a:t>) </a:t>
            </a:r>
            <a:r>
              <a:rPr lang="ru-RU" sz="2000" dirty="0" smtClean="0"/>
              <a:t>прямая</a:t>
            </a:r>
            <a:r>
              <a:rPr lang="en-US" sz="2000" dirty="0" smtClean="0"/>
              <a:t>, </a:t>
            </a:r>
            <a:r>
              <a:rPr lang="ru-RU" sz="2000" dirty="0" smtClean="0"/>
              <a:t>если </a:t>
            </a:r>
            <a:r>
              <a:rPr lang="en-US" sz="2000" b="1" dirty="0" err="1" smtClean="0">
                <a:solidFill>
                  <a:srgbClr val="00B050"/>
                </a:solidFill>
              </a:rPr>
              <a:t>u_in</a:t>
            </a:r>
            <a:r>
              <a:rPr lang="en-US" sz="2000" dirty="0" smtClean="0"/>
              <a:t> &lt; </a:t>
            </a:r>
            <a:r>
              <a:rPr lang="en-US" sz="2000" b="1" dirty="0" err="1" smtClean="0">
                <a:solidFill>
                  <a:srgbClr val="7030A0"/>
                </a:solidFill>
              </a:rPr>
              <a:t>v_in</a:t>
            </a:r>
            <a:r>
              <a:rPr lang="en-US" sz="2000" dirty="0" smtClean="0"/>
              <a:t>, </a:t>
            </a:r>
            <a:r>
              <a:rPr lang="en-US" sz="2000" b="1" dirty="0" err="1" smtClean="0">
                <a:solidFill>
                  <a:srgbClr val="7030A0"/>
                </a:solidFill>
              </a:rPr>
              <a:t>v_out</a:t>
            </a:r>
            <a:r>
              <a:rPr lang="en-US" sz="2000" dirty="0" smtClean="0"/>
              <a:t> &lt; </a:t>
            </a:r>
            <a:r>
              <a:rPr lang="en-US" sz="2000" b="1" dirty="0" err="1" smtClean="0">
                <a:solidFill>
                  <a:srgbClr val="00B050"/>
                </a:solidFill>
              </a:rPr>
              <a:t>u_out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Дуга</a:t>
            </a:r>
            <a:r>
              <a:rPr lang="en-US" sz="2000" dirty="0" smtClean="0"/>
              <a:t> (</a:t>
            </a:r>
            <a:r>
              <a:rPr lang="en-US" sz="2000" dirty="0" err="1" smtClean="0"/>
              <a:t>u,v</a:t>
            </a:r>
            <a:r>
              <a:rPr lang="en-US" sz="2000" dirty="0" smtClean="0"/>
              <a:t>) </a:t>
            </a:r>
            <a:r>
              <a:rPr lang="ru-RU" sz="2000" dirty="0" smtClean="0"/>
              <a:t>обратная</a:t>
            </a:r>
            <a:r>
              <a:rPr lang="en-US" sz="2000" dirty="0" smtClean="0"/>
              <a:t>, </a:t>
            </a:r>
            <a:r>
              <a:rPr lang="ru-RU" sz="2000" dirty="0" smtClean="0"/>
              <a:t>если </a:t>
            </a:r>
            <a:r>
              <a:rPr lang="en-US" sz="2000" b="1" dirty="0" err="1" smtClean="0">
                <a:solidFill>
                  <a:srgbClr val="7030A0"/>
                </a:solidFill>
              </a:rPr>
              <a:t>v_in</a:t>
            </a:r>
            <a:r>
              <a:rPr lang="en-US" sz="2000" dirty="0" smtClean="0"/>
              <a:t> &lt; </a:t>
            </a:r>
            <a:r>
              <a:rPr lang="en-US" sz="2000" b="1" dirty="0" err="1" smtClean="0">
                <a:solidFill>
                  <a:srgbClr val="00B050"/>
                </a:solidFill>
              </a:rPr>
              <a:t>u_in</a:t>
            </a:r>
            <a:r>
              <a:rPr lang="en-US" sz="2000" dirty="0" smtClean="0"/>
              <a:t>, </a:t>
            </a:r>
            <a:r>
              <a:rPr lang="en-US" sz="2000" b="1" dirty="0" err="1" smtClean="0">
                <a:solidFill>
                  <a:srgbClr val="00B050"/>
                </a:solidFill>
              </a:rPr>
              <a:t>u_out</a:t>
            </a:r>
            <a:r>
              <a:rPr lang="en-US" sz="2000" dirty="0" smtClean="0"/>
              <a:t> &lt; </a:t>
            </a:r>
            <a:r>
              <a:rPr lang="en-US" sz="2000" b="1" dirty="0" err="1" smtClean="0">
                <a:solidFill>
                  <a:srgbClr val="7030A0"/>
                </a:solidFill>
              </a:rPr>
              <a:t>v_out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Дуга</a:t>
            </a:r>
            <a:r>
              <a:rPr lang="en-US" sz="2000" dirty="0" smtClean="0"/>
              <a:t> (</a:t>
            </a:r>
            <a:r>
              <a:rPr lang="en-US" sz="2000" dirty="0" err="1" smtClean="0"/>
              <a:t>u,v</a:t>
            </a:r>
            <a:r>
              <a:rPr lang="en-US" sz="2000" dirty="0" smtClean="0"/>
              <a:t>) </a:t>
            </a:r>
            <a:r>
              <a:rPr lang="ru-RU" sz="2000" dirty="0" smtClean="0"/>
              <a:t>перекрестная</a:t>
            </a:r>
            <a:r>
              <a:rPr lang="en-US" sz="2000" dirty="0" smtClean="0"/>
              <a:t>, </a:t>
            </a:r>
            <a:r>
              <a:rPr lang="ru-RU" sz="2000" dirty="0" smtClean="0"/>
              <a:t>если </a:t>
            </a:r>
            <a:r>
              <a:rPr lang="en-US" sz="2000" b="1" dirty="0" err="1" smtClean="0">
                <a:solidFill>
                  <a:srgbClr val="00B050"/>
                </a:solidFill>
              </a:rPr>
              <a:t>u_out</a:t>
            </a:r>
            <a:r>
              <a:rPr lang="en-US" sz="2000" dirty="0" smtClean="0"/>
              <a:t> &lt;</a:t>
            </a:r>
            <a:r>
              <a:rPr lang="en-US" sz="2000" b="1" dirty="0" smtClean="0"/>
              <a:t> </a:t>
            </a:r>
            <a:r>
              <a:rPr lang="en-US" sz="2000" b="1" dirty="0" err="1" smtClean="0">
                <a:solidFill>
                  <a:srgbClr val="7030A0"/>
                </a:solidFill>
              </a:rPr>
              <a:t>v_in</a:t>
            </a:r>
            <a:r>
              <a:rPr lang="en-US" sz="2000" dirty="0" smtClean="0"/>
              <a:t> </a:t>
            </a:r>
            <a:r>
              <a:rPr lang="ru-RU" sz="2000" dirty="0" smtClean="0"/>
              <a:t>или </a:t>
            </a:r>
            <a:r>
              <a:rPr lang="en-US" sz="2000" b="1" dirty="0" err="1" smtClean="0">
                <a:solidFill>
                  <a:srgbClr val="7030A0"/>
                </a:solidFill>
              </a:rPr>
              <a:t>v_out</a:t>
            </a:r>
            <a:r>
              <a:rPr lang="en-US" sz="2000" dirty="0" smtClean="0"/>
              <a:t> &lt; </a:t>
            </a:r>
            <a:r>
              <a:rPr lang="en-US" sz="2000" b="1" dirty="0" err="1" smtClean="0">
                <a:solidFill>
                  <a:srgbClr val="00B050"/>
                </a:solidFill>
              </a:rPr>
              <a:t>u_in</a:t>
            </a:r>
            <a:endParaRPr lang="ru-RU" sz="2000" b="1" dirty="0">
              <a:solidFill>
                <a:srgbClr val="00B050"/>
              </a:solidFill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685800" y="188641"/>
            <a:ext cx="7772400" cy="792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b="1" dirty="0" smtClean="0"/>
              <a:t>Классификация дуг</a:t>
            </a:r>
            <a:endParaRPr lang="ru-RU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/>
            </a:pPr>
            <a:r>
              <a:rPr lang="ru-RU" sz="2800" dirty="0" smtClean="0"/>
              <a:t>Проверка является ли вершина </a:t>
            </a:r>
            <a:r>
              <a:rPr lang="en-US" sz="2800" dirty="0" smtClean="0"/>
              <a:t>u </a:t>
            </a:r>
            <a:r>
              <a:rPr lang="ru-RU" sz="2800" b="1" dirty="0" smtClean="0"/>
              <a:t>предком</a:t>
            </a:r>
            <a:r>
              <a:rPr lang="ru-RU" sz="2800" dirty="0" smtClean="0"/>
              <a:t> вершины </a:t>
            </a:r>
            <a:r>
              <a:rPr lang="en-US" sz="2800" dirty="0" smtClean="0"/>
              <a:t>v</a:t>
            </a:r>
            <a:r>
              <a:rPr lang="ru-RU" sz="2800" dirty="0" smtClean="0"/>
              <a:t> (в дереве обхода в глубину).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838200" y="1986409"/>
            <a:ext cx="7772400" cy="20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ru-RU" sz="2000" dirty="0" smtClean="0"/>
              <a:t>Должно выполняться </a:t>
            </a:r>
            <a:r>
              <a:rPr lang="en-US" sz="2000" b="1" dirty="0" err="1" smtClean="0"/>
              <a:t>u_in</a:t>
            </a:r>
            <a:r>
              <a:rPr lang="en-US" sz="2000" dirty="0" smtClean="0"/>
              <a:t> &lt; </a:t>
            </a:r>
            <a:r>
              <a:rPr lang="en-US" sz="2000" dirty="0" err="1" smtClean="0"/>
              <a:t>v_in</a:t>
            </a:r>
            <a:r>
              <a:rPr lang="en-US" sz="2000" dirty="0" smtClean="0"/>
              <a:t> &lt; </a:t>
            </a:r>
            <a:r>
              <a:rPr lang="en-US" sz="2000" dirty="0" err="1" smtClean="0"/>
              <a:t>v_out</a:t>
            </a:r>
            <a:r>
              <a:rPr lang="en-US" sz="2000" dirty="0" smtClean="0"/>
              <a:t> &lt; </a:t>
            </a:r>
            <a:r>
              <a:rPr lang="en-US" sz="2000" b="1" dirty="0" err="1" smtClean="0"/>
              <a:t>u_out</a:t>
            </a:r>
            <a:r>
              <a:rPr lang="ru-RU" sz="2000" dirty="0" smtClean="0"/>
              <a:t> (из теоремы о скобках).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/>
            </a:pPr>
            <a:r>
              <a:rPr lang="ru-RU" sz="2800" dirty="0" smtClean="0"/>
              <a:t>Проверка является ли вершина </a:t>
            </a:r>
            <a:r>
              <a:rPr lang="en-US" sz="2800" dirty="0" smtClean="0"/>
              <a:t>u </a:t>
            </a:r>
            <a:r>
              <a:rPr lang="ru-RU" sz="2800" b="1" dirty="0" smtClean="0"/>
              <a:t>предком</a:t>
            </a:r>
            <a:r>
              <a:rPr lang="ru-RU" sz="2800" dirty="0" smtClean="0"/>
              <a:t> вершины </a:t>
            </a:r>
            <a:r>
              <a:rPr lang="en-US" sz="2800" dirty="0" smtClean="0"/>
              <a:t>v</a:t>
            </a:r>
            <a:r>
              <a:rPr lang="ru-RU" sz="2800" dirty="0" smtClean="0"/>
              <a:t> (в дереве обхода в глубину).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838200" y="1986409"/>
            <a:ext cx="7772400" cy="2090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ru-RU" sz="2000" dirty="0" smtClean="0"/>
              <a:t>Должно выполняться </a:t>
            </a:r>
            <a:r>
              <a:rPr lang="en-US" sz="2000" b="1" dirty="0" err="1" smtClean="0"/>
              <a:t>u_in</a:t>
            </a:r>
            <a:r>
              <a:rPr lang="en-US" sz="2000" dirty="0" smtClean="0"/>
              <a:t> &lt; </a:t>
            </a:r>
            <a:r>
              <a:rPr lang="en-US" sz="2000" dirty="0" err="1" smtClean="0"/>
              <a:t>v_in</a:t>
            </a:r>
            <a:r>
              <a:rPr lang="en-US" sz="2000" dirty="0" smtClean="0"/>
              <a:t> &lt; </a:t>
            </a:r>
            <a:r>
              <a:rPr lang="en-US" sz="2000" dirty="0" err="1" smtClean="0"/>
              <a:t>v_out</a:t>
            </a:r>
            <a:r>
              <a:rPr lang="en-US" sz="2000" dirty="0" smtClean="0"/>
              <a:t> &lt; </a:t>
            </a:r>
            <a:r>
              <a:rPr lang="en-US" sz="2000" b="1" dirty="0" err="1" smtClean="0"/>
              <a:t>u_out</a:t>
            </a:r>
            <a:r>
              <a:rPr lang="ru-RU" sz="2000" dirty="0" smtClean="0"/>
              <a:t> (из теоремы о скобках).</a:t>
            </a:r>
          </a:p>
          <a:p>
            <a:pPr lvl="0">
              <a:spcBef>
                <a:spcPct val="0"/>
              </a:spcBef>
            </a:pPr>
            <a:endParaRPr lang="ru-RU" sz="2000" dirty="0" smtClean="0"/>
          </a:p>
          <a:p>
            <a:pPr lvl="0">
              <a:spcBef>
                <a:spcPct val="0"/>
              </a:spcBef>
            </a:pPr>
            <a:r>
              <a:rPr lang="ru-RU" sz="2000" dirty="0" smtClean="0"/>
              <a:t>Доказательство: </a:t>
            </a:r>
            <a:r>
              <a:rPr lang="ru-RU" sz="2000" b="1" dirty="0" smtClean="0">
                <a:solidFill>
                  <a:srgbClr val="FF0000"/>
                </a:solidFill>
              </a:rPr>
              <a:t>???</a:t>
            </a:r>
            <a:endParaRPr kumimoji="0" lang="ru-RU" sz="20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/>
            </a:pPr>
            <a:r>
              <a:rPr lang="ru-RU" sz="2800" dirty="0" smtClean="0"/>
              <a:t>Проверка является ли вершина </a:t>
            </a:r>
            <a:r>
              <a:rPr lang="en-US" sz="2800" dirty="0" smtClean="0"/>
              <a:t>u </a:t>
            </a:r>
            <a:r>
              <a:rPr lang="ru-RU" sz="2800" b="1" dirty="0" smtClean="0"/>
              <a:t>предком</a:t>
            </a:r>
            <a:r>
              <a:rPr lang="ru-RU" sz="2800" dirty="0" smtClean="0"/>
              <a:t> вершины </a:t>
            </a:r>
            <a:r>
              <a:rPr lang="en-US" sz="2800" dirty="0" smtClean="0"/>
              <a:t>v</a:t>
            </a:r>
            <a:r>
              <a:rPr lang="ru-RU" sz="2800" dirty="0" smtClean="0"/>
              <a:t> (в дереве обхода в глубину).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2"/>
            </a:pPr>
            <a:r>
              <a:rPr lang="ru-RU" sz="2800" dirty="0" smtClean="0"/>
              <a:t>Проверка </a:t>
            </a:r>
            <a:r>
              <a:rPr lang="ru-RU" sz="2800" dirty="0" err="1" smtClean="0"/>
              <a:t>НЕориентированного</a:t>
            </a:r>
            <a:r>
              <a:rPr lang="ru-RU" sz="2800" dirty="0" smtClean="0"/>
              <a:t> графа на </a:t>
            </a:r>
            <a:r>
              <a:rPr lang="ru-RU" sz="2800" b="1" dirty="0" smtClean="0"/>
              <a:t>ацикличность</a:t>
            </a:r>
            <a:r>
              <a:rPr lang="ru-RU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838200" y="1986409"/>
            <a:ext cx="7772400" cy="2594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ru-RU" sz="2000" dirty="0" smtClean="0"/>
              <a:t>Если во время обхода происходит попытка обратиться к серой вершине, то это говорит о найденном цикле.</a:t>
            </a: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2"/>
            </a:pPr>
            <a:r>
              <a:rPr lang="ru-RU" sz="2800" dirty="0" smtClean="0"/>
              <a:t>Проверка </a:t>
            </a:r>
            <a:r>
              <a:rPr lang="ru-RU" sz="2800" dirty="0" err="1" smtClean="0"/>
              <a:t>НЕориентированного</a:t>
            </a:r>
            <a:r>
              <a:rPr lang="ru-RU" sz="2800" dirty="0" smtClean="0"/>
              <a:t> графа на </a:t>
            </a:r>
            <a:r>
              <a:rPr lang="ru-RU" sz="2800" b="1" dirty="0" smtClean="0"/>
              <a:t>ацикличность</a:t>
            </a:r>
            <a:r>
              <a:rPr lang="ru-RU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838200" y="1986409"/>
            <a:ext cx="7772400" cy="2594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ru-RU" sz="2000" dirty="0" smtClean="0"/>
              <a:t>Если во время обхода происходит обращение к серой вершине, то это говорит о найденном цикле.</a:t>
            </a:r>
          </a:p>
          <a:p>
            <a:pPr lvl="0">
              <a:spcBef>
                <a:spcPct val="0"/>
              </a:spcBef>
            </a:pPr>
            <a:endParaRPr lang="ru-RU" sz="2000" dirty="0" smtClean="0"/>
          </a:p>
          <a:p>
            <a:pPr lvl="0">
              <a:spcBef>
                <a:spcPct val="0"/>
              </a:spcBef>
            </a:pPr>
            <a:r>
              <a:rPr lang="ru-RU" sz="2000" dirty="0" smtClean="0"/>
              <a:t>Доказательство: </a:t>
            </a:r>
            <a:r>
              <a:rPr lang="ru-RU" sz="2000" b="1" dirty="0" smtClean="0">
                <a:solidFill>
                  <a:srgbClr val="FF0000"/>
                </a:solidFill>
              </a:rPr>
              <a:t>???</a:t>
            </a: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2"/>
            </a:pPr>
            <a:r>
              <a:rPr lang="ru-RU" sz="2800" dirty="0" smtClean="0"/>
              <a:t>Проверка </a:t>
            </a:r>
            <a:r>
              <a:rPr lang="ru-RU" sz="2800" dirty="0" err="1" smtClean="0"/>
              <a:t>НЕориентированного</a:t>
            </a:r>
            <a:r>
              <a:rPr lang="ru-RU" sz="2800" dirty="0" smtClean="0"/>
              <a:t> графа на </a:t>
            </a:r>
            <a:r>
              <a:rPr lang="ru-RU" sz="2800" b="1" dirty="0" smtClean="0"/>
              <a:t>ацикличность</a:t>
            </a:r>
            <a:r>
              <a:rPr lang="ru-RU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2"/>
            </a:pPr>
            <a:r>
              <a:rPr lang="ru-RU" sz="2800" dirty="0" smtClean="0"/>
              <a:t>Проверка орграфа на </a:t>
            </a:r>
            <a:r>
              <a:rPr lang="ru-RU" sz="2800" b="1" dirty="0" smtClean="0"/>
              <a:t>ацикличность</a:t>
            </a:r>
            <a:r>
              <a:rPr lang="ru-RU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838200" y="1986409"/>
            <a:ext cx="7772400" cy="2594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ru-RU" sz="2000" b="1" dirty="0" smtClean="0">
                <a:solidFill>
                  <a:srgbClr val="FF0000"/>
                </a:solidFill>
              </a:rPr>
              <a:t>???</a:t>
            </a: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2"/>
            </a:pPr>
            <a:r>
              <a:rPr lang="ru-RU" sz="2800" dirty="0" smtClean="0"/>
              <a:t>Проверка орграфа на </a:t>
            </a:r>
            <a:r>
              <a:rPr lang="ru-RU" sz="2800" b="1" dirty="0" smtClean="0"/>
              <a:t>ацикличность</a:t>
            </a:r>
            <a:r>
              <a:rPr lang="ru-RU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2"/>
            </a:pPr>
            <a:r>
              <a:rPr lang="ru-RU" sz="2800" dirty="0" smtClean="0"/>
              <a:t>Проверка орграфа на </a:t>
            </a:r>
            <a:r>
              <a:rPr lang="ru-RU" sz="2800" b="1" dirty="0" err="1" smtClean="0"/>
              <a:t>бесконтурность</a:t>
            </a:r>
            <a:r>
              <a:rPr lang="ru-RU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838200" y="1986409"/>
            <a:ext cx="7772400" cy="2594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ru-RU" sz="2000" dirty="0" smtClean="0"/>
              <a:t>Если во время обхода происходит обращение к серой вершине, то это говорит о найденном контуре.</a:t>
            </a: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2"/>
            </a:pPr>
            <a:r>
              <a:rPr lang="ru-RU" sz="2800" dirty="0" smtClean="0"/>
              <a:t>Проверка орграфа на </a:t>
            </a:r>
            <a:r>
              <a:rPr lang="ru-RU" sz="2800" b="1" dirty="0" err="1" smtClean="0"/>
              <a:t>бесконтурность</a:t>
            </a:r>
            <a:r>
              <a:rPr lang="ru-RU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838200" y="1986409"/>
            <a:ext cx="7772400" cy="2594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ru-RU" sz="2000" dirty="0" smtClean="0"/>
              <a:t>Если во время обхода из вершины </a:t>
            </a:r>
            <a:r>
              <a:rPr lang="en-US" sz="2000" dirty="0" smtClean="0"/>
              <a:t>u</a:t>
            </a:r>
            <a:r>
              <a:rPr lang="ru-RU" sz="2000" dirty="0" smtClean="0"/>
              <a:t> происходит обращение к серой вершине </a:t>
            </a:r>
            <a:r>
              <a:rPr lang="en-US" sz="2000" dirty="0" smtClean="0"/>
              <a:t>v</a:t>
            </a:r>
            <a:r>
              <a:rPr lang="ru-RU" sz="2000" dirty="0" smtClean="0"/>
              <a:t>, то это говорит о найденном контуре.</a:t>
            </a:r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endParaRPr lang="ru-RU" sz="2000" dirty="0" smtClean="0"/>
          </a:p>
          <a:p>
            <a:pPr lvl="0">
              <a:spcBef>
                <a:spcPct val="0"/>
              </a:spcBef>
            </a:pPr>
            <a:r>
              <a:rPr lang="ru-RU" sz="2000" dirty="0" smtClean="0"/>
              <a:t>Доказательство: То что вершина серая говорит о том что она является предком. Значит, существует путь</a:t>
            </a:r>
            <a:r>
              <a:rPr lang="en-US" sz="2000" dirty="0" smtClean="0"/>
              <a:t> </a:t>
            </a:r>
            <a:r>
              <a:rPr lang="ru-RU" sz="2000" dirty="0" smtClean="0"/>
              <a:t>из </a:t>
            </a:r>
            <a:r>
              <a:rPr lang="en-US" sz="2000" dirty="0" smtClean="0"/>
              <a:t>u </a:t>
            </a:r>
            <a:r>
              <a:rPr lang="ru-RU" sz="2000" dirty="0" smtClean="0"/>
              <a:t>в </a:t>
            </a:r>
            <a:r>
              <a:rPr lang="en-US" sz="2000" dirty="0" smtClean="0"/>
              <a:t>v </a:t>
            </a:r>
            <a:r>
              <a:rPr lang="ru-RU" sz="2000" dirty="0" smtClean="0"/>
              <a:t>и наоборот. </a:t>
            </a:r>
            <a:endParaRPr lang="ru-RU" sz="2000" b="1" dirty="0" smtClean="0">
              <a:solidFill>
                <a:srgbClr val="FF0000"/>
              </a:solidFill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2"/>
            </a:pPr>
            <a:r>
              <a:rPr lang="ru-RU" sz="2800" dirty="0" smtClean="0"/>
              <a:t>Проверка орграфа на </a:t>
            </a:r>
            <a:r>
              <a:rPr lang="ru-RU" sz="2800" b="1" dirty="0" err="1" smtClean="0"/>
              <a:t>бесконтурность</a:t>
            </a:r>
            <a:r>
              <a:rPr lang="ru-RU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838200" y="1986409"/>
            <a:ext cx="7772400" cy="2594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Обход в глубину запускается для каждой вершины графа.</a:t>
            </a:r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Если во время обхода происходит попытка обратиться к не белой вершине, которая не является непосредственным предком, по некоторой дуге </a:t>
            </a:r>
            <a:r>
              <a:rPr lang="en-US" sz="2000" b="1" dirty="0" smtClean="0"/>
              <a:t>e</a:t>
            </a:r>
            <a:r>
              <a:rPr lang="ru-RU" sz="2000" dirty="0" smtClean="0"/>
              <a:t>, то это говорит о найденном цикле</a:t>
            </a:r>
            <a:r>
              <a:rPr lang="en-US" sz="2000" dirty="0" smtClean="0"/>
              <a:t> (</a:t>
            </a:r>
            <a:r>
              <a:rPr lang="ru-RU" sz="2000" dirty="0" smtClean="0"/>
              <a:t>не обязательно контуре).</a:t>
            </a:r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Если </a:t>
            </a:r>
            <a:r>
              <a:rPr lang="en-US" sz="2000" b="1" dirty="0" smtClean="0"/>
              <a:t>e</a:t>
            </a:r>
            <a:r>
              <a:rPr lang="ru-RU" sz="2000" dirty="0" smtClean="0"/>
              <a:t> – обратная, то найден контур.</a:t>
            </a: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0466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2"/>
            </a:pPr>
            <a:r>
              <a:rPr lang="ru-RU" sz="2800" dirty="0" smtClean="0"/>
              <a:t>Проверка любого графа на </a:t>
            </a:r>
            <a:r>
              <a:rPr lang="ru-RU" sz="2800" b="1" dirty="0" smtClean="0"/>
              <a:t>ацикличность</a:t>
            </a:r>
            <a:r>
              <a:rPr lang="ru-RU" sz="2800" dirty="0" smtClean="0"/>
              <a:t> или </a:t>
            </a:r>
            <a:r>
              <a:rPr lang="ru-RU" sz="2800" b="1" dirty="0" err="1" smtClean="0"/>
              <a:t>бесконтурность</a:t>
            </a:r>
            <a:r>
              <a:rPr lang="ru-RU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55776" y="188640"/>
            <a:ext cx="5902424" cy="6480720"/>
          </a:xfrm>
        </p:spPr>
        <p:txBody>
          <a:bodyPr>
            <a:noAutofit/>
          </a:bodyPr>
          <a:lstStyle/>
          <a:p>
            <a:pPr algn="l"/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DFS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</a:t>
            </a: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G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b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3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3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3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color[u] ⟵ WHITE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π[u] ⟵ NIL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Q ⟵ ∅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3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cycle_start</a:t>
            </a: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⟵ NIL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3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cycle_end</a:t>
            </a: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⟵ NIL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3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3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3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3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if</a:t>
            </a: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color[u] = WHITE </a:t>
            </a:r>
            <a:r>
              <a:rPr lang="en-US" sz="13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then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	</a:t>
            </a:r>
            <a:r>
              <a:rPr lang="en-US" sz="13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DFS_Visit</a:t>
            </a: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(u)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3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If</a:t>
            </a: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3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cycle_start</a:t>
            </a: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= NIL </a:t>
            </a:r>
            <a:r>
              <a:rPr lang="en-US" sz="13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then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3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write</a:t>
            </a: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“acyclic”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3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else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3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write</a:t>
            </a: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“cyclic”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в очередь (</a:t>
            </a: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Q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cycle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start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b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3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while</a:t>
            </a: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3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cycle_start</a:t>
            </a: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!= </a:t>
            </a:r>
            <a:r>
              <a:rPr lang="en-US" sz="13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cycle_end</a:t>
            </a: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3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	</a:t>
            </a:r>
            <a:r>
              <a:rPr lang="en-US" sz="13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cycle_start</a:t>
            </a: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⟵ π[</a:t>
            </a:r>
            <a:r>
              <a:rPr lang="en-US" sz="13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cycle_start</a:t>
            </a: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]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	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в очередь (</a:t>
            </a: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Q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cycle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_</a:t>
            </a:r>
            <a:r>
              <a:rPr lang="en-US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start</a:t>
            </a:r>
            <a: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br>
              <a:rPr lang="ru-RU" sz="13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300" dirty="0" smtClean="0"/>
              <a:t>DFS</a:t>
            </a:r>
            <a:r>
              <a:rPr lang="ru-RU" sz="1300" dirty="0" smtClean="0"/>
              <a:t>_</a:t>
            </a:r>
            <a:r>
              <a:rPr lang="en-US" sz="1300" dirty="0" smtClean="0"/>
              <a:t>Visit</a:t>
            </a:r>
            <a:r>
              <a:rPr lang="ru-RU" sz="1300" dirty="0" smtClean="0"/>
              <a:t> (</a:t>
            </a:r>
            <a:r>
              <a:rPr lang="en-US" sz="1300" dirty="0" smtClean="0"/>
              <a:t>u</a:t>
            </a:r>
            <a:r>
              <a:rPr lang="ru-RU" sz="1300" dirty="0" smtClean="0"/>
              <a:t>)</a:t>
            </a:r>
            <a:br>
              <a:rPr lang="ru-RU" sz="1300" dirty="0" smtClean="0"/>
            </a:br>
            <a:r>
              <a:rPr lang="en-US" sz="1300" dirty="0" smtClean="0"/>
              <a:t>color[u] ⟵ GRAY</a:t>
            </a:r>
            <a:r>
              <a:rPr lang="ru-RU" sz="1300" dirty="0" smtClean="0"/>
              <a:t/>
            </a:r>
            <a:br>
              <a:rPr lang="ru-RU" sz="1300" dirty="0" smtClean="0"/>
            </a:br>
            <a:r>
              <a:rPr lang="en-US" sz="1300" b="1" dirty="0" smtClean="0"/>
              <a:t>for</a:t>
            </a:r>
            <a:r>
              <a:rPr lang="ru-RU" sz="1300" dirty="0" smtClean="0"/>
              <a:t> (для) каждой </a:t>
            </a:r>
            <a:r>
              <a:rPr lang="ru-RU" sz="1300" dirty="0" err="1" smtClean="0"/>
              <a:t>u</a:t>
            </a:r>
            <a:r>
              <a:rPr lang="ru-RU" sz="1300" dirty="0" smtClean="0"/>
              <a:t> ∈ </a:t>
            </a:r>
            <a:r>
              <a:rPr lang="en-US" sz="1300" dirty="0" err="1" smtClean="0"/>
              <a:t>Adj</a:t>
            </a:r>
            <a:r>
              <a:rPr lang="en-US" sz="1300" dirty="0" smtClean="0"/>
              <a:t>[u] </a:t>
            </a:r>
            <a:r>
              <a:rPr lang="en-US" sz="1300" b="1" dirty="0" smtClean="0"/>
              <a:t>do</a:t>
            </a:r>
            <a:r>
              <a:rPr lang="ru-RU" sz="1300" dirty="0" smtClean="0"/>
              <a:t/>
            </a:r>
            <a:br>
              <a:rPr lang="ru-RU" sz="1300" dirty="0" smtClean="0"/>
            </a:br>
            <a:r>
              <a:rPr lang="en-US" sz="1300" dirty="0" smtClean="0"/>
              <a:t>	</a:t>
            </a:r>
            <a:r>
              <a:rPr lang="en-US" sz="1300" b="1" dirty="0" smtClean="0"/>
              <a:t>if</a:t>
            </a:r>
            <a:r>
              <a:rPr lang="en-US" sz="1300" dirty="0" smtClean="0"/>
              <a:t> color[v] = WHITE </a:t>
            </a:r>
            <a:r>
              <a:rPr lang="en-US" sz="1300" b="1" dirty="0" smtClean="0"/>
              <a:t>then</a:t>
            </a:r>
            <a:r>
              <a:rPr lang="ru-RU" sz="1300" dirty="0" smtClean="0"/>
              <a:t/>
            </a:r>
            <a:br>
              <a:rPr lang="ru-RU" sz="1300" dirty="0" smtClean="0"/>
            </a:br>
            <a:r>
              <a:rPr lang="en-US" sz="1300" dirty="0" smtClean="0"/>
              <a:t>		π[v] ⟵ u</a:t>
            </a:r>
            <a:r>
              <a:rPr lang="ru-RU" sz="1300" dirty="0" smtClean="0"/>
              <a:t/>
            </a:r>
            <a:br>
              <a:rPr lang="ru-RU" sz="1300" dirty="0" smtClean="0"/>
            </a:br>
            <a:r>
              <a:rPr lang="en-US" sz="1300" dirty="0" smtClean="0"/>
              <a:t>		</a:t>
            </a:r>
            <a:r>
              <a:rPr lang="en-US" sz="1300" b="1" dirty="0" smtClean="0"/>
              <a:t>If</a:t>
            </a:r>
            <a:r>
              <a:rPr lang="en-US" sz="1300" dirty="0" smtClean="0"/>
              <a:t> </a:t>
            </a:r>
            <a:r>
              <a:rPr lang="en-US" sz="1300" dirty="0" err="1" smtClean="0"/>
              <a:t>DFS_Visit</a:t>
            </a:r>
            <a:r>
              <a:rPr lang="en-US" sz="1300" dirty="0" smtClean="0"/>
              <a:t>(v) </a:t>
            </a:r>
            <a:r>
              <a:rPr lang="en-US" sz="1300" b="1" dirty="0" smtClean="0"/>
              <a:t>then</a:t>
            </a:r>
            <a:r>
              <a:rPr lang="ru-RU" sz="1300" dirty="0" smtClean="0"/>
              <a:t/>
            </a:r>
            <a:br>
              <a:rPr lang="ru-RU" sz="1300" dirty="0" smtClean="0"/>
            </a:br>
            <a:r>
              <a:rPr lang="en-US" sz="1300" dirty="0" smtClean="0"/>
              <a:t>			</a:t>
            </a:r>
            <a:r>
              <a:rPr lang="en-US" sz="1300" b="1" dirty="0" smtClean="0"/>
              <a:t>return</a:t>
            </a:r>
            <a:r>
              <a:rPr lang="en-US" sz="1300" dirty="0" smtClean="0"/>
              <a:t> true</a:t>
            </a:r>
            <a:r>
              <a:rPr lang="ru-RU" sz="1300" dirty="0" smtClean="0"/>
              <a:t/>
            </a:r>
            <a:br>
              <a:rPr lang="ru-RU" sz="1300" dirty="0" smtClean="0"/>
            </a:br>
            <a:r>
              <a:rPr lang="ru-RU" sz="1300" dirty="0" smtClean="0"/>
              <a:t>	</a:t>
            </a:r>
            <a:r>
              <a:rPr lang="en-US" sz="1300" b="1" dirty="0" smtClean="0"/>
              <a:t>if </a:t>
            </a:r>
            <a:r>
              <a:rPr lang="en-US" sz="1300" dirty="0" smtClean="0"/>
              <a:t>color[v] = GRAY </a:t>
            </a:r>
            <a:r>
              <a:rPr lang="en-US" sz="1300" b="1" dirty="0" smtClean="0"/>
              <a:t>then</a:t>
            </a:r>
            <a:r>
              <a:rPr lang="ru-RU" sz="1300" dirty="0" smtClean="0"/>
              <a:t/>
            </a:r>
            <a:br>
              <a:rPr lang="ru-RU" sz="1300" dirty="0" smtClean="0"/>
            </a:br>
            <a:r>
              <a:rPr lang="en-US" sz="1300" dirty="0" smtClean="0"/>
              <a:t>		</a:t>
            </a:r>
            <a:r>
              <a:rPr lang="en-US" sz="1300" dirty="0" err="1" smtClean="0"/>
              <a:t>cycle_start</a:t>
            </a:r>
            <a:r>
              <a:rPr lang="en-US" sz="1300" dirty="0" smtClean="0"/>
              <a:t> ⟵ v</a:t>
            </a:r>
            <a:r>
              <a:rPr lang="ru-RU" sz="1300" dirty="0" smtClean="0"/>
              <a:t/>
            </a:r>
            <a:br>
              <a:rPr lang="ru-RU" sz="1300" dirty="0" smtClean="0"/>
            </a:br>
            <a:r>
              <a:rPr lang="en-US" sz="1300" dirty="0" smtClean="0"/>
              <a:t>		</a:t>
            </a:r>
            <a:r>
              <a:rPr lang="en-US" sz="1300" dirty="0" err="1" smtClean="0"/>
              <a:t>cycle_end</a:t>
            </a:r>
            <a:r>
              <a:rPr lang="en-US" sz="1300" dirty="0" smtClean="0"/>
              <a:t> ⟵ u</a:t>
            </a:r>
            <a:r>
              <a:rPr lang="ru-RU" sz="1300" dirty="0" smtClean="0"/>
              <a:t/>
            </a:r>
            <a:br>
              <a:rPr lang="ru-RU" sz="1300" dirty="0" smtClean="0"/>
            </a:br>
            <a:r>
              <a:rPr lang="en-US" sz="1300" dirty="0" smtClean="0"/>
              <a:t>		</a:t>
            </a:r>
            <a:r>
              <a:rPr lang="en-US" sz="1300" b="1" dirty="0" smtClean="0"/>
              <a:t>return</a:t>
            </a:r>
            <a:r>
              <a:rPr lang="en-US" sz="1300" dirty="0" smtClean="0"/>
              <a:t> true</a:t>
            </a:r>
            <a:r>
              <a:rPr lang="ru-RU" sz="1300" dirty="0" smtClean="0"/>
              <a:t/>
            </a:r>
            <a:br>
              <a:rPr lang="ru-RU" sz="1300" dirty="0" smtClean="0"/>
            </a:br>
            <a:r>
              <a:rPr lang="en-US" sz="1300" dirty="0" smtClean="0"/>
              <a:t>color[u] ⟵ BLACK</a:t>
            </a:r>
            <a:r>
              <a:rPr lang="ru-RU" sz="1300" dirty="0" smtClean="0"/>
              <a:t/>
            </a:r>
            <a:br>
              <a:rPr lang="ru-RU" sz="1300" dirty="0" smtClean="0"/>
            </a:br>
            <a:r>
              <a:rPr lang="en-US" sz="1300" b="1" dirty="0" smtClean="0"/>
              <a:t>return</a:t>
            </a:r>
            <a:r>
              <a:rPr lang="en-US" sz="1300" dirty="0" smtClean="0"/>
              <a:t> false</a:t>
            </a:r>
            <a:endParaRPr lang="ru-RU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 txBox="1">
            <a:spLocks/>
          </p:cNvSpPr>
          <p:nvPr/>
        </p:nvSpPr>
        <p:spPr>
          <a:xfrm>
            <a:off x="685800" y="476672"/>
            <a:ext cx="7772400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 startAt="3"/>
            </a:pPr>
            <a:r>
              <a:rPr lang="ru-RU" sz="2800" dirty="0" smtClean="0"/>
              <a:t>Проверка любого графа на </a:t>
            </a:r>
            <a:r>
              <a:rPr lang="ru-RU" sz="2800" dirty="0" err="1" smtClean="0"/>
              <a:t>двудольность</a:t>
            </a:r>
            <a:r>
              <a:rPr lang="ru-RU" sz="2800" dirty="0" smtClean="0"/>
              <a:t>.</a:t>
            </a: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838200" y="1268761"/>
            <a:ext cx="7772400" cy="1008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 dirty="0" smtClean="0">
                <a:solidFill>
                  <a:schemeClr val="bg1">
                    <a:lumMod val="65000"/>
                  </a:schemeClr>
                </a:solidFill>
              </a:rPr>
              <a:t>Теорема</a:t>
            </a:r>
            <a:r>
              <a:rPr lang="ru-RU" sz="2000" dirty="0" smtClean="0">
                <a:solidFill>
                  <a:schemeClr val="bg1">
                    <a:lumMod val="65000"/>
                  </a:schemeClr>
                </a:solidFill>
              </a:rPr>
              <a:t>: Граф является двудольным тогда и только тогда, когда все его циклы имеют чётную длину.</a:t>
            </a:r>
            <a:endParaRPr lang="ru-RU" sz="2000" b="1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838200" y="2420888"/>
            <a:ext cx="7772400" cy="3744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r>
              <a:rPr lang="ru-RU" sz="2000" b="1" dirty="0" smtClean="0"/>
              <a:t>Алгоритм:</a:t>
            </a:r>
            <a:endParaRPr lang="ru-RU" sz="2000" dirty="0" smtClean="0"/>
          </a:p>
          <a:p>
            <a:pPr>
              <a:buFont typeface="Arial" pitchFamily="34" charset="0"/>
              <a:buChar char="•"/>
            </a:pPr>
            <a:r>
              <a:rPr lang="ru-RU" sz="2000" dirty="0" smtClean="0"/>
              <a:t>Производится серия обходов в глубину(т.е. запускается обход в глубину из каждой </a:t>
            </a:r>
            <a:r>
              <a:rPr lang="ru-RU" sz="2000" dirty="0" err="1" smtClean="0"/>
              <a:t>непосещённой</a:t>
            </a:r>
            <a:r>
              <a:rPr lang="ru-RU" sz="2000" dirty="0" smtClean="0"/>
              <a:t> вершины). При этом граф воспринимается как не ориентированный.</a:t>
            </a:r>
          </a:p>
          <a:p>
            <a:pPr>
              <a:buFont typeface="Arial" pitchFamily="34" charset="0"/>
              <a:buChar char="•"/>
            </a:pPr>
            <a:endParaRPr lang="ru-RU" sz="2000" dirty="0" smtClean="0"/>
          </a:p>
          <a:p>
            <a:pPr>
              <a:buFont typeface="Arial" pitchFamily="34" charset="0"/>
              <a:buChar char="•"/>
            </a:pPr>
            <a:r>
              <a:rPr lang="ru-RU" sz="2000" dirty="0" smtClean="0"/>
              <a:t>Вершина, из которой начинается обход, помещается в первую долю.</a:t>
            </a:r>
          </a:p>
          <a:p>
            <a:pPr>
              <a:buFont typeface="Arial" pitchFamily="34" charset="0"/>
              <a:buChar char="•"/>
            </a:pPr>
            <a:endParaRPr lang="ru-RU" sz="2000" dirty="0" smtClean="0"/>
          </a:p>
          <a:p>
            <a:pPr>
              <a:buFont typeface="Arial" pitchFamily="34" charset="0"/>
              <a:buChar char="•"/>
            </a:pPr>
            <a:r>
              <a:rPr lang="ru-RU" sz="2000" dirty="0" smtClean="0"/>
              <a:t>Новая вершина в процессе обхода помещается в долю, отличную от доли текущей вершины.</a:t>
            </a:r>
          </a:p>
          <a:p>
            <a:pPr>
              <a:buFont typeface="Arial" pitchFamily="34" charset="0"/>
              <a:buChar char="•"/>
            </a:pPr>
            <a:endParaRPr lang="ru-RU" sz="2000" dirty="0" smtClean="0"/>
          </a:p>
          <a:p>
            <a:pPr>
              <a:buFont typeface="Arial" pitchFamily="34" charset="0"/>
              <a:buChar char="•"/>
            </a:pPr>
            <a:r>
              <a:rPr lang="ru-RU" sz="2000" dirty="0" smtClean="0"/>
              <a:t>Если же обход направляется по ребру в вершину, которая уже посещена, то проверяется, находятся ли начало ребра и конец в разных долях. Если находятся в одной, то граф двудольным не является.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55776" y="332656"/>
            <a:ext cx="5902424" cy="5976663"/>
          </a:xfrm>
        </p:spPr>
        <p:txBody>
          <a:bodyPr>
            <a:noAutofit/>
          </a:bodyPr>
          <a:lstStyle/>
          <a:p>
            <a:pPr algn="l"/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DFS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G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part[u] ⟵ ∞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if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part[u] = 0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then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	part[u] ⟵ 1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	</a:t>
            </a:r>
            <a:r>
              <a:rPr lang="en-US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DFS_Visit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(u)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DFS</a:t>
            </a:r>
            <a:r>
              <a:rPr lang="ru-RU" sz="1600" dirty="0" smtClean="0"/>
              <a:t>_</a:t>
            </a:r>
            <a:r>
              <a:rPr lang="en-US" sz="1600" dirty="0" smtClean="0"/>
              <a:t>Visit</a:t>
            </a:r>
            <a:r>
              <a:rPr lang="ru-RU" sz="1600" dirty="0" smtClean="0"/>
              <a:t> (</a:t>
            </a:r>
            <a:r>
              <a:rPr lang="en-US" sz="1600" dirty="0" smtClean="0"/>
              <a:t>u</a:t>
            </a:r>
            <a:r>
              <a:rPr lang="ru-RU" sz="1600" dirty="0" smtClean="0"/>
              <a:t>)</a:t>
            </a:r>
            <a:br>
              <a:rPr lang="ru-RU" sz="1600" dirty="0" smtClean="0"/>
            </a:br>
            <a:r>
              <a:rPr lang="en-US" sz="1600" b="1" dirty="0" smtClean="0"/>
              <a:t>for</a:t>
            </a:r>
            <a:r>
              <a:rPr lang="ru-RU" sz="1600" dirty="0" smtClean="0"/>
              <a:t> (для) каждой </a:t>
            </a:r>
            <a:r>
              <a:rPr lang="en-US" sz="1600" dirty="0" smtClean="0"/>
              <a:t>v</a:t>
            </a:r>
            <a:r>
              <a:rPr lang="ru-RU" sz="1600" dirty="0" smtClean="0"/>
              <a:t> ∈ </a:t>
            </a:r>
            <a:r>
              <a:rPr lang="en-US" sz="1600" dirty="0" err="1" smtClean="0"/>
              <a:t>Adj</a:t>
            </a:r>
            <a:r>
              <a:rPr lang="en-US" sz="1600" dirty="0" smtClean="0"/>
              <a:t>[u]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</a:t>
            </a:r>
            <a:r>
              <a:rPr lang="en-US" sz="1600" b="1" dirty="0" smtClean="0"/>
              <a:t>if</a:t>
            </a:r>
            <a:r>
              <a:rPr lang="en-US" sz="1600" dirty="0" smtClean="0"/>
              <a:t> part[v] = ∞ </a:t>
            </a:r>
            <a:r>
              <a:rPr lang="en-US" sz="1600" b="1" dirty="0" smtClean="0"/>
              <a:t>then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b="1" dirty="0" smtClean="0"/>
              <a:t>		</a:t>
            </a:r>
            <a:r>
              <a:rPr lang="en-US" sz="1600" dirty="0" smtClean="0"/>
              <a:t>part[v] ⟵ (part[u] +1) mod 2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</a:t>
            </a:r>
            <a:r>
              <a:rPr lang="en-US" sz="1600" b="1" dirty="0" smtClean="0"/>
              <a:t>If</a:t>
            </a:r>
            <a:r>
              <a:rPr lang="en-US" sz="1600" dirty="0" smtClean="0"/>
              <a:t> !(</a:t>
            </a:r>
            <a:r>
              <a:rPr lang="en-US" sz="1600" dirty="0" err="1" smtClean="0"/>
              <a:t>DFS_Visit</a:t>
            </a:r>
            <a:r>
              <a:rPr lang="en-US" sz="1600" dirty="0" smtClean="0"/>
              <a:t>(v)) </a:t>
            </a:r>
            <a:r>
              <a:rPr lang="en-US" sz="1600" b="1" dirty="0" smtClean="0"/>
              <a:t>then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	</a:t>
            </a:r>
            <a:r>
              <a:rPr lang="en-US" sz="1600" b="1" dirty="0" smtClean="0"/>
              <a:t>return</a:t>
            </a:r>
            <a:r>
              <a:rPr lang="en-US" sz="1600" dirty="0" smtClean="0"/>
              <a:t> false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</a:t>
            </a:r>
            <a:r>
              <a:rPr lang="en-US" sz="1600" b="1" dirty="0" smtClean="0"/>
              <a:t>else</a:t>
            </a:r>
            <a:r>
              <a:rPr lang="ru-RU" sz="1600" b="1" dirty="0" smtClean="0"/>
              <a:t/>
            </a:r>
            <a:br>
              <a:rPr lang="ru-RU" sz="1600" b="1" dirty="0" smtClean="0"/>
            </a:br>
            <a:r>
              <a:rPr lang="ru-RU" sz="1600" b="1" dirty="0" smtClean="0"/>
              <a:t>		</a:t>
            </a:r>
            <a:r>
              <a:rPr lang="en-US" sz="1600" b="1" dirty="0" smtClean="0"/>
              <a:t> if</a:t>
            </a:r>
            <a:r>
              <a:rPr lang="en-US" sz="1600" dirty="0" smtClean="0"/>
              <a:t> part[v] = part[u] </a:t>
            </a:r>
            <a:r>
              <a:rPr lang="en-US" sz="1600" b="1" dirty="0" smtClean="0"/>
              <a:t>then 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</a:t>
            </a:r>
            <a:r>
              <a:rPr lang="ru-RU" sz="1600" dirty="0" smtClean="0"/>
              <a:t>	</a:t>
            </a:r>
            <a:r>
              <a:rPr lang="en-US" sz="1600" b="1" dirty="0" smtClean="0"/>
              <a:t>return</a:t>
            </a:r>
            <a:r>
              <a:rPr lang="en-US" sz="1600" dirty="0" smtClean="0"/>
              <a:t> false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b="1" dirty="0" smtClean="0"/>
              <a:t>return</a:t>
            </a:r>
            <a:r>
              <a:rPr lang="en-US" sz="1600" dirty="0" smtClean="0"/>
              <a:t> true</a:t>
            </a:r>
            <a:r>
              <a:rPr lang="ru-RU" sz="1600" dirty="0" smtClean="0"/>
              <a:t/>
            </a:r>
            <a:br>
              <a:rPr lang="ru-RU" sz="1600" dirty="0" smtClean="0"/>
            </a:b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Correct numbering </a:t>
            </a:r>
            <a:r>
              <a:rPr lang="en-US" dirty="0" smtClean="0"/>
              <a:t>or</a:t>
            </a:r>
            <a:br>
              <a:rPr lang="en-US" dirty="0" smtClean="0"/>
            </a:br>
            <a:r>
              <a:rPr lang="en-US" dirty="0" smtClean="0"/>
              <a:t>topological </a:t>
            </a:r>
            <a:r>
              <a:rPr lang="en-US" dirty="0"/>
              <a:t>sorting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838200" y="1986409"/>
            <a:ext cx="7772400" cy="29547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2000" b="1" dirty="0"/>
              <a:t>Correct numbering (topological sorting) </a:t>
            </a:r>
            <a:r>
              <a:rPr lang="en-US" sz="2000" dirty="0"/>
              <a:t>is the numbering of vertices of a </a:t>
            </a:r>
            <a:r>
              <a:rPr lang="en-US" sz="2000" dirty="0" smtClean="0"/>
              <a:t>digraph </a:t>
            </a:r>
            <a:r>
              <a:rPr lang="en-US" sz="2000" dirty="0"/>
              <a:t>such that the graph, with such numbering, has no arcs going from a vertex with a larger number to a vertex with a smaller number.</a:t>
            </a:r>
            <a:endParaRPr kumimoji="0" lang="ru-RU" sz="20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Example of topological sorting</a:t>
            </a:r>
            <a:endParaRPr lang="ru-RU" sz="2800" dirty="0" smtClean="0"/>
          </a:p>
        </p:txBody>
      </p:sp>
      <p:cxnSp>
        <p:nvCxnSpPr>
          <p:cNvPr id="49" name="Прямая со стрелкой 48"/>
          <p:cNvCxnSpPr>
            <a:stCxn id="51" idx="3"/>
            <a:endCxn id="52" idx="7"/>
          </p:cNvCxnSpPr>
          <p:nvPr/>
        </p:nvCxnSpPr>
        <p:spPr>
          <a:xfrm flipH="1">
            <a:off x="3823393" y="4448355"/>
            <a:ext cx="646772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>
            <a:stCxn id="52" idx="3"/>
            <a:endCxn id="53" idx="7"/>
          </p:cNvCxnSpPr>
          <p:nvPr/>
        </p:nvCxnSpPr>
        <p:spPr>
          <a:xfrm flipH="1">
            <a:off x="3319337" y="5384459"/>
            <a:ext cx="300386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Овал 50"/>
          <p:cNvSpPr/>
          <p:nvPr/>
        </p:nvSpPr>
        <p:spPr>
          <a:xfrm>
            <a:off x="4427984" y="42025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2" name="Овал 51"/>
          <p:cNvSpPr/>
          <p:nvPr/>
        </p:nvSpPr>
        <p:spPr>
          <a:xfrm>
            <a:off x="3577542" y="51386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Овал 52"/>
          <p:cNvSpPr/>
          <p:nvPr/>
        </p:nvSpPr>
        <p:spPr>
          <a:xfrm>
            <a:off x="3073486" y="607471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Овал 53"/>
          <p:cNvSpPr/>
          <p:nvPr/>
        </p:nvSpPr>
        <p:spPr>
          <a:xfrm>
            <a:off x="5233726" y="485057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TextBox 54"/>
          <p:cNvSpPr txBox="1"/>
          <p:nvPr/>
        </p:nvSpPr>
        <p:spPr>
          <a:xfrm>
            <a:off x="4427984" y="41304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56" name="TextBox 55"/>
          <p:cNvSpPr txBox="1"/>
          <p:nvPr/>
        </p:nvSpPr>
        <p:spPr>
          <a:xfrm>
            <a:off x="3059832" y="60027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cxnSp>
        <p:nvCxnSpPr>
          <p:cNvPr id="57" name="Прямая со стрелкой 56"/>
          <p:cNvCxnSpPr>
            <a:stCxn id="51" idx="5"/>
            <a:endCxn id="54" idx="1"/>
          </p:cNvCxnSpPr>
          <p:nvPr/>
        </p:nvCxnSpPr>
        <p:spPr>
          <a:xfrm>
            <a:off x="4673835" y="4448355"/>
            <a:ext cx="602072" cy="44440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Овал 57"/>
          <p:cNvSpPr/>
          <p:nvPr/>
        </p:nvSpPr>
        <p:spPr>
          <a:xfrm>
            <a:off x="4095252" y="32664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Овал 58"/>
          <p:cNvSpPr/>
          <p:nvPr/>
        </p:nvSpPr>
        <p:spPr>
          <a:xfrm>
            <a:off x="5549066" y="60840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5535412" y="60119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ru-RU" dirty="0"/>
          </a:p>
        </p:txBody>
      </p:sp>
      <p:cxnSp>
        <p:nvCxnSpPr>
          <p:cNvPr id="61" name="Прямая со стрелкой 60"/>
          <p:cNvCxnSpPr>
            <a:stCxn id="54" idx="5"/>
          </p:cNvCxnSpPr>
          <p:nvPr/>
        </p:nvCxnSpPr>
        <p:spPr>
          <a:xfrm>
            <a:off x="5479577" y="5096427"/>
            <a:ext cx="199851" cy="978285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/>
          <p:cNvCxnSpPr>
            <a:endCxn id="51" idx="1"/>
          </p:cNvCxnSpPr>
          <p:nvPr/>
        </p:nvCxnSpPr>
        <p:spPr>
          <a:xfrm>
            <a:off x="4232441" y="3563724"/>
            <a:ext cx="237724" cy="680961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3721558" y="1979548"/>
            <a:ext cx="562410" cy="56241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TextBox 63"/>
          <p:cNvSpPr txBox="1"/>
          <p:nvPr/>
        </p:nvSpPr>
        <p:spPr>
          <a:xfrm>
            <a:off x="3721558" y="2051556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root</a:t>
            </a:r>
            <a:endParaRPr lang="ru-RU" dirty="0"/>
          </a:p>
        </p:txBody>
      </p:sp>
      <p:cxnSp>
        <p:nvCxnSpPr>
          <p:cNvPr id="65" name="Прямая со стрелкой 64"/>
          <p:cNvCxnSpPr>
            <a:stCxn id="63" idx="4"/>
            <a:endCxn id="58" idx="0"/>
          </p:cNvCxnSpPr>
          <p:nvPr/>
        </p:nvCxnSpPr>
        <p:spPr>
          <a:xfrm>
            <a:off x="4002763" y="2541958"/>
            <a:ext cx="236505" cy="72444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Овал 65"/>
          <p:cNvSpPr/>
          <p:nvPr/>
        </p:nvSpPr>
        <p:spPr>
          <a:xfrm>
            <a:off x="4108906" y="60840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/>
          <p:cNvSpPr txBox="1"/>
          <p:nvPr/>
        </p:nvSpPr>
        <p:spPr>
          <a:xfrm>
            <a:off x="4095252" y="60119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ru-RU" dirty="0"/>
          </a:p>
        </p:txBody>
      </p:sp>
      <p:cxnSp>
        <p:nvCxnSpPr>
          <p:cNvPr id="68" name="Прямая со стрелкой 67"/>
          <p:cNvCxnSpPr>
            <a:stCxn id="66" idx="1"/>
            <a:endCxn id="52" idx="5"/>
          </p:cNvCxnSpPr>
          <p:nvPr/>
        </p:nvCxnSpPr>
        <p:spPr>
          <a:xfrm flipH="1" flipV="1">
            <a:off x="3823393" y="5384459"/>
            <a:ext cx="327694" cy="741726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572734" y="50666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70" name="TextBox 69"/>
          <p:cNvSpPr txBox="1"/>
          <p:nvPr/>
        </p:nvSpPr>
        <p:spPr>
          <a:xfrm>
            <a:off x="5228918" y="478786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71" name="TextBox 70"/>
          <p:cNvSpPr txBox="1"/>
          <p:nvPr/>
        </p:nvSpPr>
        <p:spPr>
          <a:xfrm>
            <a:off x="4095252" y="32036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72" name="TextBox 71"/>
          <p:cNvSpPr txBox="1"/>
          <p:nvPr/>
        </p:nvSpPr>
        <p:spPr>
          <a:xfrm>
            <a:off x="4095252" y="29876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73" name="TextBox 72"/>
          <p:cNvSpPr txBox="1"/>
          <p:nvPr/>
        </p:nvSpPr>
        <p:spPr>
          <a:xfrm>
            <a:off x="4436830" y="39144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74" name="TextBox 73"/>
          <p:cNvSpPr txBox="1"/>
          <p:nvPr/>
        </p:nvSpPr>
        <p:spPr>
          <a:xfrm>
            <a:off x="5228918" y="45625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75" name="TextBox 74"/>
          <p:cNvSpPr txBox="1"/>
          <p:nvPr/>
        </p:nvSpPr>
        <p:spPr>
          <a:xfrm>
            <a:off x="5535412" y="57866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76" name="TextBox 75"/>
          <p:cNvSpPr txBox="1"/>
          <p:nvPr/>
        </p:nvSpPr>
        <p:spPr>
          <a:xfrm>
            <a:off x="4095252" y="57866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77" name="TextBox 76"/>
          <p:cNvSpPr txBox="1"/>
          <p:nvPr/>
        </p:nvSpPr>
        <p:spPr>
          <a:xfrm>
            <a:off x="3068678" y="57866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78" name="TextBox 77"/>
          <p:cNvSpPr txBox="1"/>
          <p:nvPr/>
        </p:nvSpPr>
        <p:spPr>
          <a:xfrm>
            <a:off x="3572734" y="48505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79" name="TextBox 78"/>
          <p:cNvSpPr txBox="1"/>
          <p:nvPr/>
        </p:nvSpPr>
        <p:spPr>
          <a:xfrm>
            <a:off x="3807220" y="16195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838200" y="1986409"/>
            <a:ext cx="7772400" cy="29547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2000" dirty="0" smtClean="0"/>
              <a:t>The </a:t>
            </a:r>
            <a:r>
              <a:rPr lang="en-US" sz="2000" b="1" dirty="0"/>
              <a:t>source</a:t>
            </a:r>
            <a:r>
              <a:rPr lang="en-US" sz="2000" dirty="0"/>
              <a:t> is a vertex in which there are no </a:t>
            </a:r>
            <a:r>
              <a:rPr lang="en-US" sz="2000" b="1" dirty="0"/>
              <a:t>incoming</a:t>
            </a:r>
            <a:r>
              <a:rPr lang="en-US" sz="2000" dirty="0"/>
              <a:t> arcs.</a:t>
            </a:r>
          </a:p>
          <a:p>
            <a:pPr lvl="0">
              <a:spcBef>
                <a:spcPct val="0"/>
              </a:spcBef>
            </a:pPr>
            <a:endParaRPr lang="ru-RU" sz="2000" dirty="0" smtClean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Correct numbering of vertices in a discontinuous </a:t>
            </a:r>
            <a:r>
              <a:rPr lang="en-US" sz="2800" dirty="0" smtClean="0"/>
              <a:t>digraph</a:t>
            </a:r>
            <a:endParaRPr lang="ru-RU" sz="2800" b="1" dirty="0" smtClean="0"/>
          </a:p>
        </p:txBody>
      </p:sp>
      <p:cxnSp>
        <p:nvCxnSpPr>
          <p:cNvPr id="6" name="Прямая со стрелкой 5"/>
          <p:cNvCxnSpPr>
            <a:stCxn id="8" idx="3"/>
            <a:endCxn id="9" idx="7"/>
          </p:cNvCxnSpPr>
          <p:nvPr/>
        </p:nvCxnSpPr>
        <p:spPr>
          <a:xfrm flipH="1">
            <a:off x="6618051" y="4097607"/>
            <a:ext cx="646772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>
            <a:stCxn id="9" idx="3"/>
            <a:endCxn id="10" idx="7"/>
          </p:cNvCxnSpPr>
          <p:nvPr/>
        </p:nvCxnSpPr>
        <p:spPr>
          <a:xfrm flipH="1">
            <a:off x="6113995" y="5033711"/>
            <a:ext cx="300386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Овал 7"/>
          <p:cNvSpPr/>
          <p:nvPr/>
        </p:nvSpPr>
        <p:spPr>
          <a:xfrm>
            <a:off x="7222642" y="385175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Овал 8"/>
          <p:cNvSpPr/>
          <p:nvPr/>
        </p:nvSpPr>
        <p:spPr>
          <a:xfrm>
            <a:off x="6372200" y="478786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5868144" y="572396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8028384" y="449982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 стрелкой 13"/>
          <p:cNvCxnSpPr>
            <a:stCxn id="8" idx="5"/>
            <a:endCxn id="11" idx="1"/>
          </p:cNvCxnSpPr>
          <p:nvPr/>
        </p:nvCxnSpPr>
        <p:spPr>
          <a:xfrm>
            <a:off x="7468493" y="4097607"/>
            <a:ext cx="602072" cy="44440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Овал 14"/>
          <p:cNvSpPr/>
          <p:nvPr/>
        </p:nvSpPr>
        <p:spPr>
          <a:xfrm>
            <a:off x="6889910" y="291565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>
            <a:off x="8343724" y="573325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 стрелкой 17"/>
          <p:cNvCxnSpPr>
            <a:stCxn id="11" idx="4"/>
          </p:cNvCxnSpPr>
          <p:nvPr/>
        </p:nvCxnSpPr>
        <p:spPr>
          <a:xfrm>
            <a:off x="8172400" y="4787860"/>
            <a:ext cx="301686" cy="93610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endCxn id="8" idx="1"/>
          </p:cNvCxnSpPr>
          <p:nvPr/>
        </p:nvCxnSpPr>
        <p:spPr>
          <a:xfrm>
            <a:off x="7027099" y="3212976"/>
            <a:ext cx="237724" cy="680961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Овал 19"/>
          <p:cNvSpPr/>
          <p:nvPr/>
        </p:nvSpPr>
        <p:spPr>
          <a:xfrm>
            <a:off x="6516216" y="1628800"/>
            <a:ext cx="562410" cy="56241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 стрелкой 21"/>
          <p:cNvCxnSpPr>
            <a:stCxn id="20" idx="4"/>
            <a:endCxn id="15" idx="0"/>
          </p:cNvCxnSpPr>
          <p:nvPr/>
        </p:nvCxnSpPr>
        <p:spPr>
          <a:xfrm>
            <a:off x="6797421" y="2191210"/>
            <a:ext cx="236505" cy="72444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/>
          <p:cNvSpPr/>
          <p:nvPr/>
        </p:nvSpPr>
        <p:spPr>
          <a:xfrm>
            <a:off x="6903564" y="573325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 стрелкой 24"/>
          <p:cNvCxnSpPr>
            <a:stCxn id="23" idx="1"/>
            <a:endCxn id="9" idx="5"/>
          </p:cNvCxnSpPr>
          <p:nvPr/>
        </p:nvCxnSpPr>
        <p:spPr>
          <a:xfrm flipH="1" flipV="1">
            <a:off x="6618051" y="5033711"/>
            <a:ext cx="327694" cy="741726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Овал 39"/>
          <p:cNvSpPr/>
          <p:nvPr/>
        </p:nvSpPr>
        <p:spPr>
          <a:xfrm>
            <a:off x="7911676" y="1638092"/>
            <a:ext cx="562410" cy="56241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3" name="Прямая со стрелкой 42"/>
          <p:cNvCxnSpPr>
            <a:stCxn id="40" idx="4"/>
            <a:endCxn id="11" idx="0"/>
          </p:cNvCxnSpPr>
          <p:nvPr/>
        </p:nvCxnSpPr>
        <p:spPr>
          <a:xfrm flipH="1">
            <a:off x="8172400" y="2200502"/>
            <a:ext cx="20481" cy="2299326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en-US" sz="2800" dirty="0"/>
              <a:t>Correct numbering of vertices in a discontinuous digraph</a:t>
            </a:r>
            <a:endParaRPr lang="ru-RU" sz="2800" b="1" dirty="0"/>
          </a:p>
        </p:txBody>
      </p: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6806767" y="4088315"/>
            <a:ext cx="646772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>
            <a:stCxn id="8" idx="3"/>
          </p:cNvCxnSpPr>
          <p:nvPr/>
        </p:nvCxnSpPr>
        <p:spPr>
          <a:xfrm flipH="1">
            <a:off x="6302711" y="5024419"/>
            <a:ext cx="300386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Овал 6"/>
          <p:cNvSpPr/>
          <p:nvPr/>
        </p:nvSpPr>
        <p:spPr>
          <a:xfrm>
            <a:off x="7411358" y="384246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6560916" y="477856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8217100" y="44905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 стрелкой 10"/>
          <p:cNvCxnSpPr>
            <a:stCxn id="7" idx="5"/>
            <a:endCxn id="10" idx="1"/>
          </p:cNvCxnSpPr>
          <p:nvPr/>
        </p:nvCxnSpPr>
        <p:spPr>
          <a:xfrm>
            <a:off x="7657209" y="4088315"/>
            <a:ext cx="602072" cy="44440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7078626" y="290636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Прямая со стрелкой 13"/>
          <p:cNvCxnSpPr>
            <a:stCxn id="10" idx="4"/>
            <a:endCxn id="38" idx="0"/>
          </p:cNvCxnSpPr>
          <p:nvPr/>
        </p:nvCxnSpPr>
        <p:spPr>
          <a:xfrm>
            <a:off x="8361116" y="4778568"/>
            <a:ext cx="20481" cy="882680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endCxn id="7" idx="1"/>
          </p:cNvCxnSpPr>
          <p:nvPr/>
        </p:nvCxnSpPr>
        <p:spPr>
          <a:xfrm>
            <a:off x="7215815" y="3203684"/>
            <a:ext cx="237724" cy="680961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>
            <a:endCxn id="12" idx="0"/>
          </p:cNvCxnSpPr>
          <p:nvPr/>
        </p:nvCxnSpPr>
        <p:spPr>
          <a:xfrm>
            <a:off x="6986137" y="2181918"/>
            <a:ext cx="236505" cy="72444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endCxn id="8" idx="5"/>
          </p:cNvCxnSpPr>
          <p:nvPr/>
        </p:nvCxnSpPr>
        <p:spPr>
          <a:xfrm flipH="1" flipV="1">
            <a:off x="6806767" y="5024419"/>
            <a:ext cx="327694" cy="741726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endCxn id="10" idx="0"/>
          </p:cNvCxnSpPr>
          <p:nvPr/>
        </p:nvCxnSpPr>
        <p:spPr>
          <a:xfrm flipH="1">
            <a:off x="8361116" y="2191210"/>
            <a:ext cx="20481" cy="2299326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5940152" y="5733256"/>
            <a:ext cx="562410" cy="56241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6804248" y="191683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/>
          <p:cNvSpPr/>
          <p:nvPr/>
        </p:nvSpPr>
        <p:spPr>
          <a:xfrm>
            <a:off x="8244408" y="191683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/>
          <p:cNvSpPr/>
          <p:nvPr/>
        </p:nvSpPr>
        <p:spPr>
          <a:xfrm>
            <a:off x="6948264" y="5733256"/>
            <a:ext cx="562410" cy="56241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Овал 37"/>
          <p:cNvSpPr/>
          <p:nvPr/>
        </p:nvSpPr>
        <p:spPr>
          <a:xfrm>
            <a:off x="8100392" y="5661248"/>
            <a:ext cx="562410" cy="56241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Заголовок 1"/>
          <p:cNvSpPr txBox="1">
            <a:spLocks/>
          </p:cNvSpPr>
          <p:nvPr/>
        </p:nvSpPr>
        <p:spPr>
          <a:xfrm>
            <a:off x="838200" y="1986409"/>
            <a:ext cx="7772400" cy="29547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2000" dirty="0"/>
              <a:t>A </a:t>
            </a:r>
            <a:r>
              <a:rPr lang="en-US" sz="2000" b="1" dirty="0"/>
              <a:t>stock</a:t>
            </a:r>
            <a:r>
              <a:rPr lang="en-US" sz="2000" dirty="0"/>
              <a:t> is a vertex from which there are no </a:t>
            </a:r>
            <a:r>
              <a:rPr lang="en-US" sz="2000" b="1" dirty="0"/>
              <a:t>outgoing</a:t>
            </a:r>
            <a:r>
              <a:rPr lang="en-US" sz="2000" dirty="0"/>
              <a:t> arcs.</a:t>
            </a:r>
            <a:endParaRPr lang="ru-RU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904056" y="2708920"/>
            <a:ext cx="7772400" cy="14401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ru-RU" sz="2000" b="1" dirty="0" smtClean="0"/>
              <a:t>Теорема:</a:t>
            </a:r>
            <a:endParaRPr lang="ru-RU" sz="2000" dirty="0" smtClean="0"/>
          </a:p>
          <a:p>
            <a:pPr lvl="0">
              <a:spcBef>
                <a:spcPct val="0"/>
              </a:spcBef>
            </a:pPr>
            <a:r>
              <a:rPr lang="ru-RU" sz="2000" dirty="0" smtClean="0"/>
              <a:t>В бесконтурном графе </a:t>
            </a:r>
            <a:r>
              <a:rPr lang="ru-RU" sz="2000" b="1" dirty="0" smtClean="0"/>
              <a:t>существует источник</a:t>
            </a:r>
            <a:r>
              <a:rPr lang="ru-RU" sz="2000" dirty="0" smtClean="0"/>
              <a:t>.</a:t>
            </a:r>
            <a:endParaRPr lang="ru-RU" sz="2000" b="1" dirty="0" smtClean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Правильная нумерация вершин бесконтурного графа</a:t>
            </a:r>
            <a:endParaRPr lang="ru-RU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904056" y="2708920"/>
            <a:ext cx="7772400" cy="14401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ru-RU" sz="2000" b="1" dirty="0" smtClean="0"/>
              <a:t>Доказательство (от противного):</a:t>
            </a:r>
            <a:endParaRPr lang="ru-RU" sz="2000" dirty="0" smtClean="0"/>
          </a:p>
          <a:p>
            <a:pPr lvl="0">
              <a:spcBef>
                <a:spcPct val="0"/>
              </a:spcBef>
            </a:pPr>
            <a:r>
              <a:rPr lang="ru-RU" sz="2000" dirty="0" smtClean="0"/>
              <a:t>Идем по входящим дугам, начиная от любой вершины. Когда-нибудь возникнет контур, а если входящих дуг нет, то это источник.</a:t>
            </a:r>
            <a:endParaRPr lang="ru-RU" sz="2000" b="1" dirty="0" smtClean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Правильная нумерация вершин бесконтурного графа</a:t>
            </a:r>
            <a:endParaRPr lang="ru-RU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838200" y="1986409"/>
            <a:ext cx="7772400" cy="29547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ru-RU" sz="2000" b="1" dirty="0" smtClean="0"/>
              <a:t>Теорема:</a:t>
            </a:r>
            <a:endParaRPr lang="ru-RU" sz="2000" dirty="0" smtClean="0"/>
          </a:p>
          <a:p>
            <a:pPr lvl="0">
              <a:spcBef>
                <a:spcPct val="0"/>
              </a:spcBef>
            </a:pPr>
            <a:r>
              <a:rPr lang="ru-RU" sz="2000" dirty="0" smtClean="0"/>
              <a:t>В бесконтурном графе </a:t>
            </a:r>
            <a:r>
              <a:rPr lang="ru-RU" sz="2000" b="1" dirty="0" smtClean="0"/>
              <a:t>существует правильная нумерация</a:t>
            </a:r>
            <a:r>
              <a:rPr lang="ru-RU" sz="2000" dirty="0" smtClean="0"/>
              <a:t>.</a:t>
            </a:r>
            <a:endParaRPr lang="ru-RU" sz="2000" b="1" dirty="0" smtClean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Правильная нумерация вершин бесконтурного графа</a:t>
            </a:r>
            <a:endParaRPr lang="ru-RU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838200" y="1986409"/>
            <a:ext cx="7772400" cy="29547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ru-RU" sz="2000" b="1" dirty="0" smtClean="0"/>
              <a:t>Доказательство:</a:t>
            </a:r>
          </a:p>
          <a:p>
            <a:pPr>
              <a:spcBef>
                <a:spcPct val="0"/>
              </a:spcBef>
            </a:pPr>
            <a:r>
              <a:rPr lang="ru-RU" sz="2000" dirty="0" smtClean="0"/>
              <a:t>Пока не </a:t>
            </a:r>
            <a:r>
              <a:rPr lang="ru-RU" sz="2000" dirty="0" err="1" smtClean="0"/>
              <a:t>перенумеруются</a:t>
            </a:r>
            <a:r>
              <a:rPr lang="ru-RU" sz="2000" dirty="0" smtClean="0"/>
              <a:t> все вершины, повторяются действия:</a:t>
            </a:r>
          </a:p>
          <a:p>
            <a:pPr>
              <a:spcBef>
                <a:spcPct val="0"/>
              </a:spcBef>
            </a:pP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Любому источнику присваивается очередной номер (первому – первый).</a:t>
            </a:r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источник выкидывается из графа вместе со всеми смежными дугами (оставшийся граф тоже бесконтурный).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Правильная нумерация вершин бесконтурного графа</a:t>
            </a:r>
            <a:endParaRPr lang="ru-RU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568646"/>
            <a:ext cx="8784976" cy="51305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652069" y="3584259"/>
            <a:ext cx="646772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148013" y="4520363"/>
            <a:ext cx="300386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256660" y="33384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406218" y="427451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902162" y="521061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5062402" y="398648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4256660" y="326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2888508" y="513860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502511" y="3584259"/>
            <a:ext cx="602072" cy="44440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923928" y="24023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77742" y="52199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5364088" y="51479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ru-RU" dirty="0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308253" y="4232331"/>
            <a:ext cx="199851" cy="978285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4061117" y="2699628"/>
            <a:ext cx="237724" cy="680961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Овал 40"/>
          <p:cNvSpPr/>
          <p:nvPr/>
        </p:nvSpPr>
        <p:spPr>
          <a:xfrm>
            <a:off x="3550234" y="1115452"/>
            <a:ext cx="562410" cy="56241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3550234" y="1187460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root</a:t>
            </a:r>
            <a:endParaRPr lang="ru-RU" dirty="0"/>
          </a:p>
        </p:txBody>
      </p:sp>
      <p:cxnSp>
        <p:nvCxnSpPr>
          <p:cNvPr id="43" name="Прямая со стрелкой 42"/>
          <p:cNvCxnSpPr>
            <a:stCxn id="41" idx="4"/>
            <a:endCxn id="22" idx="0"/>
          </p:cNvCxnSpPr>
          <p:nvPr/>
        </p:nvCxnSpPr>
        <p:spPr>
          <a:xfrm>
            <a:off x="3831439" y="1677862"/>
            <a:ext cx="236505" cy="72444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937582" y="52199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3923928" y="51479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ru-RU" dirty="0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652069" y="4520363"/>
            <a:ext cx="327694" cy="741726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01410" y="42025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5057594" y="39237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3923928" y="23395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3923928" y="212356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4265506" y="305037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5057594" y="369844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5364088" y="49225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3923928" y="49225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2897354" y="49225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3401410" y="398648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3635896" y="75541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652069" y="3584259"/>
            <a:ext cx="646772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148013" y="4520363"/>
            <a:ext cx="300386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256660" y="33384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406218" y="427451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902162" y="521061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5062402" y="398648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4256660" y="326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2888508" y="513860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502511" y="3584259"/>
            <a:ext cx="602072" cy="44440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923928" y="240230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77742" y="52199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5364088" y="51479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ru-RU" dirty="0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308253" y="4232331"/>
            <a:ext cx="199851" cy="978285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4061117" y="2699628"/>
            <a:ext cx="237724" cy="680961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Овал 40"/>
          <p:cNvSpPr/>
          <p:nvPr/>
        </p:nvSpPr>
        <p:spPr>
          <a:xfrm>
            <a:off x="3550234" y="1115452"/>
            <a:ext cx="562410" cy="56241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3550234" y="1187460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root</a:t>
            </a:r>
            <a:endParaRPr lang="ru-RU" dirty="0"/>
          </a:p>
        </p:txBody>
      </p:sp>
      <p:cxnSp>
        <p:nvCxnSpPr>
          <p:cNvPr id="43" name="Прямая со стрелкой 42"/>
          <p:cNvCxnSpPr>
            <a:stCxn id="41" idx="4"/>
            <a:endCxn id="22" idx="0"/>
          </p:cNvCxnSpPr>
          <p:nvPr/>
        </p:nvCxnSpPr>
        <p:spPr>
          <a:xfrm>
            <a:off x="3831439" y="1677862"/>
            <a:ext cx="236505" cy="72444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937582" y="52199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3923928" y="51479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ru-RU" dirty="0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652069" y="4520363"/>
            <a:ext cx="327694" cy="741726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01410" y="42025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5057594" y="39237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3923928" y="23395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3923928" y="212356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4265506" y="305037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5057594" y="369844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5364088" y="49225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3923928" y="49225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2897354" y="49225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3401410" y="398648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3635896" y="75541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652069" y="3584259"/>
            <a:ext cx="646772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148013" y="4520363"/>
            <a:ext cx="300386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256660" y="3338408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406218" y="427451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902162" y="521061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5062402" y="398648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4256660" y="326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2888508" y="513860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502511" y="3584259"/>
            <a:ext cx="602072" cy="44440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923928" y="240230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77742" y="52199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5364088" y="51479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ru-RU" dirty="0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308253" y="4232331"/>
            <a:ext cx="199851" cy="978285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4061117" y="2699628"/>
            <a:ext cx="237724" cy="680961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Овал 40"/>
          <p:cNvSpPr/>
          <p:nvPr/>
        </p:nvSpPr>
        <p:spPr>
          <a:xfrm>
            <a:off x="3550234" y="1115452"/>
            <a:ext cx="562410" cy="56241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3550234" y="1187460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root</a:t>
            </a:r>
            <a:endParaRPr lang="ru-RU" dirty="0"/>
          </a:p>
        </p:txBody>
      </p:sp>
      <p:cxnSp>
        <p:nvCxnSpPr>
          <p:cNvPr id="43" name="Прямая со стрелкой 42"/>
          <p:cNvCxnSpPr>
            <a:stCxn id="41" idx="4"/>
            <a:endCxn id="22" idx="0"/>
          </p:cNvCxnSpPr>
          <p:nvPr/>
        </p:nvCxnSpPr>
        <p:spPr>
          <a:xfrm>
            <a:off x="3831439" y="1677862"/>
            <a:ext cx="236505" cy="72444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937582" y="52199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3923928" y="51479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ru-RU" dirty="0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652069" y="4520363"/>
            <a:ext cx="327694" cy="741726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01410" y="42025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5057594" y="39237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3923928" y="23395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3923928" y="212356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4265506" y="305037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5057594" y="369844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5364088" y="49225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3923928" y="49225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2897354" y="49225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3401410" y="398648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3635896" y="75541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652069" y="3584259"/>
            <a:ext cx="646772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148013" y="4520363"/>
            <a:ext cx="300386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256660" y="3338408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406218" y="4274512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902162" y="521061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5062402" y="398648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4256660" y="326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2888508" y="513860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502511" y="3584259"/>
            <a:ext cx="602072" cy="44440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923928" y="240230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77742" y="52199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5364088" y="51479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ru-RU" dirty="0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308253" y="4232331"/>
            <a:ext cx="199851" cy="978285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4061117" y="2699628"/>
            <a:ext cx="237724" cy="680961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Овал 40"/>
          <p:cNvSpPr/>
          <p:nvPr/>
        </p:nvSpPr>
        <p:spPr>
          <a:xfrm>
            <a:off x="3550234" y="1115452"/>
            <a:ext cx="562410" cy="56241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3550234" y="1187460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root</a:t>
            </a:r>
            <a:endParaRPr lang="ru-RU" dirty="0"/>
          </a:p>
        </p:txBody>
      </p:sp>
      <p:cxnSp>
        <p:nvCxnSpPr>
          <p:cNvPr id="43" name="Прямая со стрелкой 42"/>
          <p:cNvCxnSpPr>
            <a:stCxn id="41" idx="4"/>
            <a:endCxn id="22" idx="0"/>
          </p:cNvCxnSpPr>
          <p:nvPr/>
        </p:nvCxnSpPr>
        <p:spPr>
          <a:xfrm>
            <a:off x="3831439" y="1677862"/>
            <a:ext cx="236505" cy="72444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937582" y="52199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3923928" y="51479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ru-RU" dirty="0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652069" y="4520363"/>
            <a:ext cx="327694" cy="741726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01410" y="42025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5057594" y="39237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3923928" y="23395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3923928" y="212356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4265506" y="305037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5057594" y="369844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5364088" y="49225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3923928" y="49225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2897354" y="49225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3401410" y="398648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3635896" y="75541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652069" y="3584259"/>
            <a:ext cx="646772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148013" y="4520363"/>
            <a:ext cx="300386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256660" y="3338408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406218" y="4274512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902162" y="5210616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5062402" y="398648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4256660" y="326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2888508" y="513860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502511" y="3584259"/>
            <a:ext cx="602072" cy="44440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923928" y="240230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77742" y="52199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5364088" y="51479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ru-RU" dirty="0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308253" y="4232331"/>
            <a:ext cx="199851" cy="978285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4061117" y="2699628"/>
            <a:ext cx="237724" cy="680961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Овал 40"/>
          <p:cNvSpPr/>
          <p:nvPr/>
        </p:nvSpPr>
        <p:spPr>
          <a:xfrm>
            <a:off x="3550234" y="1115452"/>
            <a:ext cx="562410" cy="56241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3550234" y="1187460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root</a:t>
            </a:r>
            <a:endParaRPr lang="ru-RU" dirty="0"/>
          </a:p>
        </p:txBody>
      </p:sp>
      <p:cxnSp>
        <p:nvCxnSpPr>
          <p:cNvPr id="43" name="Прямая со стрелкой 42"/>
          <p:cNvCxnSpPr>
            <a:stCxn id="41" idx="4"/>
            <a:endCxn id="22" idx="0"/>
          </p:cNvCxnSpPr>
          <p:nvPr/>
        </p:nvCxnSpPr>
        <p:spPr>
          <a:xfrm>
            <a:off x="3831439" y="1677862"/>
            <a:ext cx="236505" cy="72444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937582" y="52199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3923928" y="51479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ru-RU" dirty="0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652069" y="4520363"/>
            <a:ext cx="327694" cy="741726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01410" y="42025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5057594" y="39237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3923928" y="23395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3923928" y="212356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4265506" y="305037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5057594" y="369844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5364088" y="49225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3923928" y="49225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2897354" y="49225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3401410" y="398648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3635896" y="75541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652069" y="3584259"/>
            <a:ext cx="646772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148013" y="4520363"/>
            <a:ext cx="300386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256660" y="3338408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406218" y="4274512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902162" y="521061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5062402" y="398648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4256660" y="326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2888508" y="513860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502511" y="3584259"/>
            <a:ext cx="602072" cy="44440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923928" y="240230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77742" y="52199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5364088" y="51479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ru-RU" dirty="0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308253" y="4232331"/>
            <a:ext cx="199851" cy="978285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4061117" y="2699628"/>
            <a:ext cx="237724" cy="680961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Овал 40"/>
          <p:cNvSpPr/>
          <p:nvPr/>
        </p:nvSpPr>
        <p:spPr>
          <a:xfrm>
            <a:off x="3550234" y="1115452"/>
            <a:ext cx="562410" cy="56241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3550234" y="1187460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root</a:t>
            </a:r>
            <a:endParaRPr lang="ru-RU" dirty="0"/>
          </a:p>
        </p:txBody>
      </p:sp>
      <p:cxnSp>
        <p:nvCxnSpPr>
          <p:cNvPr id="43" name="Прямая со стрелкой 42"/>
          <p:cNvCxnSpPr>
            <a:stCxn id="41" idx="4"/>
            <a:endCxn id="22" idx="0"/>
          </p:cNvCxnSpPr>
          <p:nvPr/>
        </p:nvCxnSpPr>
        <p:spPr>
          <a:xfrm>
            <a:off x="3831439" y="1677862"/>
            <a:ext cx="236505" cy="72444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937582" y="52199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3923928" y="51479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ru-RU" dirty="0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652069" y="4520363"/>
            <a:ext cx="327694" cy="741726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01410" y="42025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5057594" y="39237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3923928" y="23395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3923928" y="212356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4265506" y="305037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5057594" y="369844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5364088" y="49225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3923928" y="49225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2897354" y="4922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3401410" y="398648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3635896" y="75541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652069" y="3584259"/>
            <a:ext cx="646772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148013" y="4520363"/>
            <a:ext cx="300386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256660" y="3338408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406218" y="4274512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902162" y="521061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5062402" y="398648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4256660" y="326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2888508" y="513860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502511" y="3584259"/>
            <a:ext cx="602072" cy="44440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923928" y="240230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77742" y="52199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5364088" y="51479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ru-RU" dirty="0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308253" y="4232331"/>
            <a:ext cx="199851" cy="978285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4061117" y="2699628"/>
            <a:ext cx="237724" cy="680961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Овал 40"/>
          <p:cNvSpPr/>
          <p:nvPr/>
        </p:nvSpPr>
        <p:spPr>
          <a:xfrm>
            <a:off x="3550234" y="1115452"/>
            <a:ext cx="562410" cy="56241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3550234" y="1187460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root</a:t>
            </a:r>
            <a:endParaRPr lang="ru-RU" dirty="0"/>
          </a:p>
        </p:txBody>
      </p:sp>
      <p:cxnSp>
        <p:nvCxnSpPr>
          <p:cNvPr id="43" name="Прямая со стрелкой 42"/>
          <p:cNvCxnSpPr>
            <a:stCxn id="41" idx="4"/>
            <a:endCxn id="22" idx="0"/>
          </p:cNvCxnSpPr>
          <p:nvPr/>
        </p:nvCxnSpPr>
        <p:spPr>
          <a:xfrm>
            <a:off x="3831439" y="1677862"/>
            <a:ext cx="236505" cy="72444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937582" y="52199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3923928" y="51479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652069" y="4520363"/>
            <a:ext cx="327694" cy="741726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01410" y="42025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5057594" y="39237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3923928" y="23395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3923928" y="212356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4265506" y="305037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5057594" y="369844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5364088" y="49225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3923928" y="4922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2897354" y="4922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3401410" y="398648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3635896" y="75541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652069" y="3584259"/>
            <a:ext cx="646772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148013" y="4520363"/>
            <a:ext cx="300386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256660" y="3338408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406218" y="427451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902162" y="521061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5062402" y="398648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4256660" y="326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2888508" y="513860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502511" y="3584259"/>
            <a:ext cx="602072" cy="44440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923928" y="240230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77742" y="52199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5364088" y="51479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ru-RU" dirty="0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308253" y="4232331"/>
            <a:ext cx="199851" cy="978285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4061117" y="2699628"/>
            <a:ext cx="237724" cy="680961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Овал 40"/>
          <p:cNvSpPr/>
          <p:nvPr/>
        </p:nvSpPr>
        <p:spPr>
          <a:xfrm>
            <a:off x="3550234" y="1115452"/>
            <a:ext cx="562410" cy="56241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3550234" y="1187460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root</a:t>
            </a:r>
            <a:endParaRPr lang="ru-RU" dirty="0"/>
          </a:p>
        </p:txBody>
      </p:sp>
      <p:cxnSp>
        <p:nvCxnSpPr>
          <p:cNvPr id="43" name="Прямая со стрелкой 42"/>
          <p:cNvCxnSpPr>
            <a:stCxn id="41" idx="4"/>
            <a:endCxn id="22" idx="0"/>
          </p:cNvCxnSpPr>
          <p:nvPr/>
        </p:nvCxnSpPr>
        <p:spPr>
          <a:xfrm>
            <a:off x="3831439" y="1677862"/>
            <a:ext cx="236505" cy="72444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937582" y="52199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3923928" y="51479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652069" y="4520363"/>
            <a:ext cx="327694" cy="741726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01410" y="42025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57594" y="39237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3923928" y="23395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3923928" y="212356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4265506" y="305037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5057594" y="369844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5364088" y="49225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3923928" y="4922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2897354" y="4922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3401410" y="39864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3635896" y="75541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652069" y="3584259"/>
            <a:ext cx="646772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148013" y="4520363"/>
            <a:ext cx="300386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256660" y="3338408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406218" y="427451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902162" y="521061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5062402" y="398648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4256660" y="326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2888508" y="513860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502511" y="3584259"/>
            <a:ext cx="602072" cy="44440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923928" y="240230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77742" y="52199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5364088" y="51479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ru-RU" dirty="0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308253" y="4232331"/>
            <a:ext cx="199851" cy="978285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4061117" y="2699628"/>
            <a:ext cx="237724" cy="680961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Овал 40"/>
          <p:cNvSpPr/>
          <p:nvPr/>
        </p:nvSpPr>
        <p:spPr>
          <a:xfrm>
            <a:off x="3550234" y="1115452"/>
            <a:ext cx="562410" cy="56241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3550234" y="1187460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root</a:t>
            </a:r>
            <a:endParaRPr lang="ru-RU" dirty="0"/>
          </a:p>
        </p:txBody>
      </p:sp>
      <p:cxnSp>
        <p:nvCxnSpPr>
          <p:cNvPr id="43" name="Прямая со стрелкой 42"/>
          <p:cNvCxnSpPr>
            <a:stCxn id="41" idx="4"/>
            <a:endCxn id="22" idx="0"/>
          </p:cNvCxnSpPr>
          <p:nvPr/>
        </p:nvCxnSpPr>
        <p:spPr>
          <a:xfrm>
            <a:off x="3831439" y="1677862"/>
            <a:ext cx="236505" cy="72444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937582" y="52199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3923928" y="51479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652069" y="4520363"/>
            <a:ext cx="327694" cy="741726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01410" y="42025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57594" y="39237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3923928" y="23395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3923928" y="212356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4265506" y="305037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5057594" y="369844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5364088" y="49225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3923928" y="4922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2897354" y="4922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3401410" y="39864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3635896" y="75541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652069" y="3584259"/>
            <a:ext cx="646772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148013" y="4520363"/>
            <a:ext cx="300386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256660" y="3338408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406218" y="427451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902162" y="521061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5062402" y="398648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4256660" y="326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2888508" y="513860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502511" y="3584259"/>
            <a:ext cx="602072" cy="44440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923928" y="240230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77742" y="5219908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5364088" y="51479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ru-RU" dirty="0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308253" y="4232331"/>
            <a:ext cx="199851" cy="978285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4061117" y="2699628"/>
            <a:ext cx="237724" cy="680961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Овал 40"/>
          <p:cNvSpPr/>
          <p:nvPr/>
        </p:nvSpPr>
        <p:spPr>
          <a:xfrm>
            <a:off x="3550234" y="1115452"/>
            <a:ext cx="562410" cy="56241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3550234" y="1187460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root</a:t>
            </a:r>
            <a:endParaRPr lang="ru-RU" dirty="0"/>
          </a:p>
        </p:txBody>
      </p:sp>
      <p:cxnSp>
        <p:nvCxnSpPr>
          <p:cNvPr id="43" name="Прямая со стрелкой 42"/>
          <p:cNvCxnSpPr>
            <a:stCxn id="41" idx="4"/>
            <a:endCxn id="22" idx="0"/>
          </p:cNvCxnSpPr>
          <p:nvPr/>
        </p:nvCxnSpPr>
        <p:spPr>
          <a:xfrm>
            <a:off x="3831439" y="1677862"/>
            <a:ext cx="236505" cy="72444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937582" y="52199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3923928" y="51479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652069" y="4520363"/>
            <a:ext cx="327694" cy="741726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01410" y="42025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57594" y="39237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3923928" y="23395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3923928" y="212356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4265506" y="305037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5057594" y="369844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5364088" y="492258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3923928" y="4922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2897354" y="4922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3401410" y="39864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3635896" y="75541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652069" y="3584259"/>
            <a:ext cx="646772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148013" y="4520363"/>
            <a:ext cx="300386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256660" y="3338408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406218" y="427451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902162" y="521061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5062402" y="3986480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4256660" y="326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2888508" y="513860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502511" y="3584259"/>
            <a:ext cx="602072" cy="44440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923928" y="240230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77742" y="52199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5364088" y="51479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308253" y="4232331"/>
            <a:ext cx="199851" cy="978285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4061117" y="2699628"/>
            <a:ext cx="237724" cy="680961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Овал 40"/>
          <p:cNvSpPr/>
          <p:nvPr/>
        </p:nvSpPr>
        <p:spPr>
          <a:xfrm>
            <a:off x="3550234" y="1115452"/>
            <a:ext cx="562410" cy="56241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3550234" y="1187460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root</a:t>
            </a:r>
            <a:endParaRPr lang="ru-RU" dirty="0"/>
          </a:p>
        </p:txBody>
      </p:sp>
      <p:cxnSp>
        <p:nvCxnSpPr>
          <p:cNvPr id="43" name="Прямая со стрелкой 42"/>
          <p:cNvCxnSpPr>
            <a:stCxn id="41" idx="4"/>
            <a:endCxn id="22" idx="0"/>
          </p:cNvCxnSpPr>
          <p:nvPr/>
        </p:nvCxnSpPr>
        <p:spPr>
          <a:xfrm>
            <a:off x="3831439" y="1677862"/>
            <a:ext cx="236505" cy="72444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937582" y="52199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3923928" y="51479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652069" y="4520363"/>
            <a:ext cx="327694" cy="741726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01410" y="42025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57594" y="39237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3923928" y="23395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3923928" y="212356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4265506" y="305037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5057594" y="369844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5364088" y="4922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3923928" y="4922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2897354" y="4922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3401410" y="39864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3635896" y="75541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652069" y="3584259"/>
            <a:ext cx="646772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148013" y="4520363"/>
            <a:ext cx="300386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256660" y="3338408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406218" y="427451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902162" y="521061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5062402" y="398648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4256660" y="326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2888508" y="513860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502511" y="3584259"/>
            <a:ext cx="602072" cy="44440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923928" y="240230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77742" y="52199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5364088" y="51479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308253" y="4232331"/>
            <a:ext cx="199851" cy="978285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4061117" y="2699628"/>
            <a:ext cx="237724" cy="680961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Овал 40"/>
          <p:cNvSpPr/>
          <p:nvPr/>
        </p:nvSpPr>
        <p:spPr>
          <a:xfrm>
            <a:off x="3550234" y="1115452"/>
            <a:ext cx="562410" cy="56241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3550234" y="1187460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root</a:t>
            </a:r>
            <a:endParaRPr lang="ru-RU" dirty="0"/>
          </a:p>
        </p:txBody>
      </p:sp>
      <p:cxnSp>
        <p:nvCxnSpPr>
          <p:cNvPr id="43" name="Прямая со стрелкой 42"/>
          <p:cNvCxnSpPr>
            <a:stCxn id="41" idx="4"/>
            <a:endCxn id="22" idx="0"/>
          </p:cNvCxnSpPr>
          <p:nvPr/>
        </p:nvCxnSpPr>
        <p:spPr>
          <a:xfrm>
            <a:off x="3831439" y="1677862"/>
            <a:ext cx="236505" cy="72444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937582" y="52199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3923928" y="51479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652069" y="4520363"/>
            <a:ext cx="327694" cy="741726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01410" y="42025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57594" y="39237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923928" y="23395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3923928" y="212356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4265506" y="305037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5057594" y="3698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5364088" y="4922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3923928" y="4922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2897354" y="4922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3401410" y="39864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3635896" y="75541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652069" y="3584259"/>
            <a:ext cx="646772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148013" y="4520363"/>
            <a:ext cx="300386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256660" y="33384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406218" y="427451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902162" y="521061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5062402" y="398648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4256660" y="326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88508" y="513860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502511" y="3584259"/>
            <a:ext cx="602072" cy="44440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923928" y="2402304"/>
            <a:ext cx="288032" cy="288032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77742" y="52199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5364088" y="51479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308253" y="4232331"/>
            <a:ext cx="199851" cy="978285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4061117" y="2699628"/>
            <a:ext cx="237724" cy="680961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Овал 40"/>
          <p:cNvSpPr/>
          <p:nvPr/>
        </p:nvSpPr>
        <p:spPr>
          <a:xfrm>
            <a:off x="3550234" y="1115452"/>
            <a:ext cx="562410" cy="56241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3550234" y="1187460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root</a:t>
            </a:r>
            <a:endParaRPr lang="ru-RU" dirty="0"/>
          </a:p>
        </p:txBody>
      </p:sp>
      <p:cxnSp>
        <p:nvCxnSpPr>
          <p:cNvPr id="43" name="Прямая со стрелкой 42"/>
          <p:cNvCxnSpPr>
            <a:stCxn id="41" idx="4"/>
            <a:endCxn id="22" idx="0"/>
          </p:cNvCxnSpPr>
          <p:nvPr/>
        </p:nvCxnSpPr>
        <p:spPr>
          <a:xfrm>
            <a:off x="3831439" y="1677862"/>
            <a:ext cx="236505" cy="72444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937582" y="52199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3923928" y="51479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652069" y="4520363"/>
            <a:ext cx="327694" cy="741726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01410" y="42025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57594" y="39237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923928" y="23395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3923928" y="212356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4265506" y="30503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5057594" y="3698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5364088" y="4922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3923928" y="4922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2897354" y="4922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3401410" y="39864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3635896" y="75541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652069" y="3584259"/>
            <a:ext cx="646772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148013" y="4520363"/>
            <a:ext cx="300386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256660" y="33384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406218" y="427451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902162" y="521061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5062402" y="398648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4256660" y="326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88508" y="513860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502511" y="3584259"/>
            <a:ext cx="602072" cy="44440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923928" y="240230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77742" y="52199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5364088" y="51479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308253" y="4232331"/>
            <a:ext cx="199851" cy="978285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4061117" y="2699628"/>
            <a:ext cx="237724" cy="680961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Овал 40"/>
          <p:cNvSpPr/>
          <p:nvPr/>
        </p:nvSpPr>
        <p:spPr>
          <a:xfrm>
            <a:off x="3550234" y="1115452"/>
            <a:ext cx="562410" cy="56241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3550234" y="1187460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root</a:t>
            </a:r>
            <a:endParaRPr lang="ru-RU" dirty="0"/>
          </a:p>
        </p:txBody>
      </p:sp>
      <p:cxnSp>
        <p:nvCxnSpPr>
          <p:cNvPr id="43" name="Прямая со стрелкой 42"/>
          <p:cNvCxnSpPr>
            <a:stCxn id="41" idx="4"/>
            <a:endCxn id="22" idx="0"/>
          </p:cNvCxnSpPr>
          <p:nvPr/>
        </p:nvCxnSpPr>
        <p:spPr>
          <a:xfrm>
            <a:off x="3831439" y="1677862"/>
            <a:ext cx="236505" cy="72444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937582" y="52199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3923928" y="51479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652069" y="4520363"/>
            <a:ext cx="327694" cy="741726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01410" y="42025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57594" y="39237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923928" y="23395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923928" y="21235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4265506" y="30503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5057594" y="3698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5364088" y="4922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3923928" y="4922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2897354" y="4922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3401410" y="39864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3635896" y="75541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∞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652069" y="3584259"/>
            <a:ext cx="646772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148013" y="4520363"/>
            <a:ext cx="300386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256660" y="33384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406218" y="427451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902162" y="521061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5062402" y="398648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4256660" y="3266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88508" y="513860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502511" y="3584259"/>
            <a:ext cx="602072" cy="44440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923928" y="240230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77742" y="52199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5364088" y="51479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308253" y="4232331"/>
            <a:ext cx="199851" cy="978285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4061117" y="2699628"/>
            <a:ext cx="237724" cy="680961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Овал 40"/>
          <p:cNvSpPr/>
          <p:nvPr/>
        </p:nvSpPr>
        <p:spPr>
          <a:xfrm>
            <a:off x="3550234" y="1115452"/>
            <a:ext cx="562410" cy="5624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3550234" y="1187460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root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43" name="Прямая со стрелкой 42"/>
          <p:cNvCxnSpPr>
            <a:stCxn id="41" idx="4"/>
            <a:endCxn id="22" idx="0"/>
          </p:cNvCxnSpPr>
          <p:nvPr/>
        </p:nvCxnSpPr>
        <p:spPr>
          <a:xfrm>
            <a:off x="3831439" y="1677862"/>
            <a:ext cx="236505" cy="72444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937582" y="52199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/>
          <p:cNvSpPr txBox="1"/>
          <p:nvPr/>
        </p:nvSpPr>
        <p:spPr>
          <a:xfrm>
            <a:off x="3923928" y="51479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652069" y="4520363"/>
            <a:ext cx="327694" cy="741726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01410" y="420250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57594" y="39237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923928" y="23395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923928" y="21235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4265506" y="30503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5057594" y="36984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5364088" y="4922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3923928" y="4922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2897354" y="49225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3401410" y="39864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3635896" y="7554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55776" y="332656"/>
            <a:ext cx="6192688" cy="5976663"/>
          </a:xfrm>
        </p:spPr>
        <p:txBody>
          <a:bodyPr>
            <a:noAutofit/>
          </a:bodyPr>
          <a:lstStyle/>
          <a:p>
            <a:pPr algn="l"/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Topological_sort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(G(V,E))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color[u] ⟵ WHITE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order[v] ⟵ 0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time ⟵ |V|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if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color[u] = WHITE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then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	</a:t>
            </a:r>
            <a:r>
              <a:rPr lang="en-US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DFS_Visit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(u)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 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DFS</a:t>
            </a:r>
            <a:r>
              <a:rPr lang="ru-RU" sz="1600" dirty="0" smtClean="0"/>
              <a:t>_</a:t>
            </a:r>
            <a:r>
              <a:rPr lang="en-US" sz="1600" dirty="0" smtClean="0"/>
              <a:t>Visit</a:t>
            </a:r>
            <a:r>
              <a:rPr lang="ru-RU" sz="1600" dirty="0" smtClean="0"/>
              <a:t> (</a:t>
            </a:r>
            <a:r>
              <a:rPr lang="en-US" sz="1600" dirty="0" smtClean="0"/>
              <a:t>u</a:t>
            </a:r>
            <a:r>
              <a:rPr lang="ru-RU" sz="1600" dirty="0" smtClean="0"/>
              <a:t>)</a:t>
            </a:r>
            <a:br>
              <a:rPr lang="ru-RU" sz="1600" dirty="0" smtClean="0"/>
            </a:br>
            <a:r>
              <a:rPr lang="en-US" sz="1600" dirty="0" smtClean="0"/>
              <a:t>color[u] ⟵ BLACK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b="1" dirty="0" smtClean="0"/>
              <a:t>for</a:t>
            </a:r>
            <a:r>
              <a:rPr lang="ru-RU" sz="1600" dirty="0" smtClean="0"/>
              <a:t> (для) каждой </a:t>
            </a:r>
            <a:r>
              <a:rPr lang="en-US" sz="1600" dirty="0" smtClean="0"/>
              <a:t>v</a:t>
            </a:r>
            <a:r>
              <a:rPr lang="ru-RU" sz="1600" dirty="0" smtClean="0"/>
              <a:t> ∈ </a:t>
            </a:r>
            <a:r>
              <a:rPr lang="en-US" sz="1600" dirty="0" err="1" smtClean="0"/>
              <a:t>Adj</a:t>
            </a:r>
            <a:r>
              <a:rPr lang="en-US" sz="1600" dirty="0" smtClean="0"/>
              <a:t>[u]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	</a:t>
            </a:r>
            <a:r>
              <a:rPr lang="en-US" sz="1600" b="1" dirty="0" smtClean="0"/>
              <a:t>if</a:t>
            </a:r>
            <a:r>
              <a:rPr lang="en-US" sz="1600" dirty="0" smtClean="0"/>
              <a:t> color[v] = WHITE </a:t>
            </a:r>
            <a:r>
              <a:rPr lang="en-US" sz="1600" b="1" dirty="0" smtClean="0"/>
              <a:t>then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</a:t>
            </a:r>
            <a:r>
              <a:rPr lang="en-US" sz="1600" dirty="0" err="1" smtClean="0"/>
              <a:t>DFS_Visit</a:t>
            </a:r>
            <a:r>
              <a:rPr lang="en-US" sz="1600" dirty="0" smtClean="0"/>
              <a:t>(v)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time ⟵time-1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order[</a:t>
            </a:r>
            <a:r>
              <a:rPr lang="en-US" sz="1600" dirty="0"/>
              <a:t>u</a:t>
            </a:r>
            <a:r>
              <a:rPr lang="en-US" sz="1600" dirty="0" smtClean="0"/>
              <a:t>] </a:t>
            </a:r>
            <a:r>
              <a:rPr lang="en-US" sz="1600" dirty="0" smtClean="0"/>
              <a:t>⟵ time</a:t>
            </a:r>
            <a:endParaRPr lang="ru-RU" sz="1600" dirty="0"/>
          </a:p>
        </p:txBody>
      </p:sp>
      <p:cxnSp>
        <p:nvCxnSpPr>
          <p:cNvPr id="23" name="Прямая со стрелкой 22"/>
          <p:cNvCxnSpPr>
            <a:stCxn id="29" idx="3"/>
            <a:endCxn id="30" idx="7"/>
          </p:cNvCxnSpPr>
          <p:nvPr/>
        </p:nvCxnSpPr>
        <p:spPr>
          <a:xfrm flipH="1">
            <a:off x="6775721" y="3521543"/>
            <a:ext cx="646772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>
            <a:stCxn id="30" idx="3"/>
            <a:endCxn id="32" idx="7"/>
          </p:cNvCxnSpPr>
          <p:nvPr/>
        </p:nvCxnSpPr>
        <p:spPr>
          <a:xfrm flipH="1">
            <a:off x="6271665" y="4457647"/>
            <a:ext cx="300386" cy="732434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Овал 28"/>
          <p:cNvSpPr/>
          <p:nvPr/>
        </p:nvSpPr>
        <p:spPr>
          <a:xfrm>
            <a:off x="7380312" y="32756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6529870" y="42117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6025814" y="51479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/>
          <p:cNvSpPr/>
          <p:nvPr/>
        </p:nvSpPr>
        <p:spPr>
          <a:xfrm>
            <a:off x="8186054" y="39237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/>
          <p:cNvSpPr txBox="1"/>
          <p:nvPr/>
        </p:nvSpPr>
        <p:spPr>
          <a:xfrm>
            <a:off x="7380312" y="3203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012160" y="507589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36" name="Прямая со стрелкой 35"/>
          <p:cNvCxnSpPr>
            <a:stCxn id="29" idx="5"/>
            <a:endCxn id="33" idx="1"/>
          </p:cNvCxnSpPr>
          <p:nvPr/>
        </p:nvCxnSpPr>
        <p:spPr>
          <a:xfrm>
            <a:off x="7626163" y="3521543"/>
            <a:ext cx="602072" cy="44440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Овал 36"/>
          <p:cNvSpPr/>
          <p:nvPr/>
        </p:nvSpPr>
        <p:spPr>
          <a:xfrm>
            <a:off x="7047580" y="233958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/>
          <p:cNvSpPr/>
          <p:nvPr/>
        </p:nvSpPr>
        <p:spPr>
          <a:xfrm>
            <a:off x="8501394" y="51571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/>
          <p:cNvSpPr txBox="1"/>
          <p:nvPr/>
        </p:nvSpPr>
        <p:spPr>
          <a:xfrm>
            <a:off x="8487740" y="50851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44" name="Прямая со стрелкой 43"/>
          <p:cNvCxnSpPr>
            <a:stCxn id="33" idx="5"/>
          </p:cNvCxnSpPr>
          <p:nvPr/>
        </p:nvCxnSpPr>
        <p:spPr>
          <a:xfrm>
            <a:off x="8431905" y="4169615"/>
            <a:ext cx="199851" cy="978285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/>
          <p:cNvCxnSpPr>
            <a:endCxn id="29" idx="1"/>
          </p:cNvCxnSpPr>
          <p:nvPr/>
        </p:nvCxnSpPr>
        <p:spPr>
          <a:xfrm>
            <a:off x="7184769" y="2636912"/>
            <a:ext cx="237724" cy="680961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Овал 45"/>
          <p:cNvSpPr/>
          <p:nvPr/>
        </p:nvSpPr>
        <p:spPr>
          <a:xfrm>
            <a:off x="6673886" y="1052736"/>
            <a:ext cx="562410" cy="5624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/>
          <p:cNvSpPr txBox="1"/>
          <p:nvPr/>
        </p:nvSpPr>
        <p:spPr>
          <a:xfrm>
            <a:off x="6673886" y="1124744"/>
            <a:ext cx="581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root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48" name="Прямая со стрелкой 47"/>
          <p:cNvCxnSpPr>
            <a:stCxn id="46" idx="4"/>
            <a:endCxn id="37" idx="0"/>
          </p:cNvCxnSpPr>
          <p:nvPr/>
        </p:nvCxnSpPr>
        <p:spPr>
          <a:xfrm>
            <a:off x="6955091" y="1615146"/>
            <a:ext cx="236505" cy="724442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Овал 48"/>
          <p:cNvSpPr/>
          <p:nvPr/>
        </p:nvSpPr>
        <p:spPr>
          <a:xfrm>
            <a:off x="7061234" y="515719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TextBox 49"/>
          <p:cNvSpPr txBox="1"/>
          <p:nvPr/>
        </p:nvSpPr>
        <p:spPr>
          <a:xfrm>
            <a:off x="7047580" y="50851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51" name="Прямая со стрелкой 50"/>
          <p:cNvCxnSpPr>
            <a:stCxn id="49" idx="1"/>
            <a:endCxn id="30" idx="5"/>
          </p:cNvCxnSpPr>
          <p:nvPr/>
        </p:nvCxnSpPr>
        <p:spPr>
          <a:xfrm flipH="1" flipV="1">
            <a:off x="6775721" y="4457647"/>
            <a:ext cx="327694" cy="741726"/>
          </a:xfrm>
          <a:prstGeom prst="straightConnector1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25062" y="41397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181246" y="386104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047580" y="227687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047580" y="20608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56" name="TextBox 55"/>
          <p:cNvSpPr txBox="1"/>
          <p:nvPr/>
        </p:nvSpPr>
        <p:spPr>
          <a:xfrm>
            <a:off x="7389158" y="29876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57" name="TextBox 56"/>
          <p:cNvSpPr txBox="1"/>
          <p:nvPr/>
        </p:nvSpPr>
        <p:spPr>
          <a:xfrm>
            <a:off x="8181246" y="36357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58" name="TextBox 57"/>
          <p:cNvSpPr txBox="1"/>
          <p:nvPr/>
        </p:nvSpPr>
        <p:spPr>
          <a:xfrm>
            <a:off x="8487740" y="48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59" name="TextBox 58"/>
          <p:cNvSpPr txBox="1"/>
          <p:nvPr/>
        </p:nvSpPr>
        <p:spPr>
          <a:xfrm>
            <a:off x="7047580" y="48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</a:t>
            </a:r>
            <a:endParaRPr lang="ru-RU" dirty="0"/>
          </a:p>
        </p:txBody>
      </p:sp>
      <p:sp>
        <p:nvSpPr>
          <p:cNvPr id="60" name="TextBox 59"/>
          <p:cNvSpPr txBox="1"/>
          <p:nvPr/>
        </p:nvSpPr>
        <p:spPr>
          <a:xfrm>
            <a:off x="6021006" y="48598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61" name="TextBox 60"/>
          <p:cNvSpPr txBox="1"/>
          <p:nvPr/>
        </p:nvSpPr>
        <p:spPr>
          <a:xfrm>
            <a:off x="6525062" y="39237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62" name="TextBox 61"/>
          <p:cNvSpPr txBox="1"/>
          <p:nvPr/>
        </p:nvSpPr>
        <p:spPr>
          <a:xfrm>
            <a:off x="6759548" y="6926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Поиск компонент сильной связности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838200" y="1986409"/>
            <a:ext cx="7772400" cy="29547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ru-RU" sz="2000" b="1" dirty="0" smtClean="0"/>
              <a:t>Алгоритм1:</a:t>
            </a: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Делается правильная нумерация (топологическая сортировка).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Граф «транспонируется» и проводится серия поисков в глубину в порядке, определяемом топологической сортировкой.</a:t>
            </a:r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Каждое дерево поиска определяет набор вершин относящихся к одной компоненте сильной связности.</a:t>
            </a: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Поиск </a:t>
            </a:r>
            <a:r>
              <a:rPr lang="ru-RU" sz="2800" b="1" dirty="0" smtClean="0"/>
              <a:t>компонент сильной связности</a:t>
            </a:r>
            <a:r>
              <a:rPr lang="ru-RU" sz="2800" dirty="0" smtClean="0"/>
              <a:t>.</a:t>
            </a:r>
            <a:endParaRPr lang="ru-RU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838200" y="1986409"/>
            <a:ext cx="7772400" cy="29547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ru-RU" sz="2000" b="1" dirty="0" smtClean="0"/>
              <a:t>Доказательство:</a:t>
            </a:r>
            <a:r>
              <a:rPr lang="ru-RU" sz="2000" dirty="0" smtClean="0"/>
              <a:t> </a:t>
            </a:r>
            <a:r>
              <a:rPr lang="ru-RU" sz="2000" dirty="0" smtClean="0">
                <a:solidFill>
                  <a:srgbClr val="FF0000"/>
                </a:solidFill>
              </a:rPr>
              <a:t>???</a:t>
            </a: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Поиск </a:t>
            </a:r>
            <a:r>
              <a:rPr lang="ru-RU" sz="2800" b="1" dirty="0" smtClean="0"/>
              <a:t>компонент сильной связности</a:t>
            </a:r>
            <a:r>
              <a:rPr lang="ru-RU" sz="2800" dirty="0" smtClean="0"/>
              <a:t>.</a:t>
            </a:r>
            <a:endParaRPr lang="ru-RU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838200" y="1986409"/>
            <a:ext cx="7772400" cy="29547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ru-RU" sz="2000" b="1" dirty="0" smtClean="0"/>
              <a:t>Алгоритм2:</a:t>
            </a: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Строится матрица достижимости.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По матрице достижимости определяются компоненты (</a:t>
            </a:r>
            <a:r>
              <a:rPr lang="ru-RU" sz="2000" b="1" dirty="0" smtClean="0"/>
              <a:t>нужны пояснения</a:t>
            </a:r>
            <a:r>
              <a:rPr lang="ru-RU" sz="2000" dirty="0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Поиск мостов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3923928" y="22768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3995936" y="314096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555776" y="4149080"/>
            <a:ext cx="3312368" cy="2448272"/>
          </a:xfrm>
          <a:prstGeom prst="round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stCxn id="5" idx="3"/>
            <a:endCxn id="8" idx="7"/>
          </p:cNvCxnSpPr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8" idx="3"/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5" idx="5"/>
            <a:endCxn id="10" idx="1"/>
          </p:cNvCxnSpPr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10" idx="4"/>
            <a:endCxn id="11" idx="0"/>
          </p:cNvCxnSpPr>
          <p:nvPr/>
        </p:nvCxnSpPr>
        <p:spPr>
          <a:xfrm>
            <a:off x="3995936" y="1844824"/>
            <a:ext cx="72008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>
            <a:stCxn id="11" idx="4"/>
            <a:endCxn id="12" idx="0"/>
          </p:cNvCxnSpPr>
          <p:nvPr/>
        </p:nvCxnSpPr>
        <p:spPr>
          <a:xfrm>
            <a:off x="4067944" y="2564904"/>
            <a:ext cx="72008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>
            <a:off x="4139952" y="3429000"/>
            <a:ext cx="72008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3995936" y="306896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</a:t>
            </a:r>
            <a:endParaRPr lang="ru-RU" dirty="0"/>
          </a:p>
        </p:txBody>
      </p:sp>
      <p:sp>
        <p:nvSpPr>
          <p:cNvPr id="82" name="TextBox 81"/>
          <p:cNvSpPr txBox="1"/>
          <p:nvPr/>
        </p:nvSpPr>
        <p:spPr>
          <a:xfrm>
            <a:off x="3923928" y="2204864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</a:t>
            </a:r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4067944" y="400506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TextBox 79"/>
          <p:cNvSpPr txBox="1"/>
          <p:nvPr/>
        </p:nvSpPr>
        <p:spPr>
          <a:xfrm>
            <a:off x="4067944" y="3933056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3923928" y="22768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3995936" y="314096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555776" y="4149080"/>
            <a:ext cx="3312368" cy="2448272"/>
          </a:xfrm>
          <a:prstGeom prst="round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stCxn id="5" idx="3"/>
            <a:endCxn id="8" idx="7"/>
          </p:cNvCxnSpPr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8" idx="3"/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5" idx="5"/>
            <a:endCxn id="10" idx="1"/>
          </p:cNvCxnSpPr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10" idx="4"/>
            <a:endCxn id="11" idx="0"/>
          </p:cNvCxnSpPr>
          <p:nvPr/>
        </p:nvCxnSpPr>
        <p:spPr>
          <a:xfrm>
            <a:off x="3995936" y="1844824"/>
            <a:ext cx="72008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>
            <a:stCxn id="11" idx="4"/>
            <a:endCxn id="12" idx="0"/>
          </p:cNvCxnSpPr>
          <p:nvPr/>
        </p:nvCxnSpPr>
        <p:spPr>
          <a:xfrm>
            <a:off x="4067944" y="2564904"/>
            <a:ext cx="72008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>
            <a:off x="4139952" y="3429000"/>
            <a:ext cx="72008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3995936" y="306896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</a:t>
            </a:r>
            <a:endParaRPr lang="ru-RU" dirty="0"/>
          </a:p>
        </p:txBody>
      </p:sp>
      <p:sp>
        <p:nvSpPr>
          <p:cNvPr id="82" name="TextBox 81"/>
          <p:cNvSpPr txBox="1"/>
          <p:nvPr/>
        </p:nvSpPr>
        <p:spPr>
          <a:xfrm>
            <a:off x="3923928" y="2204864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</a:t>
            </a:r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4067944" y="400506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TextBox 79"/>
          <p:cNvSpPr txBox="1"/>
          <p:nvPr/>
        </p:nvSpPr>
        <p:spPr>
          <a:xfrm>
            <a:off x="4067944" y="3933056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</a:t>
            </a:r>
            <a:endParaRPr lang="ru-RU" dirty="0"/>
          </a:p>
        </p:txBody>
      </p:sp>
      <p:cxnSp>
        <p:nvCxnSpPr>
          <p:cNvPr id="19" name="Shape 18"/>
          <p:cNvCxnSpPr>
            <a:stCxn id="21" idx="0"/>
          </p:cNvCxnSpPr>
          <p:nvPr/>
        </p:nvCxnSpPr>
        <p:spPr>
          <a:xfrm rot="16200000" flipV="1">
            <a:off x="3347864" y="3284984"/>
            <a:ext cx="2952328" cy="1224136"/>
          </a:xfrm>
          <a:prstGeom prst="curved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Овал 20"/>
          <p:cNvSpPr/>
          <p:nvPr/>
        </p:nvSpPr>
        <p:spPr>
          <a:xfrm>
            <a:off x="5292080" y="537321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/>
          <p:cNvSpPr txBox="1"/>
          <p:nvPr/>
        </p:nvSpPr>
        <p:spPr>
          <a:xfrm>
            <a:off x="5292080" y="5301208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3923928" y="22768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3995936" y="314096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555776" y="4149080"/>
            <a:ext cx="3312368" cy="2448272"/>
          </a:xfrm>
          <a:prstGeom prst="round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stCxn id="5" idx="3"/>
            <a:endCxn id="8" idx="7"/>
          </p:cNvCxnSpPr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8" idx="3"/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5" idx="5"/>
            <a:endCxn id="10" idx="1"/>
          </p:cNvCxnSpPr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10" idx="4"/>
            <a:endCxn id="11" idx="0"/>
          </p:cNvCxnSpPr>
          <p:nvPr/>
        </p:nvCxnSpPr>
        <p:spPr>
          <a:xfrm>
            <a:off x="3995936" y="1844824"/>
            <a:ext cx="72008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>
            <a:stCxn id="11" idx="4"/>
            <a:endCxn id="12" idx="0"/>
          </p:cNvCxnSpPr>
          <p:nvPr/>
        </p:nvCxnSpPr>
        <p:spPr>
          <a:xfrm>
            <a:off x="4067944" y="2564904"/>
            <a:ext cx="72008" cy="576064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>
            <a:off x="4139952" y="3429000"/>
            <a:ext cx="72008" cy="576064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3995936" y="306896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</a:t>
            </a:r>
            <a:endParaRPr lang="ru-RU" dirty="0"/>
          </a:p>
        </p:txBody>
      </p:sp>
      <p:sp>
        <p:nvSpPr>
          <p:cNvPr id="82" name="TextBox 81"/>
          <p:cNvSpPr txBox="1"/>
          <p:nvPr/>
        </p:nvSpPr>
        <p:spPr>
          <a:xfrm>
            <a:off x="3923928" y="2204864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</a:t>
            </a:r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4067944" y="400506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TextBox 79"/>
          <p:cNvSpPr txBox="1"/>
          <p:nvPr/>
        </p:nvSpPr>
        <p:spPr>
          <a:xfrm>
            <a:off x="4067944" y="3933056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</a:t>
            </a:r>
            <a:endParaRPr lang="ru-RU" dirty="0"/>
          </a:p>
        </p:txBody>
      </p:sp>
      <p:cxnSp>
        <p:nvCxnSpPr>
          <p:cNvPr id="19" name="Shape 18"/>
          <p:cNvCxnSpPr>
            <a:stCxn id="21" idx="0"/>
          </p:cNvCxnSpPr>
          <p:nvPr/>
        </p:nvCxnSpPr>
        <p:spPr>
          <a:xfrm rot="16200000" flipV="1">
            <a:off x="3347864" y="3284984"/>
            <a:ext cx="2952328" cy="1224136"/>
          </a:xfrm>
          <a:prstGeom prst="curvedConnector2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Овал 20"/>
          <p:cNvSpPr/>
          <p:nvPr/>
        </p:nvSpPr>
        <p:spPr>
          <a:xfrm>
            <a:off x="5292080" y="537321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/>
          <p:cNvSpPr txBox="1"/>
          <p:nvPr/>
        </p:nvSpPr>
        <p:spPr>
          <a:xfrm>
            <a:off x="5292080" y="5301208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ru-RU" dirty="0"/>
          </a:p>
        </p:txBody>
      </p:sp>
      <p:cxnSp>
        <p:nvCxnSpPr>
          <p:cNvPr id="26" name="Shape 25"/>
          <p:cNvCxnSpPr>
            <a:stCxn id="80" idx="2"/>
            <a:endCxn id="21" idx="2"/>
          </p:cNvCxnSpPr>
          <p:nvPr/>
        </p:nvCxnSpPr>
        <p:spPr>
          <a:xfrm rot="16200000" flipH="1">
            <a:off x="4144805" y="4369957"/>
            <a:ext cx="1214844" cy="1079705"/>
          </a:xfrm>
          <a:prstGeom prst="curvedConnector2">
            <a:avLst/>
          </a:prstGeom>
          <a:ln w="38100">
            <a:solidFill>
              <a:schemeClr val="accent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3923928" y="22768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3995936" y="314096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555776" y="4149080"/>
            <a:ext cx="3312368" cy="2448272"/>
          </a:xfrm>
          <a:prstGeom prst="round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stCxn id="5" idx="3"/>
            <a:endCxn id="8" idx="7"/>
          </p:cNvCxnSpPr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8" idx="3"/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5" idx="5"/>
            <a:endCxn id="10" idx="1"/>
          </p:cNvCxnSpPr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10" idx="4"/>
            <a:endCxn id="11" idx="0"/>
          </p:cNvCxnSpPr>
          <p:nvPr/>
        </p:nvCxnSpPr>
        <p:spPr>
          <a:xfrm>
            <a:off x="3995936" y="1844824"/>
            <a:ext cx="72008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>
            <a:stCxn id="11" idx="4"/>
            <a:endCxn id="12" idx="0"/>
          </p:cNvCxnSpPr>
          <p:nvPr/>
        </p:nvCxnSpPr>
        <p:spPr>
          <a:xfrm>
            <a:off x="4067944" y="2564904"/>
            <a:ext cx="72008" cy="576064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>
            <a:off x="4139952" y="3429000"/>
            <a:ext cx="72008" cy="576064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3995936" y="306896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</a:t>
            </a:r>
            <a:endParaRPr lang="ru-RU" dirty="0"/>
          </a:p>
        </p:txBody>
      </p:sp>
      <p:sp>
        <p:nvSpPr>
          <p:cNvPr id="82" name="TextBox 81"/>
          <p:cNvSpPr txBox="1"/>
          <p:nvPr/>
        </p:nvSpPr>
        <p:spPr>
          <a:xfrm>
            <a:off x="3923928" y="2204864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</a:t>
            </a:r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4067944" y="400506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TextBox 79"/>
          <p:cNvSpPr txBox="1"/>
          <p:nvPr/>
        </p:nvSpPr>
        <p:spPr>
          <a:xfrm>
            <a:off x="4067944" y="3933056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</a:t>
            </a:r>
            <a:endParaRPr lang="ru-RU" dirty="0"/>
          </a:p>
        </p:txBody>
      </p:sp>
      <p:cxnSp>
        <p:nvCxnSpPr>
          <p:cNvPr id="19" name="Shape 18"/>
          <p:cNvCxnSpPr>
            <a:stCxn id="21" idx="0"/>
          </p:cNvCxnSpPr>
          <p:nvPr/>
        </p:nvCxnSpPr>
        <p:spPr>
          <a:xfrm rot="16200000" flipV="1">
            <a:off x="3347864" y="3284984"/>
            <a:ext cx="2952328" cy="1224136"/>
          </a:xfrm>
          <a:prstGeom prst="curvedConnector2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Овал 20"/>
          <p:cNvSpPr/>
          <p:nvPr/>
        </p:nvSpPr>
        <p:spPr>
          <a:xfrm>
            <a:off x="5292080" y="537321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/>
          <p:cNvSpPr txBox="1"/>
          <p:nvPr/>
        </p:nvSpPr>
        <p:spPr>
          <a:xfrm>
            <a:off x="5292080" y="5301208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ru-RU" dirty="0"/>
          </a:p>
        </p:txBody>
      </p:sp>
      <p:cxnSp>
        <p:nvCxnSpPr>
          <p:cNvPr id="26" name="Shape 25"/>
          <p:cNvCxnSpPr>
            <a:stCxn id="80" idx="2"/>
            <a:endCxn id="21" idx="2"/>
          </p:cNvCxnSpPr>
          <p:nvPr/>
        </p:nvCxnSpPr>
        <p:spPr>
          <a:xfrm rot="16200000" flipH="1">
            <a:off x="4144805" y="4369957"/>
            <a:ext cx="1214844" cy="1079705"/>
          </a:xfrm>
          <a:prstGeom prst="curvedConnector2">
            <a:avLst/>
          </a:prstGeom>
          <a:ln w="38100">
            <a:solidFill>
              <a:srgbClr val="00B05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flipH="1">
            <a:off x="4211960" y="3429000"/>
            <a:ext cx="1080120" cy="13681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4067944" y="3429000"/>
            <a:ext cx="1440160" cy="12241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3923928" y="22768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3995936" y="314096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555776" y="4149080"/>
            <a:ext cx="3312368" cy="2448272"/>
          </a:xfrm>
          <a:prstGeom prst="round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stCxn id="5" idx="3"/>
            <a:endCxn id="8" idx="7"/>
          </p:cNvCxnSpPr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8" idx="3"/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5" idx="5"/>
            <a:endCxn id="10" idx="1"/>
          </p:cNvCxnSpPr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10" idx="4"/>
            <a:endCxn id="11" idx="0"/>
          </p:cNvCxnSpPr>
          <p:nvPr/>
        </p:nvCxnSpPr>
        <p:spPr>
          <a:xfrm>
            <a:off x="3995936" y="1844824"/>
            <a:ext cx="72008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>
            <a:stCxn id="11" idx="4"/>
            <a:endCxn id="12" idx="0"/>
          </p:cNvCxnSpPr>
          <p:nvPr/>
        </p:nvCxnSpPr>
        <p:spPr>
          <a:xfrm>
            <a:off x="4067944" y="2564904"/>
            <a:ext cx="72008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>
            <a:off x="4139952" y="3429000"/>
            <a:ext cx="72008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3995936" y="306896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</a:t>
            </a:r>
            <a:endParaRPr lang="ru-RU" dirty="0"/>
          </a:p>
        </p:txBody>
      </p:sp>
      <p:sp>
        <p:nvSpPr>
          <p:cNvPr id="82" name="TextBox 81"/>
          <p:cNvSpPr txBox="1"/>
          <p:nvPr/>
        </p:nvSpPr>
        <p:spPr>
          <a:xfrm>
            <a:off x="3923928" y="2204864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</a:t>
            </a:r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4067944" y="400506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TextBox 79"/>
          <p:cNvSpPr txBox="1"/>
          <p:nvPr/>
        </p:nvSpPr>
        <p:spPr>
          <a:xfrm>
            <a:off x="4067944" y="3933056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</a:t>
            </a:r>
            <a:endParaRPr lang="ru-RU" dirty="0"/>
          </a:p>
        </p:txBody>
      </p:sp>
      <p:sp>
        <p:nvSpPr>
          <p:cNvPr id="21" name="Овал 20"/>
          <p:cNvSpPr/>
          <p:nvPr/>
        </p:nvSpPr>
        <p:spPr>
          <a:xfrm>
            <a:off x="5292080" y="537321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/>
          <p:cNvSpPr txBox="1"/>
          <p:nvPr/>
        </p:nvSpPr>
        <p:spPr>
          <a:xfrm>
            <a:off x="5292080" y="5301208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ru-RU" dirty="0"/>
          </a:p>
        </p:txBody>
      </p:sp>
      <p:cxnSp>
        <p:nvCxnSpPr>
          <p:cNvPr id="24" name="Shape 87"/>
          <p:cNvCxnSpPr>
            <a:stCxn id="25" idx="0"/>
            <a:endCxn id="27" idx="4"/>
          </p:cNvCxnSpPr>
          <p:nvPr/>
        </p:nvCxnSpPr>
        <p:spPr>
          <a:xfrm rot="5400000" flipH="1" flipV="1">
            <a:off x="4211960" y="3645024"/>
            <a:ext cx="2952328" cy="504056"/>
          </a:xfrm>
          <a:prstGeom prst="curved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5292080" y="537321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/>
          <p:cNvSpPr txBox="1"/>
          <p:nvPr/>
        </p:nvSpPr>
        <p:spPr>
          <a:xfrm>
            <a:off x="5292080" y="5301208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ru-RU" dirty="0"/>
          </a:p>
        </p:txBody>
      </p:sp>
      <p:sp>
        <p:nvSpPr>
          <p:cNvPr id="27" name="Овал 26"/>
          <p:cNvSpPr/>
          <p:nvPr/>
        </p:nvSpPr>
        <p:spPr>
          <a:xfrm>
            <a:off x="5796136" y="213285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6"/>
            <a:endCxn id="27" idx="1"/>
          </p:cNvCxnSpPr>
          <p:nvPr/>
        </p:nvCxnSpPr>
        <p:spPr>
          <a:xfrm>
            <a:off x="4139952" y="1700808"/>
            <a:ext cx="1698365" cy="474229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3923928" y="22768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3995936" y="314096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555776" y="4149080"/>
            <a:ext cx="3312368" cy="2448272"/>
          </a:xfrm>
          <a:prstGeom prst="round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stCxn id="5" idx="3"/>
            <a:endCxn id="8" idx="7"/>
          </p:cNvCxnSpPr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8" idx="3"/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5" idx="5"/>
            <a:endCxn id="10" idx="1"/>
          </p:cNvCxnSpPr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10" idx="4"/>
            <a:endCxn id="11" idx="0"/>
          </p:cNvCxnSpPr>
          <p:nvPr/>
        </p:nvCxnSpPr>
        <p:spPr>
          <a:xfrm>
            <a:off x="3995936" y="1844824"/>
            <a:ext cx="72008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>
            <a:stCxn id="11" idx="4"/>
            <a:endCxn id="12" idx="0"/>
          </p:cNvCxnSpPr>
          <p:nvPr/>
        </p:nvCxnSpPr>
        <p:spPr>
          <a:xfrm>
            <a:off x="4067944" y="2564904"/>
            <a:ext cx="72008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>
            <a:off x="4139952" y="3429000"/>
            <a:ext cx="72008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3995936" y="306896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</a:t>
            </a:r>
            <a:endParaRPr lang="ru-RU" dirty="0"/>
          </a:p>
        </p:txBody>
      </p:sp>
      <p:sp>
        <p:nvSpPr>
          <p:cNvPr id="82" name="TextBox 81"/>
          <p:cNvSpPr txBox="1"/>
          <p:nvPr/>
        </p:nvSpPr>
        <p:spPr>
          <a:xfrm>
            <a:off x="3923928" y="2204864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</a:t>
            </a:r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4067944" y="400506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TextBox 79"/>
          <p:cNvSpPr txBox="1"/>
          <p:nvPr/>
        </p:nvSpPr>
        <p:spPr>
          <a:xfrm>
            <a:off x="4067944" y="3933056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</a:t>
            </a:r>
            <a:endParaRPr lang="ru-RU" dirty="0"/>
          </a:p>
        </p:txBody>
      </p:sp>
      <p:sp>
        <p:nvSpPr>
          <p:cNvPr id="21" name="Овал 20"/>
          <p:cNvSpPr/>
          <p:nvPr/>
        </p:nvSpPr>
        <p:spPr>
          <a:xfrm>
            <a:off x="5292080" y="537321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/>
          <p:cNvSpPr txBox="1"/>
          <p:nvPr/>
        </p:nvSpPr>
        <p:spPr>
          <a:xfrm>
            <a:off x="5292080" y="5301208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ru-RU" dirty="0"/>
          </a:p>
        </p:txBody>
      </p:sp>
      <p:cxnSp>
        <p:nvCxnSpPr>
          <p:cNvPr id="24" name="Shape 87"/>
          <p:cNvCxnSpPr>
            <a:stCxn id="25" idx="0"/>
            <a:endCxn id="27" idx="4"/>
          </p:cNvCxnSpPr>
          <p:nvPr/>
        </p:nvCxnSpPr>
        <p:spPr>
          <a:xfrm rot="5400000" flipH="1" flipV="1">
            <a:off x="4211960" y="3645024"/>
            <a:ext cx="2952328" cy="504056"/>
          </a:xfrm>
          <a:prstGeom prst="curved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5292080" y="537321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/>
          <p:cNvSpPr txBox="1"/>
          <p:nvPr/>
        </p:nvSpPr>
        <p:spPr>
          <a:xfrm>
            <a:off x="5292080" y="5301208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ru-RU" dirty="0"/>
          </a:p>
        </p:txBody>
      </p:sp>
      <p:sp>
        <p:nvSpPr>
          <p:cNvPr id="27" name="Овал 26"/>
          <p:cNvSpPr/>
          <p:nvPr/>
        </p:nvSpPr>
        <p:spPr>
          <a:xfrm>
            <a:off x="5796136" y="213285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6"/>
            <a:endCxn id="27" idx="1"/>
          </p:cNvCxnSpPr>
          <p:nvPr/>
        </p:nvCxnSpPr>
        <p:spPr>
          <a:xfrm>
            <a:off x="4139952" y="1700808"/>
            <a:ext cx="1698365" cy="474229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/>
          <p:nvPr/>
        </p:nvCxnSpPr>
        <p:spPr>
          <a:xfrm flipH="1">
            <a:off x="5292080" y="2636912"/>
            <a:ext cx="1080120" cy="13681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>
            <a:off x="5148064" y="2636912"/>
            <a:ext cx="1440160" cy="12241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/>
          <p:cNvSpPr/>
          <p:nvPr/>
        </p:nvSpPr>
        <p:spPr>
          <a:xfrm>
            <a:off x="3275856" y="6926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483768" y="134076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1835696" y="198884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3851920" y="1556792"/>
            <a:ext cx="288032" cy="28803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3923928" y="22768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3995936" y="314096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555776" y="4149080"/>
            <a:ext cx="3312368" cy="2448272"/>
          </a:xfrm>
          <a:prstGeom prst="round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stCxn id="5" idx="3"/>
            <a:endCxn id="8" idx="7"/>
          </p:cNvCxnSpPr>
          <p:nvPr/>
        </p:nvCxnSpPr>
        <p:spPr>
          <a:xfrm flipH="1">
            <a:off x="2729619" y="938547"/>
            <a:ext cx="588418" cy="44440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8" idx="3"/>
            <a:endCxn id="9" idx="7"/>
          </p:cNvCxnSpPr>
          <p:nvPr/>
        </p:nvCxnSpPr>
        <p:spPr>
          <a:xfrm flipH="1">
            <a:off x="2081547" y="1586619"/>
            <a:ext cx="444402" cy="44440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5" idx="5"/>
            <a:endCxn id="10" idx="1"/>
          </p:cNvCxnSpPr>
          <p:nvPr/>
        </p:nvCxnSpPr>
        <p:spPr>
          <a:xfrm>
            <a:off x="3521707" y="938547"/>
            <a:ext cx="372394" cy="66042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10" idx="4"/>
            <a:endCxn id="11" idx="0"/>
          </p:cNvCxnSpPr>
          <p:nvPr/>
        </p:nvCxnSpPr>
        <p:spPr>
          <a:xfrm>
            <a:off x="3995936" y="1844824"/>
            <a:ext cx="72008" cy="43204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>
            <a:stCxn id="11" idx="4"/>
            <a:endCxn id="12" idx="0"/>
          </p:cNvCxnSpPr>
          <p:nvPr/>
        </p:nvCxnSpPr>
        <p:spPr>
          <a:xfrm>
            <a:off x="4067944" y="2564904"/>
            <a:ext cx="72008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2" idx="4"/>
            <a:endCxn id="13" idx="0"/>
          </p:cNvCxnSpPr>
          <p:nvPr/>
        </p:nvCxnSpPr>
        <p:spPr>
          <a:xfrm>
            <a:off x="4139952" y="3429000"/>
            <a:ext cx="72008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3995936" y="306896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</a:t>
            </a:r>
            <a:endParaRPr lang="ru-RU" dirty="0"/>
          </a:p>
        </p:txBody>
      </p:sp>
      <p:sp>
        <p:nvSpPr>
          <p:cNvPr id="82" name="TextBox 81"/>
          <p:cNvSpPr txBox="1"/>
          <p:nvPr/>
        </p:nvSpPr>
        <p:spPr>
          <a:xfrm>
            <a:off x="3923928" y="2204864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</a:t>
            </a:r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>
            <a:off x="4067944" y="400506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TextBox 79"/>
          <p:cNvSpPr txBox="1"/>
          <p:nvPr/>
        </p:nvSpPr>
        <p:spPr>
          <a:xfrm>
            <a:off x="4067944" y="3933056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</a:t>
            </a:r>
            <a:endParaRPr lang="ru-RU" dirty="0"/>
          </a:p>
        </p:txBody>
      </p:sp>
      <p:cxnSp>
        <p:nvCxnSpPr>
          <p:cNvPr id="19" name="Shape 18"/>
          <p:cNvCxnSpPr>
            <a:stCxn id="21" idx="0"/>
            <a:endCxn id="10" idx="6"/>
          </p:cNvCxnSpPr>
          <p:nvPr/>
        </p:nvCxnSpPr>
        <p:spPr>
          <a:xfrm rot="16200000" flipV="1">
            <a:off x="2591780" y="3248980"/>
            <a:ext cx="4320480" cy="1224136"/>
          </a:xfrm>
          <a:prstGeom prst="curved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Овал 20"/>
          <p:cNvSpPr/>
          <p:nvPr/>
        </p:nvSpPr>
        <p:spPr>
          <a:xfrm>
            <a:off x="5220072" y="6021288"/>
            <a:ext cx="288032" cy="28803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/>
          <p:cNvSpPr/>
          <p:nvPr/>
        </p:nvSpPr>
        <p:spPr>
          <a:xfrm>
            <a:off x="3131840" y="43651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/>
          <p:cNvSpPr/>
          <p:nvPr/>
        </p:nvSpPr>
        <p:spPr>
          <a:xfrm>
            <a:off x="4788024" y="494116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Shape 27"/>
          <p:cNvCxnSpPr>
            <a:stCxn id="25" idx="0"/>
            <a:endCxn id="79" idx="3"/>
          </p:cNvCxnSpPr>
          <p:nvPr/>
        </p:nvCxnSpPr>
        <p:spPr>
          <a:xfrm rot="16200000" flipV="1">
            <a:off x="3773464" y="3782592"/>
            <a:ext cx="1687542" cy="629610"/>
          </a:xfrm>
          <a:prstGeom prst="curved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hape 31"/>
          <p:cNvCxnSpPr>
            <a:stCxn id="24" idx="0"/>
            <a:endCxn id="82" idx="1"/>
          </p:cNvCxnSpPr>
          <p:nvPr/>
        </p:nvCxnSpPr>
        <p:spPr>
          <a:xfrm rot="5400000" flipH="1" flipV="1">
            <a:off x="2612105" y="3053281"/>
            <a:ext cx="1975574" cy="648072"/>
          </a:xfrm>
          <a:prstGeom prst="curved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cxnSp>
        <p:nvCxnSpPr>
          <p:cNvPr id="138" name="Shape 137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Овал 138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0" name="Овал 139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3" name="Shape 93"/>
          <p:cNvCxnSpPr>
            <a:stCxn id="140" idx="6"/>
          </p:cNvCxnSpPr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Прямая со стрелкой 143"/>
          <p:cNvCxnSpPr>
            <a:stCxn id="140" idx="2"/>
          </p:cNvCxnSpPr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Овал 144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6" name="Овал 145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7" name="Прямая со стрелкой 146"/>
          <p:cNvCxnSpPr>
            <a:endCxn id="146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Прямая со стрелкой 147"/>
          <p:cNvCxnSpPr>
            <a:endCxn id="146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cxnSp>
        <p:nvCxnSpPr>
          <p:cNvPr id="37" name="Shape 36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hape 93"/>
          <p:cNvCxnSpPr/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/>
          <p:cNvCxnSpPr/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Овал 44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Овал 45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Овал 46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Овал 47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9" name="Прямая со стрелкой 48"/>
          <p:cNvCxnSpPr>
            <a:endCxn id="48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>
            <a:endCxn id="48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cxnSp>
        <p:nvCxnSpPr>
          <p:cNvPr id="41" name="Shape 40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hape 93"/>
          <p:cNvCxnSpPr/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/>
          <p:cNvCxnSpPr/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Овал 47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Овал 48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Овал 49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Овал 51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3" name="Прямая со стрелкой 52"/>
          <p:cNvCxnSpPr>
            <a:endCxn id="52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/>
          <p:cNvCxnSpPr>
            <a:endCxn id="52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cxnSp>
        <p:nvCxnSpPr>
          <p:cNvPr id="44" name="Shape 43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hape 93"/>
          <p:cNvCxnSpPr/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/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Овал 51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Овал 52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Овал 53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Овал 57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9" name="Прямая со стрелкой 58"/>
          <p:cNvCxnSpPr>
            <a:endCxn id="58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/>
          <p:cNvCxnSpPr>
            <a:endCxn id="58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cxnSp>
        <p:nvCxnSpPr>
          <p:cNvPr id="47" name="Shape 46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hape 93"/>
          <p:cNvCxnSpPr/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/>
          <p:cNvCxnSpPr/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Овал 57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Овал 58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Овал 59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Овал 60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5" name="Прямая со стрелкой 64"/>
          <p:cNvCxnSpPr>
            <a:endCxn id="61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/>
          <p:cNvCxnSpPr>
            <a:endCxn id="61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6</a:t>
            </a:r>
            <a:endParaRPr lang="ru-RU" dirty="0"/>
          </a:p>
        </p:txBody>
      </p:sp>
      <p:cxnSp>
        <p:nvCxnSpPr>
          <p:cNvPr id="50" name="Shape 49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hape 93"/>
          <p:cNvCxnSpPr/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/>
          <p:cNvCxnSpPr/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Овал 60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Овал 64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Овал 65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Овал 66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8" name="Прямая со стрелкой 67"/>
          <p:cNvCxnSpPr>
            <a:endCxn id="67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/>
          <p:cNvCxnSpPr>
            <a:endCxn id="67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5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cxnSp>
        <p:nvCxnSpPr>
          <p:cNvPr id="50" name="Shape 49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hape 93"/>
          <p:cNvCxnSpPr/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/>
          <p:cNvCxnSpPr/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Овал 60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Овал 64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Овал 65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Овал 66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8" name="Прямая со стрелкой 67"/>
          <p:cNvCxnSpPr>
            <a:endCxn id="67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/>
          <p:cNvCxnSpPr>
            <a:endCxn id="67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cxnSp>
        <p:nvCxnSpPr>
          <p:cNvPr id="50" name="Shape 49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hape 93"/>
          <p:cNvCxnSpPr/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 стрелкой 59"/>
          <p:cNvCxnSpPr/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Овал 60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Овал 64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Овал 65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Овал 66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8" name="Прямая со стрелкой 67"/>
          <p:cNvCxnSpPr>
            <a:endCxn id="67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/>
          <p:cNvCxnSpPr>
            <a:endCxn id="67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50" name="Овал 49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915816" y="45718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53" name="TextBox 52"/>
          <p:cNvSpPr txBox="1"/>
          <p:nvPr/>
        </p:nvSpPr>
        <p:spPr>
          <a:xfrm>
            <a:off x="2894020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54" name="Shape 53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hape 93"/>
          <p:cNvCxnSpPr/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/>
          <p:cNvCxnSpPr/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Овал 66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Овал 67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Овал 69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Овал 70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3" name="Прямая со стрелкой 72"/>
          <p:cNvCxnSpPr>
            <a:endCxn id="71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>
            <a:endCxn id="71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50" name="Овал 49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915816" y="45718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53" name="TextBox 52"/>
          <p:cNvSpPr txBox="1"/>
          <p:nvPr/>
        </p:nvSpPr>
        <p:spPr>
          <a:xfrm>
            <a:off x="2894020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54" name="Овал 53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3059832" y="53825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59" name="TextBox 58"/>
          <p:cNvSpPr txBox="1"/>
          <p:nvPr/>
        </p:nvSpPr>
        <p:spPr>
          <a:xfrm>
            <a:off x="3059832" y="5157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cxnSp>
        <p:nvCxnSpPr>
          <p:cNvPr id="60" name="Shape 59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hape 93"/>
          <p:cNvCxnSpPr/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/>
          <p:cNvCxnSpPr/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Овал 70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Овал 72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Овал 73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Овал 75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7" name="Прямая со стрелкой 76"/>
          <p:cNvCxnSpPr>
            <a:endCxn id="76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 стрелкой 78"/>
          <p:cNvCxnSpPr>
            <a:endCxn id="76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50" name="Овал 49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915816" y="45718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53" name="TextBox 52"/>
          <p:cNvSpPr txBox="1"/>
          <p:nvPr/>
        </p:nvSpPr>
        <p:spPr>
          <a:xfrm>
            <a:off x="2894020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54" name="Овал 53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3059832" y="53825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59" name="TextBox 58"/>
          <p:cNvSpPr txBox="1"/>
          <p:nvPr/>
        </p:nvSpPr>
        <p:spPr>
          <a:xfrm>
            <a:off x="3059832" y="5157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60" name="Овал 59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3419872" y="59399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9</a:t>
            </a:r>
            <a:endParaRPr lang="ru-RU" dirty="0"/>
          </a:p>
        </p:txBody>
      </p:sp>
      <p:sp>
        <p:nvSpPr>
          <p:cNvPr id="65" name="TextBox 64"/>
          <p:cNvSpPr txBox="1"/>
          <p:nvPr/>
        </p:nvSpPr>
        <p:spPr>
          <a:xfrm>
            <a:off x="3428718" y="57239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9</a:t>
            </a:r>
            <a:endParaRPr lang="ru-RU" dirty="0"/>
          </a:p>
        </p:txBody>
      </p:sp>
      <p:cxnSp>
        <p:nvCxnSpPr>
          <p:cNvPr id="66" name="Shape 65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hape 93"/>
          <p:cNvCxnSpPr/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/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Овал 75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Овал 76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9" name="Овал 78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Овал 79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1" name="Прямая со стрелкой 80"/>
          <p:cNvCxnSpPr>
            <a:endCxn id="80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 стрелкой 81"/>
          <p:cNvCxnSpPr>
            <a:endCxn id="80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50" name="Овал 49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915816" y="45718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53" name="TextBox 52"/>
          <p:cNvSpPr txBox="1"/>
          <p:nvPr/>
        </p:nvSpPr>
        <p:spPr>
          <a:xfrm>
            <a:off x="2894020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54" name="Овал 53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3059832" y="53825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59" name="TextBox 58"/>
          <p:cNvSpPr txBox="1"/>
          <p:nvPr/>
        </p:nvSpPr>
        <p:spPr>
          <a:xfrm>
            <a:off x="3059832" y="5157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60" name="Овал 59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3419872" y="59399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9</a:t>
            </a:r>
            <a:endParaRPr lang="ru-RU" dirty="0"/>
          </a:p>
        </p:txBody>
      </p:sp>
      <p:sp>
        <p:nvSpPr>
          <p:cNvPr id="65" name="TextBox 64"/>
          <p:cNvSpPr txBox="1"/>
          <p:nvPr/>
        </p:nvSpPr>
        <p:spPr>
          <a:xfrm>
            <a:off x="3428718" y="57239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9</a:t>
            </a:r>
            <a:endParaRPr lang="ru-RU" dirty="0"/>
          </a:p>
        </p:txBody>
      </p:sp>
      <p:cxnSp>
        <p:nvCxnSpPr>
          <p:cNvPr id="66" name="Shape 65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hape 93"/>
          <p:cNvCxnSpPr/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/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Овал 75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Овал 76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/>
          <p:cNvSpPr txBox="1"/>
          <p:nvPr/>
        </p:nvSpPr>
        <p:spPr>
          <a:xfrm>
            <a:off x="4369320" y="60212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10</a:t>
            </a:r>
            <a:endParaRPr lang="ru-RU" dirty="0"/>
          </a:p>
        </p:txBody>
      </p:sp>
      <p:sp>
        <p:nvSpPr>
          <p:cNvPr id="68" name="TextBox 67"/>
          <p:cNvSpPr txBox="1"/>
          <p:nvPr/>
        </p:nvSpPr>
        <p:spPr>
          <a:xfrm>
            <a:off x="4355976" y="58052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10</a:t>
            </a:r>
            <a:endParaRPr lang="ru-RU" dirty="0"/>
          </a:p>
        </p:txBody>
      </p:sp>
      <p:sp>
        <p:nvSpPr>
          <p:cNvPr id="70" name="Овал 69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Овал 70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9" name="Прямая со стрелкой 78"/>
          <p:cNvCxnSpPr>
            <a:endCxn id="71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 стрелкой 79"/>
          <p:cNvCxnSpPr>
            <a:endCxn id="71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50" name="Овал 49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915816" y="45718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53" name="TextBox 52"/>
          <p:cNvSpPr txBox="1"/>
          <p:nvPr/>
        </p:nvSpPr>
        <p:spPr>
          <a:xfrm>
            <a:off x="2894020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54" name="Овал 53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3059832" y="53825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59" name="TextBox 58"/>
          <p:cNvSpPr txBox="1"/>
          <p:nvPr/>
        </p:nvSpPr>
        <p:spPr>
          <a:xfrm>
            <a:off x="3059832" y="5157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60" name="Овал 59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3419872" y="59399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9</a:t>
            </a:r>
            <a:endParaRPr lang="ru-RU" dirty="0"/>
          </a:p>
        </p:txBody>
      </p:sp>
      <p:sp>
        <p:nvSpPr>
          <p:cNvPr id="65" name="TextBox 64"/>
          <p:cNvSpPr txBox="1"/>
          <p:nvPr/>
        </p:nvSpPr>
        <p:spPr>
          <a:xfrm>
            <a:off x="3428718" y="57239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9</a:t>
            </a:r>
            <a:endParaRPr lang="ru-RU" dirty="0"/>
          </a:p>
        </p:txBody>
      </p:sp>
      <p:cxnSp>
        <p:nvCxnSpPr>
          <p:cNvPr id="66" name="Shape 65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hape 93"/>
          <p:cNvCxnSpPr/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/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Овал 75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Овал 76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/>
          <p:cNvSpPr txBox="1"/>
          <p:nvPr/>
        </p:nvSpPr>
        <p:spPr>
          <a:xfrm>
            <a:off x="4369320" y="60212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10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427984" y="5805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71" name="Овал 70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9" name="Овал 78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0" name="Прямая со стрелкой 79"/>
          <p:cNvCxnSpPr>
            <a:endCxn id="79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 стрелкой 80"/>
          <p:cNvCxnSpPr>
            <a:endCxn id="79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50" name="Овал 49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915816" y="45718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53" name="TextBox 52"/>
          <p:cNvSpPr txBox="1"/>
          <p:nvPr/>
        </p:nvSpPr>
        <p:spPr>
          <a:xfrm>
            <a:off x="2894020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54" name="Овал 53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3059832" y="53825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59" name="TextBox 58"/>
          <p:cNvSpPr txBox="1"/>
          <p:nvPr/>
        </p:nvSpPr>
        <p:spPr>
          <a:xfrm>
            <a:off x="3059832" y="5157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8</a:t>
            </a:r>
            <a:endParaRPr lang="ru-RU" dirty="0"/>
          </a:p>
        </p:txBody>
      </p:sp>
      <p:sp>
        <p:nvSpPr>
          <p:cNvPr id="60" name="Овал 59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3419872" y="59399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9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428718" y="57239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cxnSp>
        <p:nvCxnSpPr>
          <p:cNvPr id="66" name="Shape 65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Овал 66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Овал 67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TextBox 69"/>
          <p:cNvSpPr txBox="1"/>
          <p:nvPr/>
        </p:nvSpPr>
        <p:spPr>
          <a:xfrm>
            <a:off x="4369320" y="60212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10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427984" y="5805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73" name="Shape 93"/>
          <p:cNvCxnSpPr>
            <a:stCxn id="68" idx="6"/>
          </p:cNvCxnSpPr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>
            <a:stCxn id="68" idx="2"/>
          </p:cNvCxnSpPr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Овал 75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Овал 76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9" name="Прямая со стрелкой 78"/>
          <p:cNvCxnSpPr>
            <a:endCxn id="77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 стрелкой 79"/>
          <p:cNvCxnSpPr>
            <a:endCxn id="77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50" name="Овал 49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915816" y="45718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53" name="TextBox 52"/>
          <p:cNvSpPr txBox="1"/>
          <p:nvPr/>
        </p:nvSpPr>
        <p:spPr>
          <a:xfrm>
            <a:off x="2894020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sp>
        <p:nvSpPr>
          <p:cNvPr id="54" name="Овал 53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3059832" y="53825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059832" y="5157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0" name="Овал 59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3419872" y="59399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9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428718" y="57239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cxnSp>
        <p:nvCxnSpPr>
          <p:cNvPr id="66" name="Shape 65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Овал 66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Овал 67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TextBox 69"/>
          <p:cNvSpPr txBox="1"/>
          <p:nvPr/>
        </p:nvSpPr>
        <p:spPr>
          <a:xfrm>
            <a:off x="4369320" y="60212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10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427984" y="5805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73" name="Shape 93"/>
          <p:cNvCxnSpPr>
            <a:stCxn id="68" idx="6"/>
          </p:cNvCxnSpPr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>
            <a:stCxn id="68" idx="2"/>
          </p:cNvCxnSpPr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Овал 75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Овал 76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9" name="Прямая со стрелкой 78"/>
          <p:cNvCxnSpPr>
            <a:endCxn id="77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 стрелкой 79"/>
          <p:cNvCxnSpPr>
            <a:endCxn id="77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50" name="Овал 49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915816" y="45718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894020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54" name="Овал 53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3059832" y="53825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059832" y="5157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0" name="Овал 59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3419872" y="59399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9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428718" y="57239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cxnSp>
        <p:nvCxnSpPr>
          <p:cNvPr id="66" name="Shape 65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Овал 66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Овал 67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TextBox 69"/>
          <p:cNvSpPr txBox="1"/>
          <p:nvPr/>
        </p:nvSpPr>
        <p:spPr>
          <a:xfrm>
            <a:off x="4369320" y="60212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10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427984" y="5805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73" name="Shape 93"/>
          <p:cNvCxnSpPr>
            <a:stCxn id="68" idx="6"/>
          </p:cNvCxnSpPr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>
            <a:stCxn id="68" idx="2"/>
          </p:cNvCxnSpPr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Овал 75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Овал 76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9" name="Прямая со стрелкой 78"/>
          <p:cNvCxnSpPr>
            <a:endCxn id="77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 стрелкой 79"/>
          <p:cNvCxnSpPr>
            <a:endCxn id="77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50" name="Овал 49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915816" y="45718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894020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54" name="Овал 53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3059832" y="53825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059832" y="5157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0" name="Овал 59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3419872" y="59399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9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428718" y="57239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cxnSp>
        <p:nvCxnSpPr>
          <p:cNvPr id="66" name="Shape 65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Овал 66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Овал 67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TextBox 69"/>
          <p:cNvSpPr txBox="1"/>
          <p:nvPr/>
        </p:nvSpPr>
        <p:spPr>
          <a:xfrm>
            <a:off x="4369320" y="60212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10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427984" y="5805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73" name="Shape 93"/>
          <p:cNvCxnSpPr>
            <a:stCxn id="68" idx="6"/>
          </p:cNvCxnSpPr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/>
          <p:cNvCxnSpPr>
            <a:stCxn id="68" idx="2"/>
          </p:cNvCxnSpPr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Овал 75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Овал 76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9" name="Прямая со стрелкой 78"/>
          <p:cNvCxnSpPr>
            <a:endCxn id="77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 стрелкой 79"/>
          <p:cNvCxnSpPr>
            <a:endCxn id="77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50" name="Овал 49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915816" y="45718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894020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54" name="Овал 53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3059832" y="53825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059832" y="5157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0" name="Овал 59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3419872" y="59399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9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428718" y="57239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6" name="Овал 65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/>
          <p:cNvSpPr txBox="1"/>
          <p:nvPr/>
        </p:nvSpPr>
        <p:spPr>
          <a:xfrm>
            <a:off x="3793256" y="3356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11</a:t>
            </a:r>
            <a:endParaRPr lang="ru-RU" dirty="0"/>
          </a:p>
        </p:txBody>
      </p:sp>
      <p:sp>
        <p:nvSpPr>
          <p:cNvPr id="68" name="TextBox 67"/>
          <p:cNvSpPr txBox="1"/>
          <p:nvPr/>
        </p:nvSpPr>
        <p:spPr>
          <a:xfrm>
            <a:off x="3851920" y="31316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11</a:t>
            </a:r>
            <a:endParaRPr lang="ru-RU" dirty="0"/>
          </a:p>
        </p:txBody>
      </p:sp>
      <p:cxnSp>
        <p:nvCxnSpPr>
          <p:cNvPr id="70" name="Shape 69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Овал 70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Овал 72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TextBox 73"/>
          <p:cNvSpPr txBox="1"/>
          <p:nvPr/>
        </p:nvSpPr>
        <p:spPr>
          <a:xfrm>
            <a:off x="4369320" y="60212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10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427984" y="5805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77" name="Shape 93"/>
          <p:cNvCxnSpPr>
            <a:stCxn id="73" idx="6"/>
          </p:cNvCxnSpPr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 стрелкой 78"/>
          <p:cNvCxnSpPr>
            <a:stCxn id="73" idx="2"/>
          </p:cNvCxnSpPr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Овал 79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Овал 80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2" name="Прямая со стрелкой 81"/>
          <p:cNvCxnSpPr>
            <a:endCxn id="81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 стрелкой 82"/>
          <p:cNvCxnSpPr>
            <a:endCxn id="81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50" name="Овал 49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915816" y="45718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894020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54" name="Овал 53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3059832" y="53825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059832" y="5157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0" name="Овал 59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3419872" y="59399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9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428718" y="57239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6" name="Овал 65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/>
          <p:cNvSpPr txBox="1"/>
          <p:nvPr/>
        </p:nvSpPr>
        <p:spPr>
          <a:xfrm>
            <a:off x="3793256" y="3356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11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851920" y="31316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11</a:t>
            </a:r>
            <a:endParaRPr lang="ru-RU" dirty="0">
              <a:solidFill>
                <a:schemeClr val="accent6"/>
              </a:solidFill>
            </a:endParaRPr>
          </a:p>
        </p:txBody>
      </p:sp>
      <p:cxnSp>
        <p:nvCxnSpPr>
          <p:cNvPr id="70" name="Shape 69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Овал 70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Овал 72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TextBox 73"/>
          <p:cNvSpPr txBox="1"/>
          <p:nvPr/>
        </p:nvSpPr>
        <p:spPr>
          <a:xfrm>
            <a:off x="4369320" y="60212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10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427984" y="5805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77" name="Shape 93"/>
          <p:cNvCxnSpPr>
            <a:stCxn id="73" idx="6"/>
          </p:cNvCxnSpPr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 стрелкой 78"/>
          <p:cNvCxnSpPr>
            <a:stCxn id="73" idx="2"/>
          </p:cNvCxnSpPr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Овал 79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Овал 80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2" name="Прямая со стрелкой 81"/>
          <p:cNvCxnSpPr>
            <a:endCxn id="81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 стрелкой 82"/>
          <p:cNvCxnSpPr>
            <a:endCxn id="81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/>
                </a:solidFill>
              </a:rPr>
              <a:t>3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3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50" name="Овал 49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915816" y="45718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894020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54" name="Овал 53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3059832" y="53825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059832" y="5157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0" name="Овал 59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3419872" y="59399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9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428718" y="57239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6" name="Овал 65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/>
          <p:cNvSpPr txBox="1"/>
          <p:nvPr/>
        </p:nvSpPr>
        <p:spPr>
          <a:xfrm>
            <a:off x="3793256" y="3356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11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851920" y="31316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11</a:t>
            </a:r>
            <a:endParaRPr lang="ru-RU" dirty="0">
              <a:solidFill>
                <a:schemeClr val="accent6"/>
              </a:solidFill>
            </a:endParaRPr>
          </a:p>
        </p:txBody>
      </p:sp>
      <p:cxnSp>
        <p:nvCxnSpPr>
          <p:cNvPr id="70" name="Shape 69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Овал 70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Овал 72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TextBox 73"/>
          <p:cNvSpPr txBox="1"/>
          <p:nvPr/>
        </p:nvSpPr>
        <p:spPr>
          <a:xfrm>
            <a:off x="4369320" y="60212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10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427984" y="5805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77" name="Shape 93"/>
          <p:cNvCxnSpPr>
            <a:stCxn id="73" idx="6"/>
          </p:cNvCxnSpPr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 стрелкой 78"/>
          <p:cNvCxnSpPr>
            <a:stCxn id="73" idx="2"/>
          </p:cNvCxnSpPr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Овал 79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Овал 80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2" name="Прямая со стрелкой 81"/>
          <p:cNvCxnSpPr>
            <a:endCxn id="81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 стрелкой 82"/>
          <p:cNvCxnSpPr>
            <a:endCxn id="81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/>
                </a:solidFill>
              </a:rPr>
              <a:t>3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3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50" name="Овал 49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915816" y="45718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894020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54" name="Овал 53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3059832" y="53825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059832" y="5157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0" name="Овал 59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3419872" y="59399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9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428718" y="57239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6" name="Овал 65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/>
          <p:cNvSpPr txBox="1"/>
          <p:nvPr/>
        </p:nvSpPr>
        <p:spPr>
          <a:xfrm>
            <a:off x="3793256" y="3356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11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851920" y="31316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11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0" name="Овал 6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TextBox 70"/>
          <p:cNvSpPr txBox="1"/>
          <p:nvPr/>
        </p:nvSpPr>
        <p:spPr>
          <a:xfrm>
            <a:off x="4932040" y="213285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sp>
        <p:nvSpPr>
          <p:cNvPr id="73" name="TextBox 72"/>
          <p:cNvSpPr txBox="1"/>
          <p:nvPr/>
        </p:nvSpPr>
        <p:spPr>
          <a:xfrm>
            <a:off x="4985586" y="190754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cxnSp>
        <p:nvCxnSpPr>
          <p:cNvPr id="74" name="Shape 73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Овал 75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Овал 76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9" name="TextBox 78"/>
          <p:cNvSpPr txBox="1"/>
          <p:nvPr/>
        </p:nvSpPr>
        <p:spPr>
          <a:xfrm>
            <a:off x="4369320" y="60212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10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4427984" y="5805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81" name="Shape 93"/>
          <p:cNvCxnSpPr>
            <a:stCxn id="77" idx="6"/>
          </p:cNvCxnSpPr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 стрелкой 81"/>
          <p:cNvCxnSpPr>
            <a:stCxn id="77" idx="2"/>
          </p:cNvCxnSpPr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Овал 82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Овал 83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6" name="Прямая со стрелкой 85"/>
          <p:cNvCxnSpPr>
            <a:endCxn id="84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Прямая со стрелкой 86"/>
          <p:cNvCxnSpPr>
            <a:endCxn id="84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/>
                </a:solidFill>
              </a:rPr>
              <a:t>3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3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50" name="Овал 49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915816" y="45718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894020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54" name="Овал 53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3059832" y="53825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059832" y="5157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0" name="Овал 59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3419872" y="59399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9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428718" y="57239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6" name="Овал 65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/>
          <p:cNvSpPr txBox="1"/>
          <p:nvPr/>
        </p:nvSpPr>
        <p:spPr>
          <a:xfrm>
            <a:off x="3793256" y="3356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11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851920" y="31316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11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0" name="Овал 6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TextBox 70"/>
          <p:cNvSpPr txBox="1"/>
          <p:nvPr/>
        </p:nvSpPr>
        <p:spPr>
          <a:xfrm>
            <a:off x="4932040" y="213285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sp>
        <p:nvSpPr>
          <p:cNvPr id="73" name="TextBox 72"/>
          <p:cNvSpPr txBox="1"/>
          <p:nvPr/>
        </p:nvSpPr>
        <p:spPr>
          <a:xfrm>
            <a:off x="4985586" y="190754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sp>
        <p:nvSpPr>
          <p:cNvPr id="74" name="Овал 73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TextBox 75"/>
          <p:cNvSpPr txBox="1"/>
          <p:nvPr/>
        </p:nvSpPr>
        <p:spPr>
          <a:xfrm>
            <a:off x="5233416" y="3356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13</a:t>
            </a:r>
            <a:endParaRPr lang="ru-RU" dirty="0"/>
          </a:p>
        </p:txBody>
      </p:sp>
      <p:sp>
        <p:nvSpPr>
          <p:cNvPr id="77" name="TextBox 76"/>
          <p:cNvSpPr txBox="1"/>
          <p:nvPr/>
        </p:nvSpPr>
        <p:spPr>
          <a:xfrm>
            <a:off x="5292080" y="31316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13</a:t>
            </a:r>
            <a:endParaRPr lang="ru-RU" dirty="0"/>
          </a:p>
        </p:txBody>
      </p:sp>
      <p:cxnSp>
        <p:nvCxnSpPr>
          <p:cNvPr id="79" name="Shape 78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Овал 79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Овал 80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TextBox 81"/>
          <p:cNvSpPr txBox="1"/>
          <p:nvPr/>
        </p:nvSpPr>
        <p:spPr>
          <a:xfrm>
            <a:off x="4369320" y="60212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10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427984" y="5805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84" name="Shape 93"/>
          <p:cNvCxnSpPr>
            <a:stCxn id="81" idx="6"/>
          </p:cNvCxnSpPr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 стрелкой 85"/>
          <p:cNvCxnSpPr>
            <a:stCxn id="81" idx="2"/>
          </p:cNvCxnSpPr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Овал 86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Овал 88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0" name="Прямая со стрелкой 89"/>
          <p:cNvCxnSpPr>
            <a:endCxn id="89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Прямая со стрелкой 90"/>
          <p:cNvCxnSpPr>
            <a:endCxn id="89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/>
                </a:solidFill>
              </a:rPr>
              <a:t>3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3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50" name="Овал 49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915816" y="45718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894020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54" name="Овал 53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3059832" y="53825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059832" y="5157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0" name="Овал 59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3419872" y="59399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9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428718" y="57239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6" name="Овал 65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/>
          <p:cNvSpPr txBox="1"/>
          <p:nvPr/>
        </p:nvSpPr>
        <p:spPr>
          <a:xfrm>
            <a:off x="3793256" y="3356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11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851920" y="31316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11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0" name="Овал 6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TextBox 70"/>
          <p:cNvSpPr txBox="1"/>
          <p:nvPr/>
        </p:nvSpPr>
        <p:spPr>
          <a:xfrm>
            <a:off x="4932040" y="213285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sp>
        <p:nvSpPr>
          <p:cNvPr id="73" name="TextBox 72"/>
          <p:cNvSpPr txBox="1"/>
          <p:nvPr/>
        </p:nvSpPr>
        <p:spPr>
          <a:xfrm>
            <a:off x="4985586" y="190754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sp>
        <p:nvSpPr>
          <p:cNvPr id="74" name="Овал 73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TextBox 75"/>
          <p:cNvSpPr txBox="1"/>
          <p:nvPr/>
        </p:nvSpPr>
        <p:spPr>
          <a:xfrm>
            <a:off x="5233416" y="3356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13</a:t>
            </a:r>
            <a:endParaRPr lang="ru-RU" dirty="0"/>
          </a:p>
        </p:txBody>
      </p:sp>
      <p:sp>
        <p:nvSpPr>
          <p:cNvPr id="77" name="TextBox 76"/>
          <p:cNvSpPr txBox="1"/>
          <p:nvPr/>
        </p:nvSpPr>
        <p:spPr>
          <a:xfrm>
            <a:off x="5292080" y="31316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13</a:t>
            </a:r>
            <a:endParaRPr lang="ru-RU" dirty="0"/>
          </a:p>
        </p:txBody>
      </p:sp>
      <p:sp>
        <p:nvSpPr>
          <p:cNvPr id="79" name="Овал 7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TextBox 79"/>
          <p:cNvSpPr txBox="1"/>
          <p:nvPr/>
        </p:nvSpPr>
        <p:spPr>
          <a:xfrm>
            <a:off x="6300192" y="32942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14</a:t>
            </a:r>
            <a:endParaRPr lang="ru-RU" dirty="0"/>
          </a:p>
        </p:txBody>
      </p:sp>
      <p:sp>
        <p:nvSpPr>
          <p:cNvPr id="81" name="TextBox 80"/>
          <p:cNvSpPr txBox="1"/>
          <p:nvPr/>
        </p:nvSpPr>
        <p:spPr>
          <a:xfrm>
            <a:off x="6350404" y="30689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14</a:t>
            </a:r>
            <a:endParaRPr lang="ru-RU" dirty="0"/>
          </a:p>
        </p:txBody>
      </p:sp>
      <p:cxnSp>
        <p:nvCxnSpPr>
          <p:cNvPr id="82" name="Shape 81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Овал 82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Овал 83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TextBox 85"/>
          <p:cNvSpPr txBox="1"/>
          <p:nvPr/>
        </p:nvSpPr>
        <p:spPr>
          <a:xfrm>
            <a:off x="4369320" y="60212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10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427984" y="5805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89" name="Shape 93"/>
          <p:cNvCxnSpPr>
            <a:stCxn id="84" idx="6"/>
          </p:cNvCxnSpPr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Прямая со стрелкой 89"/>
          <p:cNvCxnSpPr>
            <a:stCxn id="84" idx="2"/>
          </p:cNvCxnSpPr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Овал 90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Овал 91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3" name="Прямая со стрелкой 92"/>
          <p:cNvCxnSpPr>
            <a:endCxn id="92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/>
          <p:cNvCxnSpPr>
            <a:endCxn id="92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/>
                </a:solidFill>
              </a:rPr>
              <a:t>3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3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50" name="Овал 49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915816" y="45718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894020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54" name="Овал 53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3059832" y="53825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059832" y="5157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0" name="Овал 59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3419872" y="59399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9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428718" y="57239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6" name="Овал 65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/>
          <p:cNvSpPr txBox="1"/>
          <p:nvPr/>
        </p:nvSpPr>
        <p:spPr>
          <a:xfrm>
            <a:off x="3793256" y="3356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11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851920" y="31316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11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0" name="Овал 6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TextBox 70"/>
          <p:cNvSpPr txBox="1"/>
          <p:nvPr/>
        </p:nvSpPr>
        <p:spPr>
          <a:xfrm>
            <a:off x="4932040" y="213285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sp>
        <p:nvSpPr>
          <p:cNvPr id="73" name="TextBox 72"/>
          <p:cNvSpPr txBox="1"/>
          <p:nvPr/>
        </p:nvSpPr>
        <p:spPr>
          <a:xfrm>
            <a:off x="4985586" y="190754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sp>
        <p:nvSpPr>
          <p:cNvPr id="74" name="Овал 73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TextBox 75"/>
          <p:cNvSpPr txBox="1"/>
          <p:nvPr/>
        </p:nvSpPr>
        <p:spPr>
          <a:xfrm>
            <a:off x="5233416" y="3356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13</a:t>
            </a:r>
            <a:endParaRPr lang="ru-RU" dirty="0"/>
          </a:p>
        </p:txBody>
      </p:sp>
      <p:sp>
        <p:nvSpPr>
          <p:cNvPr id="77" name="TextBox 76"/>
          <p:cNvSpPr txBox="1"/>
          <p:nvPr/>
        </p:nvSpPr>
        <p:spPr>
          <a:xfrm>
            <a:off x="5292080" y="31316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13</a:t>
            </a:r>
            <a:endParaRPr lang="ru-RU" dirty="0"/>
          </a:p>
        </p:txBody>
      </p:sp>
      <p:sp>
        <p:nvSpPr>
          <p:cNvPr id="79" name="Овал 7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TextBox 79"/>
          <p:cNvSpPr txBox="1"/>
          <p:nvPr/>
        </p:nvSpPr>
        <p:spPr>
          <a:xfrm>
            <a:off x="6300192" y="32942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350404" y="30689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cxnSp>
        <p:nvCxnSpPr>
          <p:cNvPr id="82" name="Shape 81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Овал 82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Овал 83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TextBox 85"/>
          <p:cNvSpPr txBox="1"/>
          <p:nvPr/>
        </p:nvSpPr>
        <p:spPr>
          <a:xfrm>
            <a:off x="4369320" y="60212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10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427984" y="5805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89" name="Shape 93"/>
          <p:cNvCxnSpPr>
            <a:stCxn id="84" idx="6"/>
          </p:cNvCxnSpPr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Прямая со стрелкой 89"/>
          <p:cNvCxnSpPr>
            <a:stCxn id="84" idx="2"/>
          </p:cNvCxnSpPr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Овал 90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Овал 91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3" name="Прямая со стрелкой 92"/>
          <p:cNvCxnSpPr>
            <a:endCxn id="92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/>
          <p:cNvCxnSpPr>
            <a:endCxn id="92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/>
                </a:solidFill>
              </a:rPr>
              <a:t>3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3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50" name="Овал 49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915816" y="45718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894020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54" name="Овал 53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3059832" y="53825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059832" y="5157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0" name="Овал 59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3419872" y="59399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9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428718" y="57239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6" name="Овал 65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/>
          <p:cNvSpPr txBox="1"/>
          <p:nvPr/>
        </p:nvSpPr>
        <p:spPr>
          <a:xfrm>
            <a:off x="3793256" y="3356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11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851920" y="31316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11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0" name="Овал 6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TextBox 70"/>
          <p:cNvSpPr txBox="1"/>
          <p:nvPr/>
        </p:nvSpPr>
        <p:spPr>
          <a:xfrm>
            <a:off x="4932040" y="213285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sp>
        <p:nvSpPr>
          <p:cNvPr id="73" name="TextBox 72"/>
          <p:cNvSpPr txBox="1"/>
          <p:nvPr/>
        </p:nvSpPr>
        <p:spPr>
          <a:xfrm>
            <a:off x="4985586" y="190754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sp>
        <p:nvSpPr>
          <p:cNvPr id="74" name="Овал 73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TextBox 75"/>
          <p:cNvSpPr txBox="1"/>
          <p:nvPr/>
        </p:nvSpPr>
        <p:spPr>
          <a:xfrm>
            <a:off x="5233416" y="3356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292080" y="31316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sp>
        <p:nvSpPr>
          <p:cNvPr id="79" name="Овал 7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TextBox 79"/>
          <p:cNvSpPr txBox="1"/>
          <p:nvPr/>
        </p:nvSpPr>
        <p:spPr>
          <a:xfrm>
            <a:off x="6300192" y="32942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350404" y="30689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cxnSp>
        <p:nvCxnSpPr>
          <p:cNvPr id="82" name="Shape 81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Овал 82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Овал 83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TextBox 85"/>
          <p:cNvSpPr txBox="1"/>
          <p:nvPr/>
        </p:nvSpPr>
        <p:spPr>
          <a:xfrm>
            <a:off x="4369320" y="60212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10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427984" y="5805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89" name="Shape 93"/>
          <p:cNvCxnSpPr>
            <a:stCxn id="84" idx="6"/>
          </p:cNvCxnSpPr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Прямая со стрелкой 89"/>
          <p:cNvCxnSpPr>
            <a:stCxn id="84" idx="2"/>
          </p:cNvCxnSpPr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Овал 90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Овал 91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3" name="Прямая со стрелкой 92"/>
          <p:cNvCxnSpPr>
            <a:endCxn id="92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/>
          <p:cNvCxnSpPr>
            <a:endCxn id="92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/>
                </a:solidFill>
              </a:rPr>
              <a:t>3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3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50" name="Овал 49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915816" y="45718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894020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54" name="Овал 53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3059832" y="53825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059832" y="5157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0" name="Овал 59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3419872" y="59399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9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428718" y="57239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6" name="Овал 65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/>
          <p:cNvSpPr txBox="1"/>
          <p:nvPr/>
        </p:nvSpPr>
        <p:spPr>
          <a:xfrm>
            <a:off x="3793256" y="3356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11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851920" y="31316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11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0" name="Овал 6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TextBox 70"/>
          <p:cNvSpPr txBox="1"/>
          <p:nvPr/>
        </p:nvSpPr>
        <p:spPr>
          <a:xfrm>
            <a:off x="4932040" y="213285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12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985586" y="190754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12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4" name="Овал 73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TextBox 75"/>
          <p:cNvSpPr txBox="1"/>
          <p:nvPr/>
        </p:nvSpPr>
        <p:spPr>
          <a:xfrm>
            <a:off x="5233416" y="3356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292080" y="31316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sp>
        <p:nvSpPr>
          <p:cNvPr id="79" name="Овал 7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TextBox 79"/>
          <p:cNvSpPr txBox="1"/>
          <p:nvPr/>
        </p:nvSpPr>
        <p:spPr>
          <a:xfrm>
            <a:off x="6300192" y="32942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350404" y="30689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cxnSp>
        <p:nvCxnSpPr>
          <p:cNvPr id="82" name="Shape 81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Овал 82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Овал 83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TextBox 85"/>
          <p:cNvSpPr txBox="1"/>
          <p:nvPr/>
        </p:nvSpPr>
        <p:spPr>
          <a:xfrm>
            <a:off x="4369320" y="60212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10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427984" y="5805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89" name="Shape 93"/>
          <p:cNvCxnSpPr>
            <a:stCxn id="84" idx="6"/>
          </p:cNvCxnSpPr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Прямая со стрелкой 89"/>
          <p:cNvCxnSpPr>
            <a:stCxn id="84" idx="2"/>
          </p:cNvCxnSpPr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Овал 96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8" name="Овал 97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2" name="Прямая со стрелкой 101"/>
          <p:cNvCxnSpPr>
            <a:endCxn id="98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Прямая со стрелкой 102"/>
          <p:cNvCxnSpPr>
            <a:endCxn id="98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/>
                </a:solidFill>
              </a:rPr>
              <a:t>3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3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50" name="Овал 49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915816" y="45718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894020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54" name="Овал 53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3059832" y="53825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059832" y="5157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0" name="Овал 59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3419872" y="59399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9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428718" y="57239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6" name="Овал 65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/>
          <p:cNvSpPr txBox="1"/>
          <p:nvPr/>
        </p:nvSpPr>
        <p:spPr>
          <a:xfrm>
            <a:off x="3793256" y="3356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11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851920" y="31316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11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0" name="Овал 6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TextBox 70"/>
          <p:cNvSpPr txBox="1"/>
          <p:nvPr/>
        </p:nvSpPr>
        <p:spPr>
          <a:xfrm>
            <a:off x="4932040" y="213285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12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985586" y="190754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12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4" name="Овал 73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TextBox 75"/>
          <p:cNvSpPr txBox="1"/>
          <p:nvPr/>
        </p:nvSpPr>
        <p:spPr>
          <a:xfrm>
            <a:off x="5233416" y="3356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292080" y="31316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sp>
        <p:nvSpPr>
          <p:cNvPr id="79" name="Овал 7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TextBox 79"/>
          <p:cNvSpPr txBox="1"/>
          <p:nvPr/>
        </p:nvSpPr>
        <p:spPr>
          <a:xfrm>
            <a:off x="6300192" y="32942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350404" y="30689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cxnSp>
        <p:nvCxnSpPr>
          <p:cNvPr id="82" name="Shape 81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Овал 82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Овал 83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TextBox 85"/>
          <p:cNvSpPr txBox="1"/>
          <p:nvPr/>
        </p:nvSpPr>
        <p:spPr>
          <a:xfrm>
            <a:off x="4369320" y="60212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10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427984" y="5805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89" name="Shape 93"/>
          <p:cNvCxnSpPr>
            <a:stCxn id="84" idx="6"/>
          </p:cNvCxnSpPr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Прямая со стрелкой 89"/>
          <p:cNvCxnSpPr>
            <a:stCxn id="84" idx="2"/>
          </p:cNvCxnSpPr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Овал 87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1" name="Овал 90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TextBox 91"/>
          <p:cNvSpPr txBox="1"/>
          <p:nvPr/>
        </p:nvSpPr>
        <p:spPr>
          <a:xfrm>
            <a:off x="4932040" y="106202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15</a:t>
            </a:r>
            <a:endParaRPr lang="ru-RU" dirty="0"/>
          </a:p>
        </p:txBody>
      </p:sp>
      <p:sp>
        <p:nvSpPr>
          <p:cNvPr id="93" name="TextBox 92"/>
          <p:cNvSpPr txBox="1"/>
          <p:nvPr/>
        </p:nvSpPr>
        <p:spPr>
          <a:xfrm>
            <a:off x="4932040" y="8367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15</a:t>
            </a:r>
            <a:endParaRPr lang="ru-RU" dirty="0"/>
          </a:p>
        </p:txBody>
      </p:sp>
      <p:cxnSp>
        <p:nvCxnSpPr>
          <p:cNvPr id="94" name="Прямая со стрелкой 93"/>
          <p:cNvCxnSpPr>
            <a:endCxn id="91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 стрелкой 94"/>
          <p:cNvCxnSpPr>
            <a:endCxn id="91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/>
                </a:solidFill>
              </a:rPr>
              <a:t>3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3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50" name="Овал 49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915816" y="45718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894020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54" name="Овал 53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3059832" y="53825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059832" y="5157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0" name="Овал 59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3419872" y="59399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9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428718" y="57239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6" name="Овал 65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/>
          <p:cNvSpPr txBox="1"/>
          <p:nvPr/>
        </p:nvSpPr>
        <p:spPr>
          <a:xfrm>
            <a:off x="3793256" y="3356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11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851920" y="31316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11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0" name="Овал 6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TextBox 70"/>
          <p:cNvSpPr txBox="1"/>
          <p:nvPr/>
        </p:nvSpPr>
        <p:spPr>
          <a:xfrm>
            <a:off x="4932040" y="213285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12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985586" y="190754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12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4" name="Овал 73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TextBox 75"/>
          <p:cNvSpPr txBox="1"/>
          <p:nvPr/>
        </p:nvSpPr>
        <p:spPr>
          <a:xfrm>
            <a:off x="5233416" y="3356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292080" y="31316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sp>
        <p:nvSpPr>
          <p:cNvPr id="79" name="Овал 7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TextBox 79"/>
          <p:cNvSpPr txBox="1"/>
          <p:nvPr/>
        </p:nvSpPr>
        <p:spPr>
          <a:xfrm>
            <a:off x="6300192" y="32942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350404" y="30689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cxnSp>
        <p:nvCxnSpPr>
          <p:cNvPr id="82" name="Shape 81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Овал 82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Овал 83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TextBox 85"/>
          <p:cNvSpPr txBox="1"/>
          <p:nvPr/>
        </p:nvSpPr>
        <p:spPr>
          <a:xfrm>
            <a:off x="4369320" y="60212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10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427984" y="5805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89" name="Shape 93"/>
          <p:cNvCxnSpPr>
            <a:stCxn id="84" idx="6"/>
          </p:cNvCxnSpPr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Прямая со стрелкой 89"/>
          <p:cNvCxnSpPr>
            <a:stCxn id="84" idx="2"/>
          </p:cNvCxnSpPr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Овал 87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1" name="Овал 90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TextBox 91"/>
          <p:cNvSpPr txBox="1"/>
          <p:nvPr/>
        </p:nvSpPr>
        <p:spPr>
          <a:xfrm>
            <a:off x="4932040" y="106202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982252" y="8367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cxnSp>
        <p:nvCxnSpPr>
          <p:cNvPr id="94" name="Прямая со стрелкой 93"/>
          <p:cNvCxnSpPr>
            <a:endCxn id="91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 стрелкой 94"/>
          <p:cNvCxnSpPr>
            <a:endCxn id="91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/>
                </a:solidFill>
              </a:rPr>
              <a:t>3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3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50" name="Овал 49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915816" y="45718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894020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54" name="Овал 53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3059832" y="53825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059832" y="5157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0" name="Овал 59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3419872" y="59399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9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428718" y="57239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6" name="Овал 65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/>
          <p:cNvSpPr txBox="1"/>
          <p:nvPr/>
        </p:nvSpPr>
        <p:spPr>
          <a:xfrm>
            <a:off x="3793256" y="3356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11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851920" y="31316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11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0" name="Овал 6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TextBox 70"/>
          <p:cNvSpPr txBox="1"/>
          <p:nvPr/>
        </p:nvSpPr>
        <p:spPr>
          <a:xfrm>
            <a:off x="4932040" y="213285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12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985586" y="190754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12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4" name="Овал 73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TextBox 75"/>
          <p:cNvSpPr txBox="1"/>
          <p:nvPr/>
        </p:nvSpPr>
        <p:spPr>
          <a:xfrm>
            <a:off x="5233416" y="3356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292080" y="31316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sp>
        <p:nvSpPr>
          <p:cNvPr id="79" name="Овал 7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TextBox 79"/>
          <p:cNvSpPr txBox="1"/>
          <p:nvPr/>
        </p:nvSpPr>
        <p:spPr>
          <a:xfrm>
            <a:off x="6300192" y="32942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350404" y="30689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cxnSp>
        <p:nvCxnSpPr>
          <p:cNvPr id="82" name="Shape 81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Овал 82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Овал 83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TextBox 85"/>
          <p:cNvSpPr txBox="1"/>
          <p:nvPr/>
        </p:nvSpPr>
        <p:spPr>
          <a:xfrm>
            <a:off x="4369320" y="60212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10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427984" y="5805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89" name="Shape 93"/>
          <p:cNvCxnSpPr>
            <a:stCxn id="84" idx="6"/>
          </p:cNvCxnSpPr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Прямая со стрелкой 89"/>
          <p:cNvCxnSpPr>
            <a:stCxn id="84" idx="2"/>
          </p:cNvCxnSpPr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Овал 90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Овал 91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" name="TextBox 92"/>
          <p:cNvSpPr txBox="1"/>
          <p:nvPr/>
        </p:nvSpPr>
        <p:spPr>
          <a:xfrm>
            <a:off x="4932040" y="106202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4982252" y="8367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cxnSp>
        <p:nvCxnSpPr>
          <p:cNvPr id="95" name="Прямая со стрелкой 94"/>
          <p:cNvCxnSpPr>
            <a:endCxn id="92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 стрелкой 95"/>
          <p:cNvCxnSpPr>
            <a:endCxn id="92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 стрелкой 2"/>
          <p:cNvCxnSpPr>
            <a:stCxn id="6" idx="3"/>
            <a:endCxn id="7" idx="7"/>
          </p:cNvCxnSpPr>
          <p:nvPr/>
        </p:nvCxnSpPr>
        <p:spPr>
          <a:xfrm flipH="1">
            <a:off x="3580061" y="1793351"/>
            <a:ext cx="646772" cy="732434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 стрелкой 3"/>
          <p:cNvCxnSpPr>
            <a:stCxn id="7" idx="3"/>
            <a:endCxn id="8" idx="7"/>
          </p:cNvCxnSpPr>
          <p:nvPr/>
        </p:nvCxnSpPr>
        <p:spPr>
          <a:xfrm flipH="1">
            <a:off x="3076005" y="2729455"/>
            <a:ext cx="300386" cy="73243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Овал 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>
            <a:stCxn id="6" idx="5"/>
            <a:endCxn id="10" idx="1"/>
          </p:cNvCxnSpPr>
          <p:nvPr/>
        </p:nvCxnSpPr>
        <p:spPr>
          <a:xfrm>
            <a:off x="4430503" y="1793351"/>
            <a:ext cx="602072" cy="444402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Овал 2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8" name="Прямая со стрелкой 27"/>
          <p:cNvCxnSpPr>
            <a:stCxn id="10" idx="5"/>
          </p:cNvCxnSpPr>
          <p:nvPr/>
        </p:nvCxnSpPr>
        <p:spPr>
          <a:xfrm>
            <a:off x="5236245" y="2441423"/>
            <a:ext cx="199851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endCxn id="6" idx="1"/>
          </p:cNvCxnSpPr>
          <p:nvPr/>
        </p:nvCxnSpPr>
        <p:spPr>
          <a:xfrm>
            <a:off x="3989109" y="908720"/>
            <a:ext cx="237724" cy="68096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Прямая со стрелкой 29"/>
          <p:cNvCxnSpPr>
            <a:stCxn id="25" idx="1"/>
            <a:endCxn id="7" idx="5"/>
          </p:cNvCxnSpPr>
          <p:nvPr/>
        </p:nvCxnSpPr>
        <p:spPr>
          <a:xfrm flipH="1" flipV="1">
            <a:off x="3580061" y="2729455"/>
            <a:ext cx="327694" cy="741726"/>
          </a:xfrm>
          <a:prstGeom prst="straightConnector1">
            <a:avLst/>
          </a:prstGeom>
          <a:ln w="3810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Овал 32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3213079" y="5751840"/>
            <a:ext cx="206793" cy="372814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endCxn id="57" idx="7"/>
          </p:cNvCxnSpPr>
          <p:nvPr/>
        </p:nvCxnSpPr>
        <p:spPr>
          <a:xfrm>
            <a:off x="1772919" y="4950460"/>
            <a:ext cx="34250" cy="8969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2" name="Прямая со стрелкой 61"/>
          <p:cNvCxnSpPr>
            <a:endCxn id="33" idx="1"/>
          </p:cNvCxnSpPr>
          <p:nvPr/>
        </p:nvCxnSpPr>
        <p:spPr>
          <a:xfrm>
            <a:off x="3069063" y="4941168"/>
            <a:ext cx="37758" cy="54623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Овал 62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2" name="Прямая со стрелкой 71"/>
          <p:cNvCxnSpPr>
            <a:stCxn id="10" idx="5"/>
          </p:cNvCxnSpPr>
          <p:nvPr/>
        </p:nvCxnSpPr>
        <p:spPr>
          <a:xfrm>
            <a:off x="5236245" y="2441423"/>
            <a:ext cx="1207963" cy="9875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/>
          <p:cNvCxnSpPr>
            <a:stCxn id="26" idx="6"/>
            <a:endCxn id="69" idx="2"/>
          </p:cNvCxnSpPr>
          <p:nvPr/>
        </p:nvCxnSpPr>
        <p:spPr>
          <a:xfrm flipV="1">
            <a:off x="5593766" y="3510300"/>
            <a:ext cx="770292" cy="62716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/>
          <p:cNvCxnSpPr>
            <a:stCxn id="8" idx="3"/>
            <a:endCxn id="56" idx="7"/>
          </p:cNvCxnSpPr>
          <p:nvPr/>
        </p:nvCxnSpPr>
        <p:spPr>
          <a:xfrm flipH="1">
            <a:off x="1870331" y="3665559"/>
            <a:ext cx="1002004" cy="1029758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/>
          <p:cNvCxnSpPr>
            <a:stCxn id="8" idx="4"/>
            <a:endCxn id="63" idx="1"/>
          </p:cNvCxnSpPr>
          <p:nvPr/>
        </p:nvCxnSpPr>
        <p:spPr>
          <a:xfrm flipH="1">
            <a:off x="2962805" y="3707740"/>
            <a:ext cx="11365" cy="97828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hape 100"/>
          <p:cNvCxnSpPr>
            <a:stCxn id="57" idx="6"/>
            <a:endCxn id="8" idx="3"/>
          </p:cNvCxnSpPr>
          <p:nvPr/>
        </p:nvCxnSpPr>
        <p:spPr>
          <a:xfrm flipV="1">
            <a:off x="1849350" y="3665559"/>
            <a:ext cx="1022985" cy="2283721"/>
          </a:xfrm>
          <a:prstGeom prst="curvedConnector2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hape 100"/>
          <p:cNvCxnSpPr>
            <a:endCxn id="8" idx="6"/>
          </p:cNvCxnSpPr>
          <p:nvPr/>
        </p:nvCxnSpPr>
        <p:spPr>
          <a:xfrm flipH="1" flipV="1">
            <a:off x="3118186" y="3563724"/>
            <a:ext cx="248140" cy="2003450"/>
          </a:xfrm>
          <a:prstGeom prst="curvedConnector3">
            <a:avLst>
              <a:gd name="adj1" fmla="val -41546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Овал 131"/>
          <p:cNvSpPr/>
          <p:nvPr/>
        </p:nvSpPr>
        <p:spPr>
          <a:xfrm>
            <a:off x="3851920" y="6113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TextBox 132"/>
          <p:cNvSpPr txBox="1"/>
          <p:nvPr/>
        </p:nvSpPr>
        <p:spPr>
          <a:xfrm>
            <a:off x="3851920" y="54868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3851920" y="3326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4" name="Овал 33"/>
          <p:cNvSpPr/>
          <p:nvPr/>
        </p:nvSpPr>
        <p:spPr>
          <a:xfrm>
            <a:off x="4184652" y="15475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184652" y="147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193498" y="1259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37" name="Овал 36"/>
          <p:cNvSpPr/>
          <p:nvPr/>
        </p:nvSpPr>
        <p:spPr>
          <a:xfrm>
            <a:off x="3334210" y="248360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3329402" y="24115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/>
                </a:solidFill>
              </a:rPr>
              <a:t>3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329402" y="2195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3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41" name="Овал 40"/>
          <p:cNvSpPr/>
          <p:nvPr/>
        </p:nvSpPr>
        <p:spPr>
          <a:xfrm>
            <a:off x="2830154" y="3419708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/>
          <p:cNvSpPr txBox="1"/>
          <p:nvPr/>
        </p:nvSpPr>
        <p:spPr>
          <a:xfrm>
            <a:off x="2816500" y="33477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825346" y="3131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44" name="Овал 43"/>
          <p:cNvSpPr/>
          <p:nvPr/>
        </p:nvSpPr>
        <p:spPr>
          <a:xfrm>
            <a:off x="1624480" y="46531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/>
          <p:cNvSpPr txBox="1"/>
          <p:nvPr/>
        </p:nvSpPr>
        <p:spPr>
          <a:xfrm>
            <a:off x="1619672" y="4581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19672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47" name="Овал 46"/>
          <p:cNvSpPr/>
          <p:nvPr/>
        </p:nvSpPr>
        <p:spPr>
          <a:xfrm>
            <a:off x="1561318" y="580526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/>
          <p:cNvSpPr txBox="1"/>
          <p:nvPr/>
        </p:nvSpPr>
        <p:spPr>
          <a:xfrm>
            <a:off x="1547664" y="573325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6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556510" y="5517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4</a:t>
            </a:r>
            <a:endParaRPr lang="ru-RU" dirty="0"/>
          </a:p>
        </p:txBody>
      </p:sp>
      <p:sp>
        <p:nvSpPr>
          <p:cNvPr id="50" name="Овал 49"/>
          <p:cNvSpPr/>
          <p:nvPr/>
        </p:nvSpPr>
        <p:spPr>
          <a:xfrm>
            <a:off x="2920624" y="464384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915816" y="457183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7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894020" y="43651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54" name="Овал 53"/>
          <p:cNvSpPr/>
          <p:nvPr/>
        </p:nvSpPr>
        <p:spPr>
          <a:xfrm>
            <a:off x="3064640" y="544522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/>
          <p:cNvSpPr txBox="1"/>
          <p:nvPr/>
        </p:nvSpPr>
        <p:spPr>
          <a:xfrm>
            <a:off x="3059832" y="53825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059832" y="5157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0" name="Овал 59"/>
          <p:cNvSpPr/>
          <p:nvPr/>
        </p:nvSpPr>
        <p:spPr>
          <a:xfrm>
            <a:off x="3433526" y="60119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>
            <a:off x="3419872" y="59399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9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428718" y="57239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66" name="Овал 65"/>
          <p:cNvSpPr/>
          <p:nvPr/>
        </p:nvSpPr>
        <p:spPr>
          <a:xfrm>
            <a:off x="386557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/>
          <p:cNvSpPr txBox="1"/>
          <p:nvPr/>
        </p:nvSpPr>
        <p:spPr>
          <a:xfrm>
            <a:off x="3793256" y="3356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11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851920" y="31316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11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0" name="Овал 69"/>
          <p:cNvSpPr/>
          <p:nvPr/>
        </p:nvSpPr>
        <p:spPr>
          <a:xfrm>
            <a:off x="4990394" y="2195572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TextBox 70"/>
          <p:cNvSpPr txBox="1"/>
          <p:nvPr/>
        </p:nvSpPr>
        <p:spPr>
          <a:xfrm>
            <a:off x="4932040" y="213285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12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985586" y="190754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accent6"/>
                </a:solidFill>
              </a:rPr>
              <a:t>12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74" name="Овал 73"/>
          <p:cNvSpPr/>
          <p:nvPr/>
        </p:nvSpPr>
        <p:spPr>
          <a:xfrm>
            <a:off x="5305734" y="3429000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TextBox 75"/>
          <p:cNvSpPr txBox="1"/>
          <p:nvPr/>
        </p:nvSpPr>
        <p:spPr>
          <a:xfrm>
            <a:off x="5233416" y="3356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292080" y="31316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sp>
        <p:nvSpPr>
          <p:cNvPr id="79" name="Овал 78"/>
          <p:cNvSpPr/>
          <p:nvPr/>
        </p:nvSpPr>
        <p:spPr>
          <a:xfrm>
            <a:off x="6364058" y="3366284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TextBox 79"/>
          <p:cNvSpPr txBox="1"/>
          <p:nvPr/>
        </p:nvSpPr>
        <p:spPr>
          <a:xfrm>
            <a:off x="6300192" y="32942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350404" y="306896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cxnSp>
        <p:nvCxnSpPr>
          <p:cNvPr id="82" name="Shape 81"/>
          <p:cNvCxnSpPr/>
          <p:nvPr/>
        </p:nvCxnSpPr>
        <p:spPr>
          <a:xfrm flipH="1" flipV="1">
            <a:off x="3482650" y="2780928"/>
            <a:ext cx="238908" cy="3343726"/>
          </a:xfrm>
          <a:prstGeom prst="curvedConnector4">
            <a:avLst>
              <a:gd name="adj1" fmla="val -95685"/>
              <a:gd name="adj2" fmla="val 52761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Овал 82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Овал 83"/>
          <p:cNvSpPr/>
          <p:nvPr/>
        </p:nvSpPr>
        <p:spPr>
          <a:xfrm>
            <a:off x="4432792" y="609329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TextBox 85"/>
          <p:cNvSpPr txBox="1"/>
          <p:nvPr/>
        </p:nvSpPr>
        <p:spPr>
          <a:xfrm>
            <a:off x="4369320" y="602128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10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427984" y="58052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7</a:t>
            </a:r>
            <a:endParaRPr lang="ru-RU" dirty="0"/>
          </a:p>
        </p:txBody>
      </p:sp>
      <p:cxnSp>
        <p:nvCxnSpPr>
          <p:cNvPr id="89" name="Shape 93"/>
          <p:cNvCxnSpPr>
            <a:stCxn id="84" idx="6"/>
          </p:cNvCxnSpPr>
          <p:nvPr/>
        </p:nvCxnSpPr>
        <p:spPr>
          <a:xfrm flipH="1" flipV="1">
            <a:off x="3222310" y="4756502"/>
            <a:ext cx="1498514" cy="1480810"/>
          </a:xfrm>
          <a:prstGeom prst="curvedConnector3">
            <a:avLst>
              <a:gd name="adj1" fmla="val -15255"/>
            </a:avLst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Прямая со стрелкой 89"/>
          <p:cNvCxnSpPr>
            <a:stCxn id="84" idx="2"/>
          </p:cNvCxnSpPr>
          <p:nvPr/>
        </p:nvCxnSpPr>
        <p:spPr>
          <a:xfrm flipH="1" flipV="1">
            <a:off x="3721558" y="6156012"/>
            <a:ext cx="711234" cy="8130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Овал 90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Овал 91"/>
          <p:cNvSpPr/>
          <p:nvPr/>
        </p:nvSpPr>
        <p:spPr>
          <a:xfrm>
            <a:off x="4995906" y="1134036"/>
            <a:ext cx="288032" cy="28803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" name="TextBox 92"/>
          <p:cNvSpPr txBox="1"/>
          <p:nvPr/>
        </p:nvSpPr>
        <p:spPr>
          <a:xfrm>
            <a:off x="4932040" y="106202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15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4982252" y="8367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</a:t>
            </a:r>
            <a:endParaRPr lang="ru-RU" dirty="0"/>
          </a:p>
        </p:txBody>
      </p:sp>
      <p:cxnSp>
        <p:nvCxnSpPr>
          <p:cNvPr id="95" name="Прямая со стрелкой 94"/>
          <p:cNvCxnSpPr>
            <a:endCxn id="92" idx="3"/>
          </p:cNvCxnSpPr>
          <p:nvPr/>
        </p:nvCxnSpPr>
        <p:spPr>
          <a:xfrm flipV="1">
            <a:off x="4486338" y="1379887"/>
            <a:ext cx="551749" cy="280271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Прямая со стрелкой 95"/>
          <p:cNvCxnSpPr>
            <a:endCxn id="92" idx="2"/>
          </p:cNvCxnSpPr>
          <p:nvPr/>
        </p:nvCxnSpPr>
        <p:spPr>
          <a:xfrm>
            <a:off x="4097771" y="857247"/>
            <a:ext cx="898135" cy="420805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838200" y="1986409"/>
            <a:ext cx="7772400" cy="29547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ru-RU" sz="2000" b="1" dirty="0" smtClean="0"/>
              <a:t>Алгоритм:</a:t>
            </a: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endParaRPr lang="ru-RU" sz="2000" dirty="0" smtClean="0"/>
          </a:p>
          <a:p>
            <a:pPr lvl="0">
              <a:spcBef>
                <a:spcPct val="0"/>
              </a:spcBef>
              <a:buFont typeface="Arial" pitchFamily="34" charset="0"/>
              <a:buChar char="•"/>
            </a:pPr>
            <a:r>
              <a:rPr lang="ru-RU" sz="2000" dirty="0" smtClean="0"/>
              <a:t>Каждой вершине </a:t>
            </a:r>
            <a:r>
              <a:rPr lang="en-US" sz="2000" b="1" dirty="0" smtClean="0"/>
              <a:t>u</a:t>
            </a:r>
            <a:r>
              <a:rPr lang="en-US" sz="2000" dirty="0" smtClean="0"/>
              <a:t> </a:t>
            </a:r>
            <a:r>
              <a:rPr lang="ru-RU" sz="2000" dirty="0" smtClean="0"/>
              <a:t>присваивается значение некоторого параметра (</a:t>
            </a:r>
            <a:r>
              <a:rPr lang="en-US" sz="2000" dirty="0" smtClean="0"/>
              <a:t>flag[u])</a:t>
            </a:r>
            <a:r>
              <a:rPr lang="ru-RU" sz="2000" dirty="0" smtClean="0"/>
              <a:t>, равное минимальному из времен входа (полученных обходом в глубину) в вершины в которые можно попасть из поддерева корнем которого является вершина </a:t>
            </a:r>
            <a:r>
              <a:rPr lang="en-US" sz="2000" b="1" dirty="0" smtClean="0"/>
              <a:t>u</a:t>
            </a:r>
            <a:r>
              <a:rPr lang="ru-RU" sz="2000" dirty="0" smtClean="0"/>
              <a:t>.</a:t>
            </a:r>
            <a:endParaRPr kumimoji="0" lang="ru-RU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685800" y="18864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Поиск </a:t>
            </a:r>
            <a:r>
              <a:rPr lang="ru-RU" sz="2800" b="1" dirty="0" smtClean="0"/>
              <a:t>мостов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685800" y="188641"/>
            <a:ext cx="7772400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Обход в глубину</a:t>
            </a:r>
            <a:endParaRPr lang="ru-RU" sz="2800" b="1" dirty="0" smtClean="0"/>
          </a:p>
        </p:txBody>
      </p:sp>
      <p:sp>
        <p:nvSpPr>
          <p:cNvPr id="5" name="Заголовок 1"/>
          <p:cNvSpPr>
            <a:spLocks noGrp="1"/>
          </p:cNvSpPr>
          <p:nvPr>
            <p:ph type="ctrTitle"/>
          </p:nvPr>
        </p:nvSpPr>
        <p:spPr>
          <a:xfrm>
            <a:off x="2555776" y="836712"/>
            <a:ext cx="4608512" cy="5976664"/>
          </a:xfrm>
        </p:spPr>
        <p:txBody>
          <a:bodyPr>
            <a:noAutofit/>
          </a:bodyPr>
          <a:lstStyle/>
          <a:p>
            <a:pPr algn="l"/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DFS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G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color[u] ⟵ WHITE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π[u] ⟵ NIL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time ⟵ 0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if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color[u] = WHITE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then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	</a:t>
            </a:r>
            <a:r>
              <a:rPr lang="en-US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DFS_Visit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(u)</a:t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/>
              <a:t>DFS</a:t>
            </a:r>
            <a:r>
              <a:rPr lang="ru-RU" sz="1600" dirty="0" smtClean="0"/>
              <a:t>_</a:t>
            </a:r>
            <a:r>
              <a:rPr lang="en-US" sz="1600" dirty="0" smtClean="0"/>
              <a:t>Visit</a:t>
            </a:r>
            <a:r>
              <a:rPr lang="ru-RU" sz="1600" dirty="0" smtClean="0"/>
              <a:t> (</a:t>
            </a:r>
            <a:r>
              <a:rPr lang="en-US" sz="1600" dirty="0" smtClean="0"/>
              <a:t>u</a:t>
            </a:r>
            <a:r>
              <a:rPr lang="ru-RU" sz="1600" dirty="0" smtClean="0"/>
              <a:t>)</a:t>
            </a:r>
            <a:br>
              <a:rPr lang="ru-RU" sz="1600" dirty="0" smtClean="0"/>
            </a:br>
            <a:r>
              <a:rPr lang="en-US" sz="1600" dirty="0" smtClean="0"/>
              <a:t>color[u] ⟵ GRAY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time ⟵ time +1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in[u] ⟵ time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b="1" dirty="0" smtClean="0"/>
              <a:t>for</a:t>
            </a:r>
            <a:r>
              <a:rPr lang="ru-RU" sz="1600" dirty="0" smtClean="0"/>
              <a:t> (для) каждой </a:t>
            </a:r>
            <a:r>
              <a:rPr lang="en-US" sz="1600" dirty="0" err="1" smtClean="0"/>
              <a:t>v</a:t>
            </a:r>
            <a:r>
              <a:rPr lang="ru-RU" sz="1600" dirty="0" smtClean="0"/>
              <a:t> ∈ </a:t>
            </a:r>
            <a:r>
              <a:rPr lang="en-US" sz="1600" dirty="0" err="1" smtClean="0"/>
              <a:t>Adj</a:t>
            </a:r>
            <a:r>
              <a:rPr lang="en-US" sz="1600" dirty="0" smtClean="0"/>
              <a:t>[u]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	</a:t>
            </a:r>
            <a:r>
              <a:rPr lang="en-US" sz="1600" b="1" dirty="0" smtClean="0"/>
              <a:t>if</a:t>
            </a:r>
            <a:r>
              <a:rPr lang="en-US" sz="1600" dirty="0" smtClean="0"/>
              <a:t> color[v] </a:t>
            </a:r>
            <a:r>
              <a:rPr lang="ru-RU" sz="1600" dirty="0" smtClean="0"/>
              <a:t>=</a:t>
            </a:r>
            <a:r>
              <a:rPr lang="en-US" sz="1600" dirty="0" smtClean="0"/>
              <a:t> WHITE </a:t>
            </a:r>
            <a:r>
              <a:rPr lang="en-US" sz="1600" b="1" dirty="0" smtClean="0"/>
              <a:t>then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</a:t>
            </a:r>
            <a:r>
              <a:rPr lang="en-US" sz="1600" dirty="0" err="1" smtClean="0"/>
              <a:t>DFS_Visit</a:t>
            </a:r>
            <a:r>
              <a:rPr lang="en-US" sz="1600" dirty="0" smtClean="0"/>
              <a:t>(v)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π[v] ⟵ u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color[u] ⟵ BLACK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time ⟵time+1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out[u] ⟵ time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55776" y="836712"/>
            <a:ext cx="4608512" cy="5976664"/>
          </a:xfrm>
        </p:spPr>
        <p:txBody>
          <a:bodyPr>
            <a:noAutofit/>
          </a:bodyPr>
          <a:lstStyle/>
          <a:p>
            <a:pPr algn="l"/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DFS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G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color[u] ⟵ WHITE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π[u] ⟵ NIL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flag[u] ⟵ 0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time ⟵ 0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if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color[u] = WHITE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then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	</a:t>
            </a:r>
            <a:r>
              <a:rPr lang="en-US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DFS_Visit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(u)</a:t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/>
              <a:t>DFS</a:t>
            </a:r>
            <a:r>
              <a:rPr lang="ru-RU" sz="1600" dirty="0" smtClean="0"/>
              <a:t>_</a:t>
            </a:r>
            <a:r>
              <a:rPr lang="en-US" sz="1600" dirty="0" smtClean="0"/>
              <a:t>Visit</a:t>
            </a:r>
            <a:r>
              <a:rPr lang="ru-RU" sz="1600" dirty="0" smtClean="0"/>
              <a:t> (</a:t>
            </a:r>
            <a:r>
              <a:rPr lang="en-US" sz="1600" dirty="0" smtClean="0"/>
              <a:t>u</a:t>
            </a:r>
            <a:r>
              <a:rPr lang="ru-RU" sz="1600" dirty="0" smtClean="0"/>
              <a:t>)</a:t>
            </a:r>
            <a:br>
              <a:rPr lang="ru-RU" sz="1600" dirty="0" smtClean="0"/>
            </a:br>
            <a:r>
              <a:rPr lang="en-US" sz="1600" dirty="0" smtClean="0"/>
              <a:t>color[u] ⟵ GRAY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time ⟵ time +1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in[u] ⟵ time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flag[u] ⟵ in[u]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b="1" dirty="0" smtClean="0"/>
              <a:t>for</a:t>
            </a:r>
            <a:r>
              <a:rPr lang="ru-RU" sz="1600" dirty="0" smtClean="0"/>
              <a:t> (для) каждой </a:t>
            </a:r>
            <a:r>
              <a:rPr lang="en-US" sz="1600" dirty="0" err="1" smtClean="0"/>
              <a:t>v</a:t>
            </a:r>
            <a:r>
              <a:rPr lang="ru-RU" sz="1600" dirty="0" smtClean="0"/>
              <a:t> ∈ </a:t>
            </a:r>
            <a:r>
              <a:rPr lang="en-US" sz="1600" dirty="0" err="1" smtClean="0"/>
              <a:t>Adj</a:t>
            </a:r>
            <a:r>
              <a:rPr lang="en-US" sz="1600" dirty="0" smtClean="0"/>
              <a:t>[u]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	</a:t>
            </a:r>
            <a:r>
              <a:rPr lang="en-US" sz="1600" b="1" dirty="0" smtClean="0"/>
              <a:t>if</a:t>
            </a:r>
            <a:r>
              <a:rPr lang="en-US" sz="1600" dirty="0" smtClean="0"/>
              <a:t> color[v] </a:t>
            </a:r>
            <a:r>
              <a:rPr lang="ru-RU" sz="1600" dirty="0" smtClean="0"/>
              <a:t>=</a:t>
            </a:r>
            <a:r>
              <a:rPr lang="en-US" sz="1600" dirty="0" smtClean="0"/>
              <a:t> WHITE </a:t>
            </a:r>
            <a:r>
              <a:rPr lang="en-US" sz="1600" b="1" dirty="0" smtClean="0"/>
              <a:t>then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</a:t>
            </a:r>
            <a:r>
              <a:rPr lang="en-US" sz="1600" dirty="0" err="1" smtClean="0"/>
              <a:t>DFS_Visit</a:t>
            </a:r>
            <a:r>
              <a:rPr lang="en-US" sz="1600" dirty="0" smtClean="0"/>
              <a:t>(v)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π[v] ⟵ u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>
                <a:solidFill>
                  <a:schemeClr val="accent6">
                    <a:lumMod val="75000"/>
                  </a:schemeClr>
                </a:solidFill>
              </a:rPr>
              <a:t>		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flag[v] ⟵ min(flag[u], flag[v]) </a:t>
            </a:r>
            <a:b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en-US" sz="1600" b="1" dirty="0" smtClean="0">
                <a:solidFill>
                  <a:schemeClr val="accent6">
                    <a:lumMod val="75000"/>
                  </a:schemeClr>
                </a:solidFill>
              </a:rPr>
              <a:t>else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		 flag[u] ⟵ min(flag[u], in[v])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color[u] ⟵ BLACK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time ⟵time+1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out[u] ⟵ time</a:t>
            </a:r>
            <a:endParaRPr lang="ru-RU" sz="1600" dirty="0"/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685800" y="188641"/>
            <a:ext cx="7772400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Поиск мостов</a:t>
            </a:r>
            <a:endParaRPr lang="ru-RU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55776" y="836712"/>
            <a:ext cx="4608512" cy="5976664"/>
          </a:xfrm>
        </p:spPr>
        <p:txBody>
          <a:bodyPr>
            <a:noAutofit/>
          </a:bodyPr>
          <a:lstStyle/>
          <a:p>
            <a:pPr algn="l"/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DFS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G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color[u] ⟵ WHITE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rgbClr val="FF0000"/>
                </a:solidFill>
              </a:rPr>
              <a:t>	π[u] ⟵ NIL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flag[u] ⟵ 0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time ⟵ 0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if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color[u] = WHITE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then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	</a:t>
            </a:r>
            <a:r>
              <a:rPr lang="en-US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DFS_Visit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(u)</a:t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/>
              <a:t>DFS</a:t>
            </a:r>
            <a:r>
              <a:rPr lang="ru-RU" sz="1600" dirty="0" smtClean="0"/>
              <a:t>_</a:t>
            </a:r>
            <a:r>
              <a:rPr lang="en-US" sz="1600" dirty="0" smtClean="0"/>
              <a:t>Visit</a:t>
            </a:r>
            <a:r>
              <a:rPr lang="ru-RU" sz="1600" dirty="0" smtClean="0"/>
              <a:t> (</a:t>
            </a:r>
            <a:r>
              <a:rPr lang="en-US" sz="1600" dirty="0" smtClean="0"/>
              <a:t>u</a:t>
            </a:r>
            <a:r>
              <a:rPr lang="ru-RU" sz="1600" dirty="0" smtClean="0"/>
              <a:t>)</a:t>
            </a:r>
            <a:br>
              <a:rPr lang="ru-RU" sz="1600" dirty="0" smtClean="0"/>
            </a:br>
            <a:r>
              <a:rPr lang="en-US" sz="1600" dirty="0" smtClean="0"/>
              <a:t>color[u] ⟵ GRAY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time ⟵ time +1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in[u] ⟵ time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flag[u] ⟵ in[u]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b="1" dirty="0" smtClean="0"/>
              <a:t>for</a:t>
            </a:r>
            <a:r>
              <a:rPr lang="ru-RU" sz="1600" dirty="0" smtClean="0"/>
              <a:t> (для) каждой </a:t>
            </a:r>
            <a:r>
              <a:rPr lang="en-US" sz="1600" dirty="0" err="1" smtClean="0"/>
              <a:t>v</a:t>
            </a:r>
            <a:r>
              <a:rPr lang="ru-RU" sz="1600" dirty="0" smtClean="0"/>
              <a:t> ∈ </a:t>
            </a:r>
            <a:r>
              <a:rPr lang="en-US" sz="1600" dirty="0" err="1" smtClean="0"/>
              <a:t>Adj</a:t>
            </a:r>
            <a:r>
              <a:rPr lang="en-US" sz="1600" dirty="0" smtClean="0"/>
              <a:t>[u]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	</a:t>
            </a:r>
            <a:r>
              <a:rPr lang="en-US" sz="1600" b="1" dirty="0" smtClean="0"/>
              <a:t>if</a:t>
            </a:r>
            <a:r>
              <a:rPr lang="en-US" sz="1600" dirty="0" smtClean="0"/>
              <a:t> color[v] </a:t>
            </a:r>
            <a:r>
              <a:rPr lang="ru-RU" sz="1600" dirty="0" smtClean="0"/>
              <a:t>=</a:t>
            </a:r>
            <a:r>
              <a:rPr lang="en-US" sz="1600" dirty="0" smtClean="0"/>
              <a:t> WHITE </a:t>
            </a:r>
            <a:r>
              <a:rPr lang="en-US" sz="1600" b="1" dirty="0" smtClean="0"/>
              <a:t>then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</a:t>
            </a:r>
            <a:r>
              <a:rPr lang="en-US" sz="1600" dirty="0" err="1" smtClean="0"/>
              <a:t>DFS_Visit</a:t>
            </a:r>
            <a:r>
              <a:rPr lang="en-US" sz="1600" dirty="0" smtClean="0"/>
              <a:t>(v)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>
                <a:solidFill>
                  <a:srgbClr val="FF0000"/>
                </a:solidFill>
              </a:rPr>
              <a:t>		π[v] ⟵ u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>
                <a:solidFill>
                  <a:schemeClr val="accent6">
                    <a:lumMod val="75000"/>
                  </a:schemeClr>
                </a:solidFill>
              </a:rPr>
              <a:t>		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flag[v] ⟵ min(flag[u], flag[v]) </a:t>
            </a:r>
            <a:b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en-US" sz="1600" b="1" dirty="0" smtClean="0">
                <a:solidFill>
                  <a:schemeClr val="accent6">
                    <a:lumMod val="75000"/>
                  </a:schemeClr>
                </a:solidFill>
              </a:rPr>
              <a:t>else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		 flag[u] ⟵ min(flag[u], in[v])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color[u] ⟵ BLACK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>
                <a:solidFill>
                  <a:srgbClr val="FF0000"/>
                </a:solidFill>
              </a:rPr>
              <a:t>time ⟵time+1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>
                <a:solidFill>
                  <a:srgbClr val="FF0000"/>
                </a:solidFill>
              </a:rPr>
              <a:t>out[u] ⟵ time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685800" y="188641"/>
            <a:ext cx="7772400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Поиск мостов</a:t>
            </a:r>
            <a:endParaRPr lang="ru-RU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55776" y="836712"/>
            <a:ext cx="4608512" cy="5976664"/>
          </a:xfrm>
        </p:spPr>
        <p:txBody>
          <a:bodyPr>
            <a:noAutofit/>
          </a:bodyPr>
          <a:lstStyle/>
          <a:p>
            <a:pPr algn="l"/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DFS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G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color[u] ⟵ WHITE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flag[u] ⟵ 0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time ⟵ 0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if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color[u] = WHITE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then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	</a:t>
            </a:r>
            <a:r>
              <a:rPr lang="en-US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DFS_Visit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(u)</a:t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/>
              <a:t>DFS</a:t>
            </a:r>
            <a:r>
              <a:rPr lang="ru-RU" sz="1600" dirty="0" smtClean="0"/>
              <a:t>_</a:t>
            </a:r>
            <a:r>
              <a:rPr lang="en-US" sz="1600" dirty="0" smtClean="0"/>
              <a:t>Visit</a:t>
            </a:r>
            <a:r>
              <a:rPr lang="ru-RU" sz="1600" dirty="0" smtClean="0"/>
              <a:t> (</a:t>
            </a:r>
            <a:r>
              <a:rPr lang="en-US" sz="1600" dirty="0" smtClean="0"/>
              <a:t>u</a:t>
            </a:r>
            <a:r>
              <a:rPr lang="ru-RU" sz="1600" dirty="0" smtClean="0"/>
              <a:t>)</a:t>
            </a:r>
            <a:br>
              <a:rPr lang="ru-RU" sz="1600" dirty="0" smtClean="0"/>
            </a:br>
            <a:r>
              <a:rPr lang="en-US" sz="1600" dirty="0" smtClean="0">
                <a:solidFill>
                  <a:srgbClr val="FF0000"/>
                </a:solidFill>
              </a:rPr>
              <a:t>color[u] ⟵ GRAY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time ⟵ time +1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in[u] ⟵ time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flag[u] ⟵ in[u]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b="1" dirty="0" smtClean="0"/>
              <a:t>for</a:t>
            </a:r>
            <a:r>
              <a:rPr lang="ru-RU" sz="1600" dirty="0" smtClean="0"/>
              <a:t> (для) каждой </a:t>
            </a:r>
            <a:r>
              <a:rPr lang="en-US" sz="1600" dirty="0" err="1" smtClean="0"/>
              <a:t>v</a:t>
            </a:r>
            <a:r>
              <a:rPr lang="ru-RU" sz="1600" dirty="0" smtClean="0"/>
              <a:t> ∈ </a:t>
            </a:r>
            <a:r>
              <a:rPr lang="en-US" sz="1600" dirty="0" err="1" smtClean="0"/>
              <a:t>Adj</a:t>
            </a:r>
            <a:r>
              <a:rPr lang="en-US" sz="1600" dirty="0" smtClean="0"/>
              <a:t>[u]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	</a:t>
            </a:r>
            <a:r>
              <a:rPr lang="en-US" sz="1600" b="1" dirty="0" smtClean="0"/>
              <a:t>if</a:t>
            </a:r>
            <a:r>
              <a:rPr lang="en-US" sz="1600" dirty="0" smtClean="0"/>
              <a:t> color[v] </a:t>
            </a:r>
            <a:r>
              <a:rPr lang="ru-RU" sz="1600" dirty="0" smtClean="0"/>
              <a:t>=</a:t>
            </a:r>
            <a:r>
              <a:rPr lang="en-US" sz="1600" dirty="0" smtClean="0"/>
              <a:t> WHITE </a:t>
            </a:r>
            <a:r>
              <a:rPr lang="en-US" sz="1600" b="1" dirty="0" smtClean="0"/>
              <a:t>then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</a:t>
            </a:r>
            <a:r>
              <a:rPr lang="en-US" sz="1600" dirty="0" err="1" smtClean="0"/>
              <a:t>DFS_Visit</a:t>
            </a:r>
            <a:r>
              <a:rPr lang="en-US" sz="1600" dirty="0" smtClean="0"/>
              <a:t>(v)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>
                <a:solidFill>
                  <a:schemeClr val="accent6">
                    <a:lumMod val="75000"/>
                  </a:schemeClr>
                </a:solidFill>
              </a:rPr>
              <a:t>		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flag[v] ⟵ min(flag[u], flag[v]) </a:t>
            </a:r>
            <a:b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en-US" sz="1600" b="1" dirty="0" smtClean="0">
                <a:solidFill>
                  <a:schemeClr val="accent6">
                    <a:lumMod val="75000"/>
                  </a:schemeClr>
                </a:solidFill>
              </a:rPr>
              <a:t>else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		 flag[u] ⟵ min(flag[u], in[v])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>
                <a:solidFill>
                  <a:srgbClr val="FF0000"/>
                </a:solidFill>
              </a:rPr>
              <a:t>color[u] ⟵ BLACK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/>
            </a:r>
            <a:br>
              <a:rPr lang="ru-RU" sz="1600" dirty="0" smtClean="0"/>
            </a:b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685800" y="188641"/>
            <a:ext cx="7772400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Поиск мостов</a:t>
            </a:r>
            <a:endParaRPr lang="ru-RU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55776" y="836712"/>
            <a:ext cx="4608512" cy="5976664"/>
          </a:xfrm>
        </p:spPr>
        <p:txBody>
          <a:bodyPr>
            <a:noAutofit/>
          </a:bodyPr>
          <a:lstStyle/>
          <a:p>
            <a:pPr algn="l"/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DFS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G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color[u] ⟵ WHITE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flag[u] ⟵ 0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time ⟵ 0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if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color[u] = WHITE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then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	</a:t>
            </a:r>
            <a:r>
              <a:rPr lang="en-US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DFS_Visit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(u)</a:t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/>
              <a:t>DFS</a:t>
            </a:r>
            <a:r>
              <a:rPr lang="ru-RU" sz="1600" dirty="0" smtClean="0"/>
              <a:t>_</a:t>
            </a:r>
            <a:r>
              <a:rPr lang="en-US" sz="1600" dirty="0" smtClean="0"/>
              <a:t>Visit</a:t>
            </a:r>
            <a:r>
              <a:rPr lang="ru-RU" sz="1600" dirty="0" smtClean="0"/>
              <a:t> (</a:t>
            </a:r>
            <a:r>
              <a:rPr lang="en-US" sz="1600" dirty="0" smtClean="0"/>
              <a:t>u</a:t>
            </a:r>
            <a:r>
              <a:rPr lang="ru-RU" sz="1600" dirty="0" smtClean="0"/>
              <a:t>)</a:t>
            </a:r>
            <a:br>
              <a:rPr lang="ru-RU" sz="1600" dirty="0" smtClean="0"/>
            </a:b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color[u] ⟵ BLACK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time ⟵ time +1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in[u] ⟵ time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flag[u] ⟵ in[u]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b="1" dirty="0" smtClean="0"/>
              <a:t>for</a:t>
            </a:r>
            <a:r>
              <a:rPr lang="ru-RU" sz="1600" dirty="0" smtClean="0"/>
              <a:t> (для) каждой </a:t>
            </a:r>
            <a:r>
              <a:rPr lang="en-US" sz="1600" dirty="0" err="1" smtClean="0"/>
              <a:t>v</a:t>
            </a:r>
            <a:r>
              <a:rPr lang="ru-RU" sz="1600" dirty="0" smtClean="0"/>
              <a:t> ∈ </a:t>
            </a:r>
            <a:r>
              <a:rPr lang="en-US" sz="1600" dirty="0" err="1" smtClean="0"/>
              <a:t>Adj</a:t>
            </a:r>
            <a:r>
              <a:rPr lang="en-US" sz="1600" dirty="0" smtClean="0"/>
              <a:t>[u]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	</a:t>
            </a:r>
            <a:r>
              <a:rPr lang="en-US" sz="1600" b="1" dirty="0" smtClean="0"/>
              <a:t>if</a:t>
            </a:r>
            <a:r>
              <a:rPr lang="en-US" sz="1600" dirty="0" smtClean="0"/>
              <a:t> color[v] </a:t>
            </a:r>
            <a:r>
              <a:rPr lang="ru-RU" sz="1600" dirty="0" smtClean="0"/>
              <a:t>=</a:t>
            </a:r>
            <a:r>
              <a:rPr lang="en-US" sz="1600" dirty="0" smtClean="0"/>
              <a:t> WHITE </a:t>
            </a:r>
            <a:r>
              <a:rPr lang="en-US" sz="1600" b="1" dirty="0" smtClean="0"/>
              <a:t>then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</a:t>
            </a:r>
            <a:r>
              <a:rPr lang="en-US" sz="1600" dirty="0" err="1" smtClean="0"/>
              <a:t>DFS_Visit</a:t>
            </a:r>
            <a:r>
              <a:rPr lang="en-US" sz="1600" dirty="0" smtClean="0"/>
              <a:t>(v)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>
                <a:solidFill>
                  <a:schemeClr val="accent6">
                    <a:lumMod val="75000"/>
                  </a:schemeClr>
                </a:solidFill>
              </a:rPr>
              <a:t>		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flag[v] ⟵ min(flag[u], flag[v]) </a:t>
            </a:r>
            <a:b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en-US" sz="1600" b="1" dirty="0" smtClean="0">
                <a:solidFill>
                  <a:schemeClr val="accent6">
                    <a:lumMod val="75000"/>
                  </a:schemeClr>
                </a:solidFill>
              </a:rPr>
              <a:t>else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		 flag[u] ⟵ min(flag[u], in[v])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/>
            </a:r>
            <a:br>
              <a:rPr lang="ru-RU" sz="1600" dirty="0" smtClean="0"/>
            </a:b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685800" y="188641"/>
            <a:ext cx="7772400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Поиск мостов</a:t>
            </a:r>
            <a:endParaRPr lang="ru-RU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55776" y="836712"/>
            <a:ext cx="4608512" cy="5976664"/>
          </a:xfrm>
        </p:spPr>
        <p:txBody>
          <a:bodyPr>
            <a:noAutofit/>
          </a:bodyPr>
          <a:lstStyle/>
          <a:p>
            <a:pPr algn="l"/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DFS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G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color[u] ⟵ WHITE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flag[u] ⟵ 0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time ⟵ 0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(для) каждой </a:t>
            </a:r>
            <a:r>
              <a:rPr lang="ru-RU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∈ V[G]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do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if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color[u] = WHITE </a:t>
            </a:r>
            <a:r>
              <a:rPr lang="en-US" sz="16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then</a:t>
            </a:r>
            <a: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		</a:t>
            </a:r>
            <a:r>
              <a:rPr lang="en-US" sz="1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DFS_Visit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(u, 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u</a:t>
            </a:r>
            <a: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br>
              <a:rPr lang="en-US" sz="1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dirty="0" smtClean="0"/>
              <a:t>DFS</a:t>
            </a:r>
            <a:r>
              <a:rPr lang="ru-RU" sz="1600" dirty="0" smtClean="0"/>
              <a:t>_</a:t>
            </a:r>
            <a:r>
              <a:rPr lang="en-US" sz="1600" dirty="0" smtClean="0"/>
              <a:t>Visit</a:t>
            </a:r>
            <a:r>
              <a:rPr lang="ru-RU" sz="1600" dirty="0" smtClean="0"/>
              <a:t> (</a:t>
            </a:r>
            <a:r>
              <a:rPr lang="en-US" sz="1600" dirty="0" smtClean="0"/>
              <a:t>u, 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from</a:t>
            </a:r>
            <a:r>
              <a:rPr lang="ru-RU" sz="1600" dirty="0" smtClean="0"/>
              <a:t>)</a:t>
            </a:r>
            <a:br>
              <a:rPr lang="ru-RU" sz="1600" dirty="0" smtClean="0"/>
            </a:b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color[u] ⟵ BLACK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time ⟵ time +1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in[u] ⟵ time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flag[u] ⟵ in[u]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b="1" dirty="0" smtClean="0"/>
              <a:t>for</a:t>
            </a:r>
            <a:r>
              <a:rPr lang="ru-RU" sz="1600" dirty="0" smtClean="0"/>
              <a:t> (для) каждой </a:t>
            </a:r>
            <a:r>
              <a:rPr lang="en-US" sz="1600" dirty="0" err="1" smtClean="0"/>
              <a:t>v</a:t>
            </a:r>
            <a:r>
              <a:rPr lang="ru-RU" sz="1600" dirty="0" smtClean="0"/>
              <a:t> ∈ </a:t>
            </a:r>
            <a:r>
              <a:rPr lang="en-US" sz="1600" dirty="0" err="1" smtClean="0"/>
              <a:t>Adj</a:t>
            </a:r>
            <a:r>
              <a:rPr lang="en-US" sz="1600" dirty="0" smtClean="0"/>
              <a:t>[u] </a:t>
            </a:r>
            <a:r>
              <a:rPr lang="en-US" sz="1600" b="1" dirty="0" smtClean="0"/>
              <a:t>do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>	</a:t>
            </a:r>
            <a:r>
              <a:rPr lang="en-US" sz="1600" b="1" dirty="0" smtClean="0"/>
              <a:t>if</a:t>
            </a:r>
            <a:r>
              <a:rPr lang="en-US" sz="1600" dirty="0" smtClean="0"/>
              <a:t> color[v] </a:t>
            </a:r>
            <a:r>
              <a:rPr lang="ru-RU" sz="1600" dirty="0" smtClean="0"/>
              <a:t>=</a:t>
            </a:r>
            <a:r>
              <a:rPr lang="en-US" sz="1600" dirty="0" smtClean="0"/>
              <a:t> WHITE </a:t>
            </a:r>
            <a:r>
              <a:rPr lang="en-US" sz="1600" b="1" dirty="0" smtClean="0"/>
              <a:t>then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dirty="0" smtClean="0"/>
              <a:t>		</a:t>
            </a:r>
            <a:r>
              <a:rPr lang="en-US" sz="1600" dirty="0" err="1" smtClean="0"/>
              <a:t>DFS_Visit</a:t>
            </a:r>
            <a:r>
              <a:rPr lang="en-US" sz="1600" dirty="0" smtClean="0"/>
              <a:t>(v, 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u</a:t>
            </a:r>
            <a:r>
              <a:rPr lang="en-US" sz="1600" dirty="0" smtClean="0"/>
              <a:t>)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ru-RU" sz="1600" dirty="0" smtClean="0">
                <a:solidFill>
                  <a:schemeClr val="accent6">
                    <a:lumMod val="75000"/>
                  </a:schemeClr>
                </a:solidFill>
              </a:rPr>
              <a:t>		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flag[v] ⟵ min(flag[u], flag[v]) </a:t>
            </a:r>
            <a:b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	</a:t>
            </a:r>
            <a:r>
              <a:rPr lang="en-US" sz="1600" b="1" dirty="0" smtClean="0">
                <a:solidFill>
                  <a:schemeClr val="accent6">
                    <a:lumMod val="75000"/>
                  </a:schemeClr>
                </a:solidFill>
              </a:rPr>
              <a:t>else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		 flag[u] ⟵ min(flag[u], in[v])</a:t>
            </a:r>
            <a:r>
              <a:rPr lang="ru-RU" sz="1600" dirty="0" smtClean="0"/>
              <a:t/>
            </a:r>
            <a:br>
              <a:rPr lang="ru-RU" sz="1600" dirty="0" smtClean="0"/>
            </a:br>
            <a:r>
              <a:rPr lang="en-US" sz="1600" b="1" dirty="0" smtClean="0">
                <a:solidFill>
                  <a:schemeClr val="accent6">
                    <a:lumMod val="75000"/>
                  </a:schemeClr>
                </a:solidFill>
              </a:rPr>
              <a:t>if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 flag[u] = in[u] </a:t>
            </a:r>
            <a:r>
              <a:rPr lang="en-US" sz="1600" b="1" dirty="0" smtClean="0">
                <a:solidFill>
                  <a:schemeClr val="accent6">
                    <a:lumMod val="75000"/>
                  </a:schemeClr>
                </a:solidFill>
              </a:rPr>
              <a:t>then</a:t>
            </a:r>
            <a:r>
              <a:rPr lang="ru-RU" sz="1600" dirty="0" smtClean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ru-RU" sz="1600" dirty="0" smtClean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	(from, u) - </a:t>
            </a:r>
            <a:r>
              <a:rPr lang="ru-RU" sz="1600" dirty="0" smtClean="0">
                <a:solidFill>
                  <a:schemeClr val="accent6">
                    <a:lumMod val="75000"/>
                  </a:schemeClr>
                </a:solidFill>
              </a:rPr>
              <a:t>мост</a:t>
            </a:r>
            <a:r>
              <a:rPr lang="ru-RU" sz="1600" dirty="0" smtClean="0"/>
              <a:t/>
            </a:r>
            <a:br>
              <a:rPr lang="ru-RU" sz="1600" dirty="0" smtClean="0"/>
            </a:b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685800" y="188641"/>
            <a:ext cx="7772400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14350" lvl="0" indent="-514350" algn="ctr">
              <a:spcBef>
                <a:spcPct val="0"/>
              </a:spcBef>
            </a:pPr>
            <a:r>
              <a:rPr lang="ru-RU" sz="2800" dirty="0" smtClean="0"/>
              <a:t>Поиск мостов</a:t>
            </a:r>
            <a:endParaRPr lang="ru-RU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3140</TotalTime>
  <Words>2158</Words>
  <Application>Microsoft Office PowerPoint</Application>
  <PresentationFormat>Экран (4:3)</PresentationFormat>
  <Paragraphs>1243</Paragraphs>
  <Slides>112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112</vt:i4>
      </vt:variant>
    </vt:vector>
  </HeadingPairs>
  <TitlesOfParts>
    <vt:vector size="115" baseType="lpstr">
      <vt:lpstr>Arial</vt:lpstr>
      <vt:lpstr>Calibri</vt:lpstr>
      <vt:lpstr>Тема Office</vt:lpstr>
      <vt:lpstr>Graph algorithms</vt:lpstr>
      <vt:lpstr>Depth-first search (DFS)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DFS (G) for each u ∈ V[G] do  color[u] ⟵ WHITE  π[u] ⟵ NIL time ⟵ 0 for each u ∈ V[G] do  if color[u] = WHITE then   DFS_Visit(u)    DFS_Visit (u) color[u] ⟵ GRAY time ⟵ time +1 in[u] ⟵ time for each ∈ Adj[u] do  if color[v] = WHITE then   π[v] ⟵ u   DFS_Visit(v) color[u] ⟵ BLACK time ⟵time+1 out[u] ⟵ time</vt:lpstr>
      <vt:lpstr>Дерево обхода в глубину. Классификация дуг. </vt:lpstr>
      <vt:lpstr>Введем понятие времени входа (_in) и выхода (_out). Пусть даны две вершины u и v. Причем, u_in &lt; v_in.  Теорема о скобках: Возможен только один из двух вариантов: u_in &lt; v_in &lt; v_out &lt; u_out u_in &lt; u_out &lt; v_in &lt; v_out т.е. невозможен случай: u_in &lt; v_in &lt; u_out &lt; v_out  Доказательство: Если u_out &lt; v_in – чтд (вариант 2). Если v_in &lt; u_out, то получается u_in &lt; v_in &lt; u_out. Это говорит о том что вершина v была открыта до закрытия вершины u,но после ее открытия. Следовательно, исходя из последовательности действий алгоритма, вершина u является предком вершины v, а значит будет закрыта позже.</vt:lpstr>
      <vt:lpstr>Дуги дерева – это дуги графа Gπ. Дуга (u, v) является дугой дерева, если при исследовании этой дуги была открыта v (т.е. u является ее непосредственным предком в дереве обхода). Прямые дуги – это дуги (u, v), не являющиеся дугами дерева обхода и соединяющие вершину u с ее потомком v в дереве обхода. Обратные дуги – это дуги (u, v), соединяющие вершину u с ее предком v в дереве обхода. Дуги-циклы, которые могут встречаться в орграфах, рассматриваются как обратные дуги. Перекрестные дуги – это дуги графа, не относящиеся к трем описанным выше типам. Они могут соединять вершины одного и того же дерева обхода, когда ни одна из вершин не является предком другой, или соединять вершины в различных деревьях.   Следствие: Дуга (u,v) прямая, если u_in &lt; v_in, v_out &lt; u_out Дуга (u,v) обратная, если v_in &lt; u_in, u_out &lt; v_out Дуга (u,v) перекрестная, если u_out &lt; v_in или v_out &lt; u_in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DFS (G) for (для) каждой u ∈ V[G] do  color[u] ⟵ WHITE  π[u] ⟵ NIL Q ⟵ ∅ cycle_start ⟵ NIL cycle_end ⟵ NIL for (для) каждой u ∈ V[G] do  if color[u] = WHITE then   DFS_Visit(u) If cycle_start = NIL then  write “acyclic” else  write “cyclic”  в очередь (Q, cycle_start)  while cycle_start != cycle_end do   cycle_start ⟵ π[cycle_start]   в очередь (Q, cycle_start) DFS_Visit (u) color[u] ⟵ GRAY for (для) каждой u ∈ Adj[u] do  if color[v] = WHITE then   π[v] ⟵ u   If DFS_Visit(v) then    return true  if color[v] = GRAY then   cycle_start ⟵ v   cycle_end ⟵ u   return true color[u] ⟵ BLACK return false</vt:lpstr>
      <vt:lpstr>Презентация PowerPoint</vt:lpstr>
      <vt:lpstr>DFS (G) for (для) каждой u ∈ V[G] do  part[u] ⟵ ∞ for (для) каждой u ∈ V[G] do  if part[u] = 0 then   part[u] ⟵ 1   DFS_Visit(u)     DFS_Visit (u) for (для) каждой v ∈ Adj[u] do  if part[v] = ∞ then   part[v] ⟵ (part[u] +1) mod 2   If !(DFS_Visit(v)) then    return false  else    if part[v] = part[u] then     return false return true </vt:lpstr>
      <vt:lpstr>Correct numbering or topological sorting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 Topological_sort (G(V,E)) for (для) каждой u ∈ V[G] do  color[u] ⟵ WHITE  order[v] ⟵ 0 time ⟵ |V| for (для) каждой u ∈ V[G] do  if color[u] = WHITE then   DFS_Visit(u)   DFS_Visit (u) color[u] ⟵ BLACK for (для) каждой v ∈ Adj[u] do  if color[v] = WHITE then   DFS_Visit(v) time ⟵time-1 order[u] ⟵ time</vt:lpstr>
      <vt:lpstr>Поиск компонент сильной связности</vt:lpstr>
      <vt:lpstr>Презентация PowerPoint</vt:lpstr>
      <vt:lpstr>Презентация PowerPoint</vt:lpstr>
      <vt:lpstr>Презентация PowerPoint</vt:lpstr>
      <vt:lpstr>Поиск мостов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DFS (G) for (для) каждой u ∈ V[G] do  color[u] ⟵ WHITE  π[u] ⟵ NIL   time ⟵ 0 for (для) каждой u ∈ V[G] do  if color[u] = WHITE then   DFS_Visit(u) DFS_Visit (u) color[u] ⟵ GRAY time ⟵ time +1 in[u] ⟵ time  for (для) каждой v ∈ Adj[u] do  if color[v] = WHITE then   DFS_Visit(v)   π[v] ⟵ u    color[u] ⟵ BLACK time ⟵time+1 out[u] ⟵ time</vt:lpstr>
      <vt:lpstr>DFS (G) for (для) каждой u ∈ V[G] do  color[u] ⟵ WHITE  π[u] ⟵ NIL  flag[u] ⟵ 0 time ⟵ 0 for (для) каждой u ∈ V[G] do  if color[u] = WHITE then   DFS_Visit(u) DFS_Visit (u) color[u] ⟵ GRAY time ⟵ time +1 in[u] ⟵ time flag[u] ⟵ in[u] for (для) каждой v ∈ Adj[u] do  if color[v] = WHITE then   DFS_Visit(v)   π[v] ⟵ u   flag[v] ⟵ min(flag[u], flag[v])   else    flag[u] ⟵ min(flag[u], in[v]) color[u] ⟵ BLACK time ⟵time+1 out[u] ⟵ time</vt:lpstr>
      <vt:lpstr>DFS (G) for (для) каждой u ∈ V[G] do  color[u] ⟵ WHITE  π[u] ⟵ NIL  flag[u] ⟵ 0 time ⟵ 0 for (для) каждой u ∈ V[G] do  if color[u] = WHITE then   DFS_Visit(u) DFS_Visit (u) color[u] ⟵ GRAY time ⟵ time +1 in[u] ⟵ time flag[u] ⟵ in[u] for (для) каждой v ∈ Adj[u] do  if color[v] = WHITE then   DFS_Visit(v)   π[v] ⟵ u   flag[v] ⟵ min(flag[u], flag[v])   else    flag[u] ⟵ min(flag[u], in[v]) color[u] ⟵ BLACK time ⟵time+1 out[u] ⟵ time</vt:lpstr>
      <vt:lpstr>DFS (G) for (для) каждой u ∈ V[G] do  color[u] ⟵ WHITE   flag[u] ⟵ 0 time ⟵ 0 for (для) каждой u ∈ V[G] do  if color[u] = WHITE then   DFS_Visit(u) DFS_Visit (u) color[u] ⟵ GRAY time ⟵ time +1 in[u] ⟵ time flag[u] ⟵ in[u] for (для) каждой v ∈ Adj[u] do  if color[v] = WHITE then   DFS_Visit(v)    flag[v] ⟵ min(flag[u], flag[v])   else    flag[u] ⟵ min(flag[u], in[v]) color[u] ⟵ BLACK  </vt:lpstr>
      <vt:lpstr>DFS (G) for (для) каждой u ∈ V[G] do  color[u] ⟵ WHITE   flag[u] ⟵ 0 time ⟵ 0 for (для) каждой u ∈ V[G] do  if color[u] = WHITE then   DFS_Visit(u) DFS_Visit (u) color[u] ⟵ BLACK time ⟵ time +1 in[u] ⟵ time flag[u] ⟵ in[u] for (для) каждой v ∈ Adj[u] do  if color[v] = WHITE then   DFS_Visit(v)    flag[v] ⟵ min(flag[u], flag[v])   else    flag[u] ⟵ min(flag[u], in[v])   </vt:lpstr>
      <vt:lpstr>DFS (G) for (для) каждой u ∈ V[G] do  color[u] ⟵ WHITE   flag[u] ⟵ 0 time ⟵ 0 for (для) каждой u ∈ V[G] do  if color[u] = WHITE then   DFS_Visit(u, u) DFS_Visit (u, from) color[u] ⟵ BLACK time ⟵ time +1 in[u] ⟵ time flag[u] ⟵ in[u] for (для) каждой v ∈ Adj[u] do  if color[v] = WHITE then   DFS_Visit(v, u)    flag[v] ⟵ min(flag[u], flag[v])   else    flag[u] ⟵ min(flag[u], in[v]) if flag[u] = in[u] then  (from, u) - мост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Алгоритмы на графах</dc:title>
  <dc:creator>Мамочка и папочка</dc:creator>
  <cp:lastModifiedBy>Oleg</cp:lastModifiedBy>
  <cp:revision>56</cp:revision>
  <dcterms:created xsi:type="dcterms:W3CDTF">2020-02-18T13:52:34Z</dcterms:created>
  <dcterms:modified xsi:type="dcterms:W3CDTF">2022-04-26T06:25:49Z</dcterms:modified>
</cp:coreProperties>
</file>
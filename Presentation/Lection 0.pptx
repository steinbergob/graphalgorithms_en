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8"/>
  </p:notesMasterIdLst>
  <p:sldIdLst>
    <p:sldId id="256" r:id="rId2"/>
    <p:sldId id="273" r:id="rId3"/>
    <p:sldId id="305" r:id="rId4"/>
    <p:sldId id="308" r:id="rId5"/>
    <p:sldId id="309" r:id="rId6"/>
    <p:sldId id="304" r:id="rId7"/>
    <p:sldId id="310" r:id="rId8"/>
    <p:sldId id="311" r:id="rId9"/>
    <p:sldId id="312" r:id="rId10"/>
    <p:sldId id="417" r:id="rId11"/>
    <p:sldId id="399" r:id="rId12"/>
    <p:sldId id="315" r:id="rId13"/>
    <p:sldId id="316" r:id="rId14"/>
    <p:sldId id="331" r:id="rId15"/>
    <p:sldId id="317" r:id="rId16"/>
    <p:sldId id="333" r:id="rId17"/>
    <p:sldId id="318" r:id="rId18"/>
    <p:sldId id="320" r:id="rId19"/>
    <p:sldId id="321" r:id="rId20"/>
    <p:sldId id="322" r:id="rId21"/>
    <p:sldId id="442" r:id="rId22"/>
    <p:sldId id="443" r:id="rId23"/>
    <p:sldId id="401" r:id="rId24"/>
    <p:sldId id="400" r:id="rId25"/>
    <p:sldId id="383" r:id="rId26"/>
    <p:sldId id="332" r:id="rId27"/>
    <p:sldId id="377" r:id="rId28"/>
    <p:sldId id="378" r:id="rId29"/>
    <p:sldId id="402" r:id="rId30"/>
    <p:sldId id="404" r:id="rId31"/>
    <p:sldId id="444" r:id="rId32"/>
    <p:sldId id="379" r:id="rId33"/>
    <p:sldId id="372" r:id="rId34"/>
    <p:sldId id="338" r:id="rId35"/>
    <p:sldId id="375" r:id="rId36"/>
    <p:sldId id="376" r:id="rId37"/>
    <p:sldId id="334" r:id="rId38"/>
    <p:sldId id="373" r:id="rId39"/>
    <p:sldId id="440" r:id="rId40"/>
    <p:sldId id="409" r:id="rId41"/>
    <p:sldId id="411" r:id="rId42"/>
    <p:sldId id="413" r:id="rId43"/>
    <p:sldId id="412" r:id="rId44"/>
    <p:sldId id="414" r:id="rId45"/>
    <p:sldId id="436" r:id="rId46"/>
    <p:sldId id="299" r:id="rId47"/>
    <p:sldId id="324" r:id="rId48"/>
    <p:sldId id="326" r:id="rId49"/>
    <p:sldId id="325" r:id="rId50"/>
    <p:sldId id="369" r:id="rId51"/>
    <p:sldId id="329" r:id="rId52"/>
    <p:sldId id="405" r:id="rId53"/>
    <p:sldId id="327" r:id="rId54"/>
    <p:sldId id="406" r:id="rId55"/>
    <p:sldId id="328" r:id="rId56"/>
    <p:sldId id="370" r:id="rId57"/>
    <p:sldId id="330" r:id="rId58"/>
    <p:sldId id="350" r:id="rId59"/>
    <p:sldId id="380" r:id="rId60"/>
    <p:sldId id="339" r:id="rId61"/>
    <p:sldId id="385" r:id="rId62"/>
    <p:sldId id="384" r:id="rId63"/>
    <p:sldId id="407" r:id="rId64"/>
    <p:sldId id="341" r:id="rId65"/>
    <p:sldId id="408" r:id="rId66"/>
    <p:sldId id="342" r:id="rId67"/>
    <p:sldId id="438" r:id="rId68"/>
    <p:sldId id="382" r:id="rId69"/>
    <p:sldId id="352" r:id="rId70"/>
    <p:sldId id="439" r:id="rId71"/>
    <p:sldId id="351" r:id="rId72"/>
    <p:sldId id="346" r:id="rId73"/>
    <p:sldId id="415" r:id="rId74"/>
    <p:sldId id="418" r:id="rId75"/>
    <p:sldId id="445" r:id="rId76"/>
    <p:sldId id="422" r:id="rId77"/>
    <p:sldId id="424" r:id="rId78"/>
    <p:sldId id="423" r:id="rId79"/>
    <p:sldId id="425" r:id="rId80"/>
    <p:sldId id="426" r:id="rId81"/>
    <p:sldId id="430" r:id="rId82"/>
    <p:sldId id="427" r:id="rId83"/>
    <p:sldId id="431" r:id="rId84"/>
    <p:sldId id="428" r:id="rId85"/>
    <p:sldId id="432" r:id="rId86"/>
    <p:sldId id="429" r:id="rId87"/>
    <p:sldId id="446" r:id="rId88"/>
    <p:sldId id="416" r:id="rId89"/>
    <p:sldId id="355" r:id="rId90"/>
    <p:sldId id="356" r:id="rId91"/>
    <p:sldId id="437" r:id="rId92"/>
    <p:sldId id="396" r:id="rId93"/>
    <p:sldId id="387" r:id="rId94"/>
    <p:sldId id="433" r:id="rId95"/>
    <p:sldId id="434" r:id="rId96"/>
    <p:sldId id="357" r:id="rId97"/>
    <p:sldId id="353" r:id="rId98"/>
    <p:sldId id="358" r:id="rId99"/>
    <p:sldId id="386" r:id="rId100"/>
    <p:sldId id="360" r:id="rId101"/>
    <p:sldId id="361" r:id="rId102"/>
    <p:sldId id="362" r:id="rId103"/>
    <p:sldId id="363" r:id="rId104"/>
    <p:sldId id="364" r:id="rId105"/>
    <p:sldId id="435" r:id="rId106"/>
    <p:sldId id="366" r:id="rId10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55" autoAdjust="0"/>
    <p:restoredTop sz="94660"/>
  </p:normalViewPr>
  <p:slideViewPr>
    <p:cSldViewPr>
      <p:cViewPr varScale="1">
        <p:scale>
          <a:sx n="106" d="100"/>
          <a:sy n="106" d="100"/>
        </p:scale>
        <p:origin x="1050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E0819D-A975-4EB5-924C-319D3567C40C}" type="datetimeFigureOut">
              <a:rPr lang="ru-RU" smtClean="0"/>
              <a:t>14.02.2022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D733C-3CE7-4123-AD27-D4DEFA6C49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876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После выбрасывания листа из графа у которого больше 2 вершин, граф остается деревом</a:t>
            </a:r>
          </a:p>
          <a:p>
            <a:endParaRPr lang="ru-RU" dirty="0" smtClean="0"/>
          </a:p>
          <a:p>
            <a:r>
              <a:rPr lang="ru-RU" dirty="0" smtClean="0"/>
              <a:t>Предположим что листа нет.</a:t>
            </a:r>
          </a:p>
          <a:p>
            <a:endParaRPr lang="ru-RU" dirty="0" smtClean="0"/>
          </a:p>
          <a:p>
            <a:r>
              <a:rPr lang="ru-RU" dirty="0" smtClean="0"/>
              <a:t>Тогда степень каждой вершины больше или равна 2.</a:t>
            </a:r>
          </a:p>
          <a:p>
            <a:endParaRPr lang="ru-RU" dirty="0" smtClean="0"/>
          </a:p>
          <a:p>
            <a:r>
              <a:rPr lang="ru-RU" dirty="0" smtClean="0"/>
              <a:t>Покажем что в таком графе точно есть цикл.</a:t>
            </a:r>
          </a:p>
          <a:p>
            <a:endParaRPr lang="ru-RU" dirty="0" smtClean="0"/>
          </a:p>
          <a:p>
            <a:r>
              <a:rPr lang="ru-RU" dirty="0" smtClean="0"/>
              <a:t>Применим конструктивный подход. Построим его.</a:t>
            </a:r>
          </a:p>
          <a:p>
            <a:endParaRPr lang="ru-RU" dirty="0" smtClean="0"/>
          </a:p>
          <a:p>
            <a:r>
              <a:rPr lang="ru-RU" dirty="0" smtClean="0"/>
              <a:t>1) Возьмем произвольную вершину. Пометим ее как добавленную в строящийся цикл.</a:t>
            </a:r>
          </a:p>
          <a:p>
            <a:r>
              <a:rPr lang="ru-RU" dirty="0" smtClean="0"/>
              <a:t>2) Ее степень &gt;= 2. Возьмем любую из смежных с ней вершин. </a:t>
            </a:r>
          </a:p>
          <a:p>
            <a:r>
              <a:rPr lang="ru-RU" dirty="0" smtClean="0"/>
              <a:t>3) Если вершина оказалась помеченной, то был найден цикл. Выход.</a:t>
            </a:r>
          </a:p>
          <a:p>
            <a:r>
              <a:rPr lang="ru-RU" dirty="0" smtClean="0"/>
              <a:t>4) Степень этой вершины тоже &gt;=2, значит у нее есть еще, как минимум одна смежная вершина. Возьмем ее и пометим ее как добавленную в строящийся цикл. Перейдем к пункту 2.</a:t>
            </a:r>
          </a:p>
          <a:p>
            <a:endParaRPr lang="ru-RU" dirty="0" smtClean="0"/>
          </a:p>
          <a:p>
            <a:r>
              <a:rPr lang="ru-RU" dirty="0" smtClean="0"/>
              <a:t>Так как количество вершин конечно, то на каком-то шаге будет выбрана помеченная вершина, а значит будет найден цикл.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CD733C-3CE7-4123-AD27-D4DEFA6C490B}" type="slidenum">
              <a:rPr lang="ru-RU" smtClean="0"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756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После выбрасывания листа из графа у которого больше 2 вершин, граф остается деревом</a:t>
            </a:r>
          </a:p>
          <a:p>
            <a:endParaRPr lang="ru-RU" dirty="0" smtClean="0"/>
          </a:p>
          <a:p>
            <a:r>
              <a:rPr lang="ru-RU" dirty="0" smtClean="0"/>
              <a:t>Предположим что листа нет.</a:t>
            </a:r>
          </a:p>
          <a:p>
            <a:endParaRPr lang="ru-RU" dirty="0" smtClean="0"/>
          </a:p>
          <a:p>
            <a:r>
              <a:rPr lang="ru-RU" dirty="0" smtClean="0"/>
              <a:t>Тогда степень каждой вершины больше или равна 2.</a:t>
            </a:r>
          </a:p>
          <a:p>
            <a:endParaRPr lang="ru-RU" dirty="0" smtClean="0"/>
          </a:p>
          <a:p>
            <a:r>
              <a:rPr lang="ru-RU" dirty="0" smtClean="0"/>
              <a:t>Покажем что в таком графе точно есть цикл.</a:t>
            </a:r>
          </a:p>
          <a:p>
            <a:endParaRPr lang="ru-RU" dirty="0" smtClean="0"/>
          </a:p>
          <a:p>
            <a:r>
              <a:rPr lang="ru-RU" dirty="0" smtClean="0"/>
              <a:t>Применим конструктивный подход. Построим его.</a:t>
            </a:r>
          </a:p>
          <a:p>
            <a:endParaRPr lang="ru-RU" dirty="0" smtClean="0"/>
          </a:p>
          <a:p>
            <a:r>
              <a:rPr lang="ru-RU" dirty="0" smtClean="0"/>
              <a:t>1) Возьмем произвольную вершину. Пометим ее как добавленную в строящийся цикл.</a:t>
            </a:r>
          </a:p>
          <a:p>
            <a:r>
              <a:rPr lang="ru-RU" dirty="0" smtClean="0"/>
              <a:t>2) Ее степень &gt;= 2. Возьмем любую из смежных с ней вершин. </a:t>
            </a:r>
          </a:p>
          <a:p>
            <a:r>
              <a:rPr lang="ru-RU" dirty="0" smtClean="0"/>
              <a:t>3) Если вершина оказалась помеченной, то был найден цикл. Выход.</a:t>
            </a:r>
          </a:p>
          <a:p>
            <a:r>
              <a:rPr lang="ru-RU" dirty="0" smtClean="0"/>
              <a:t>4) Степень этой вершины тоже &gt;=2, значит у нее есть еще, как минимум одна смежная вершина. Возьмем ее и пометим ее как добавленную в строящийся цикл. Перейдем к пункту 2.</a:t>
            </a:r>
          </a:p>
          <a:p>
            <a:endParaRPr lang="ru-RU" dirty="0" smtClean="0"/>
          </a:p>
          <a:p>
            <a:r>
              <a:rPr lang="ru-RU" dirty="0" smtClean="0"/>
              <a:t>Так как количество вершин конечно, то на каком-то шаге будет выбрана помеченная вершина, а значит будет найден цикл.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CD733C-3CE7-4123-AD27-D4DEFA6C490B}" type="slidenum">
              <a:rPr lang="ru-RU" smtClean="0"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2428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Graph </a:t>
            </a:r>
            <a:r>
              <a:rPr lang="en-US" dirty="0"/>
              <a:t>a</a:t>
            </a:r>
            <a:r>
              <a:rPr lang="en-US" dirty="0" smtClean="0"/>
              <a:t>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Lection </a:t>
            </a:r>
            <a:r>
              <a:rPr lang="ru-RU" dirty="0" smtClean="0"/>
              <a:t>0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concepts of graph theory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1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Прямая со стрелкой 16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Заголовок 1"/>
          <p:cNvSpPr txBox="1">
            <a:spLocks/>
          </p:cNvSpPr>
          <p:nvPr/>
        </p:nvSpPr>
        <p:spPr>
          <a:xfrm>
            <a:off x="4499992" y="0"/>
            <a:ext cx="464400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dirty="0"/>
              <a:t>The brother is pointing </a:t>
            </a:r>
            <a:r>
              <a:rPr lang="en-US" sz="2400" dirty="0" smtClean="0"/>
              <a:t>at his </a:t>
            </a:r>
            <a:r>
              <a:rPr lang="en-US" sz="2400" dirty="0"/>
              <a:t>sister</a:t>
            </a:r>
            <a:endParaRPr lang="ru-RU" sz="24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" name="Прямая со стрелкой 52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Заголовок 1"/>
          <p:cNvSpPr txBox="1">
            <a:spLocks/>
          </p:cNvSpPr>
          <p:nvPr/>
        </p:nvSpPr>
        <p:spPr>
          <a:xfrm>
            <a:off x="-36512" y="6021288"/>
            <a:ext cx="5832648" cy="836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pointing </a:t>
            </a:r>
            <a:r>
              <a:rPr lang="en-US" sz="2800" dirty="0" smtClean="0"/>
              <a:t>to a sister </a:t>
            </a:r>
            <a:r>
              <a:rPr lang="ru-RU" sz="2800" dirty="0" smtClean="0"/>
              <a:t>=</a:t>
            </a:r>
            <a:r>
              <a:rPr lang="en-US" sz="2800" dirty="0" smtClean="0"/>
              <a:t> edges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28" name="Прямая со стрелкой 27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Заголовок 1"/>
          <p:cNvSpPr txBox="1">
            <a:spLocks/>
          </p:cNvSpPr>
          <p:nvPr/>
        </p:nvSpPr>
        <p:spPr>
          <a:xfrm>
            <a:off x="-36512" y="6021288"/>
            <a:ext cx="5832648" cy="836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pointing </a:t>
            </a:r>
            <a:r>
              <a:rPr lang="en-US" sz="2800" dirty="0" smtClean="0"/>
              <a:t>to a sister </a:t>
            </a:r>
            <a:r>
              <a:rPr lang="ru-RU" sz="2800" dirty="0" smtClean="0"/>
              <a:t>=</a:t>
            </a:r>
            <a:r>
              <a:rPr lang="en-US" sz="2800" dirty="0" smtClean="0"/>
              <a:t> edges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4" name="Прямая со стрелкой 13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1030" idx="2"/>
          </p:cNvCxnSpPr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Заголовок 1"/>
          <p:cNvSpPr txBox="1">
            <a:spLocks/>
          </p:cNvSpPr>
          <p:nvPr/>
        </p:nvSpPr>
        <p:spPr>
          <a:xfrm>
            <a:off x="4427984" y="0"/>
            <a:ext cx="471601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Who's friends with whom?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32" name="Прямая со стрелкой 31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32" name="Прямая со стрелкой 31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705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755576" y="2492896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A </a:t>
            </a:r>
            <a:r>
              <a:rPr lang="en-US" sz="6000" b="1" dirty="0" smtClean="0">
                <a:solidFill>
                  <a:srgbClr val="00B0F0"/>
                </a:solidFill>
              </a:rPr>
              <a:t>graph</a:t>
            </a:r>
            <a:r>
              <a:rPr lang="en-US" sz="6000" dirty="0" smtClean="0"/>
              <a:t> is a mathematical abstraction that describes </a:t>
            </a:r>
            <a:r>
              <a:rPr lang="en-US" sz="6000" b="1" dirty="0" smtClean="0">
                <a:solidFill>
                  <a:srgbClr val="00B0F0"/>
                </a:solidFill>
              </a:rPr>
              <a:t>objects</a:t>
            </a:r>
            <a:r>
              <a:rPr lang="en-US" sz="6000" dirty="0" smtClean="0"/>
              <a:t> and the </a:t>
            </a:r>
            <a:r>
              <a:rPr lang="en-US" sz="6000" b="1" dirty="0" smtClean="0">
                <a:solidFill>
                  <a:srgbClr val="00B0F0"/>
                </a:solidFill>
              </a:rPr>
              <a:t>connections</a:t>
            </a:r>
            <a:r>
              <a:rPr lang="en-US" sz="6000" dirty="0" smtClean="0"/>
              <a:t> between them</a:t>
            </a:r>
            <a:endParaRPr lang="ru-RU" sz="6000" b="1" dirty="0" smtClean="0"/>
          </a:p>
        </p:txBody>
      </p:sp>
    </p:spTree>
    <p:extLst>
      <p:ext uri="{BB962C8B-B14F-4D97-AF65-F5344CB8AC3E}">
        <p14:creationId xmlns:p14="http://schemas.microsoft.com/office/powerpoint/2010/main" val="20043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 is a function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251520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Set of Vert</a:t>
            </a:r>
            <a:r>
              <a:rPr lang="en-US" sz="3200" dirty="0" err="1" smtClean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ic</a:t>
            </a:r>
            <a:r>
              <a:rPr kumimoji="0" lang="en-US" sz="32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es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644008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Set of Edges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3059832" y="3573016"/>
            <a:ext cx="1296144" cy="7920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H="1" flipV="1">
            <a:off x="5364088" y="3501008"/>
            <a:ext cx="792088" cy="86409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 is a function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Types of graphs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3140968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Directed graph</a:t>
            </a:r>
            <a:endParaRPr lang="ru-RU" sz="2800" dirty="0" smtClean="0"/>
          </a:p>
        </p:txBody>
      </p:sp>
      <p:sp>
        <p:nvSpPr>
          <p:cNvPr id="35" name="Стрелка вправо 34"/>
          <p:cNvSpPr/>
          <p:nvPr/>
        </p:nvSpPr>
        <p:spPr>
          <a:xfrm>
            <a:off x="3707904" y="3429000"/>
            <a:ext cx="936104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Arcs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551723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E={(</a:t>
            </a:r>
            <a:r>
              <a:rPr lang="en-US" sz="8000" b="1" dirty="0" err="1" smtClean="0">
                <a:solidFill>
                  <a:srgbClr val="0070C0"/>
                </a:solidFill>
              </a:rPr>
              <a:t>u,v</a:t>
            </a:r>
            <a:r>
              <a:rPr lang="en-US" sz="8000" b="1" dirty="0" smtClean="0">
                <a:solidFill>
                  <a:srgbClr val="0070C0"/>
                </a:solidFill>
              </a:rPr>
              <a:t>) : u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V, v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V}</a:t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 smtClean="0">
                <a:solidFill>
                  <a:srgbClr val="0070C0"/>
                </a:solidFill>
              </a:rPr>
              <a:t>Arc </a:t>
            </a:r>
            <a:r>
              <a:rPr lang="ru-RU" sz="2800" b="1" dirty="0" smtClean="0">
                <a:solidFill>
                  <a:srgbClr val="0070C0"/>
                </a:solidFill>
              </a:rPr>
              <a:t>– </a:t>
            </a:r>
            <a:r>
              <a:rPr lang="en-US" sz="2800" b="1" dirty="0" smtClean="0">
                <a:solidFill>
                  <a:srgbClr val="0070C0"/>
                </a:solidFill>
              </a:rPr>
              <a:t>directed edge</a:t>
            </a:r>
            <a:r>
              <a:rPr lang="en-US" sz="8000" b="1" dirty="0" smtClean="0"/>
              <a:t/>
            </a:r>
            <a:br>
              <a:rPr lang="en-US" sz="8000" b="1" dirty="0" smtClean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endParaRPr lang="ru-RU" sz="48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14401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420888"/>
            <a:ext cx="1224136" cy="165618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3140968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</a:t>
            </a:r>
            <a:endParaRPr lang="ru-RU" sz="2800" dirty="0" smtClean="0"/>
          </a:p>
        </p:txBody>
      </p:sp>
      <p:sp>
        <p:nvSpPr>
          <p:cNvPr id="35" name="Стрелка вправо 34"/>
          <p:cNvSpPr/>
          <p:nvPr/>
        </p:nvSpPr>
        <p:spPr>
          <a:xfrm>
            <a:off x="3707904" y="3429000"/>
            <a:ext cx="936104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Types of graphs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551723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E={(</a:t>
            </a:r>
            <a:r>
              <a:rPr lang="en-US" sz="8000" b="1" dirty="0" err="1" smtClean="0">
                <a:solidFill>
                  <a:srgbClr val="0070C0"/>
                </a:solidFill>
              </a:rPr>
              <a:t>u,v</a:t>
            </a:r>
            <a:r>
              <a:rPr lang="en-US" sz="8000" b="1" dirty="0" smtClean="0">
                <a:solidFill>
                  <a:srgbClr val="0070C0"/>
                </a:solidFill>
              </a:rPr>
              <a:t>) : u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V, v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V}</a:t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ru-RU" sz="2800" b="1" dirty="0" smtClean="0">
                <a:solidFill>
                  <a:srgbClr val="0070C0"/>
                </a:solidFill>
              </a:rPr>
              <a:t> </a:t>
            </a:r>
            <a:r>
              <a:rPr lang="en-US" sz="2800" b="1" dirty="0">
                <a:solidFill>
                  <a:srgbClr val="0070C0"/>
                </a:solidFill>
              </a:rPr>
              <a:t>Arc </a:t>
            </a:r>
            <a:r>
              <a:rPr lang="ru-RU" sz="2800" b="1" dirty="0">
                <a:solidFill>
                  <a:srgbClr val="0070C0"/>
                </a:solidFill>
              </a:rPr>
              <a:t>– </a:t>
            </a:r>
            <a:r>
              <a:rPr lang="en-US" sz="2800" b="1" dirty="0">
                <a:solidFill>
                  <a:srgbClr val="0070C0"/>
                </a:solidFill>
              </a:rPr>
              <a:t>directed edge</a:t>
            </a:r>
            <a:r>
              <a:rPr lang="en-US" sz="8000" b="1" dirty="0"/>
              <a:t/>
            </a:r>
            <a:br>
              <a:rPr lang="en-US" sz="8000" b="1" dirty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r>
              <a:rPr lang="en-US" sz="8000" b="1" dirty="0" smtClean="0">
                <a:solidFill>
                  <a:srgbClr val="00B050"/>
                </a:solidFill>
              </a:rPr>
              <a:t>E={{</a:t>
            </a:r>
            <a:r>
              <a:rPr lang="en-US" sz="8000" b="1" dirty="0" err="1" smtClean="0">
                <a:solidFill>
                  <a:srgbClr val="00B050"/>
                </a:solidFill>
              </a:rPr>
              <a:t>u,v</a:t>
            </a:r>
            <a:r>
              <a:rPr lang="en-US" sz="8000" b="1" dirty="0" smtClean="0">
                <a:solidFill>
                  <a:srgbClr val="00B050"/>
                </a:solidFill>
              </a:rPr>
              <a:t>} : u</a:t>
            </a:r>
            <a:r>
              <a:rPr lang="ru-RU" sz="6000" b="1" dirty="0" smtClean="0">
                <a:solidFill>
                  <a:srgbClr val="00B050"/>
                </a:solidFill>
              </a:rPr>
              <a:t>∈</a:t>
            </a:r>
            <a:r>
              <a:rPr lang="en-US" sz="8000" b="1" dirty="0" smtClean="0">
                <a:solidFill>
                  <a:srgbClr val="00B050"/>
                </a:solidFill>
              </a:rPr>
              <a:t>V, v</a:t>
            </a:r>
            <a:r>
              <a:rPr lang="ru-RU" sz="6000" b="1" dirty="0" smtClean="0">
                <a:solidFill>
                  <a:srgbClr val="00B050"/>
                </a:solidFill>
              </a:rPr>
              <a:t>∈</a:t>
            </a:r>
            <a:r>
              <a:rPr lang="en-US" sz="8000" b="1" dirty="0" smtClean="0">
                <a:solidFill>
                  <a:srgbClr val="00B050"/>
                </a:solidFill>
              </a:rPr>
              <a:t>V}</a:t>
            </a:r>
            <a:r>
              <a:rPr lang="ru-RU" sz="8000" b="1" dirty="0" smtClean="0">
                <a:solidFill>
                  <a:srgbClr val="00B050"/>
                </a:solidFill>
              </a:rPr>
              <a:t/>
            </a:r>
            <a:br>
              <a:rPr lang="ru-RU" sz="8000" b="1" dirty="0" smtClean="0">
                <a:solidFill>
                  <a:srgbClr val="00B050"/>
                </a:solidFill>
              </a:rPr>
            </a:br>
            <a:r>
              <a:rPr lang="en-US" sz="2000" b="1" dirty="0" smtClean="0">
                <a:solidFill>
                  <a:srgbClr val="00B050"/>
                </a:solidFill>
              </a:rPr>
              <a:t>Link </a:t>
            </a:r>
            <a:r>
              <a:rPr lang="ru-RU" sz="2000" b="1" dirty="0" smtClean="0">
                <a:solidFill>
                  <a:srgbClr val="00B050"/>
                </a:solidFill>
              </a:rPr>
              <a:t>- </a:t>
            </a:r>
            <a:r>
              <a:rPr lang="en-US" sz="2000" b="1" dirty="0" smtClean="0">
                <a:solidFill>
                  <a:srgbClr val="00B050"/>
                </a:solidFill>
              </a:rPr>
              <a:t>undirected edge</a:t>
            </a:r>
            <a:endParaRPr lang="ru-RU" sz="2800" b="1" dirty="0">
              <a:solidFill>
                <a:srgbClr val="00B05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Edges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1331640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Shape 18"/>
          <p:cNvCxnSpPr>
            <a:stCxn id="45" idx="6"/>
            <a:endCxn id="45" idx="0"/>
          </p:cNvCxnSpPr>
          <p:nvPr/>
        </p:nvCxnSpPr>
        <p:spPr>
          <a:xfrm flipH="1" flipV="1">
            <a:off x="1691680" y="3356992"/>
            <a:ext cx="360040" cy="360040"/>
          </a:xfrm>
          <a:prstGeom prst="curvedConnector4">
            <a:avLst>
              <a:gd name="adj1" fmla="val -254949"/>
              <a:gd name="adj2" fmla="val 354949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44" idx="3"/>
          </p:cNvCxnSpPr>
          <p:nvPr/>
        </p:nvCxnSpPr>
        <p:spPr>
          <a:xfrm rot="16200000" flipH="1">
            <a:off x="5289521" y="1415335"/>
            <a:ext cx="1512168" cy="3168352"/>
          </a:xfrm>
          <a:prstGeom prst="curvedConnector3">
            <a:avLst>
              <a:gd name="adj1" fmla="val 101624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44" idx="2"/>
          </p:cNvCxnSpPr>
          <p:nvPr/>
        </p:nvCxnSpPr>
        <p:spPr>
          <a:xfrm rot="16200000" flipH="1">
            <a:off x="5544108" y="1520788"/>
            <a:ext cx="1152128" cy="280831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Овал 60"/>
          <p:cNvSpPr/>
          <p:nvPr/>
        </p:nvSpPr>
        <p:spPr>
          <a:xfrm>
            <a:off x="2915816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4860032" y="573325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5" name="Овал 64"/>
          <p:cNvSpPr/>
          <p:nvPr/>
        </p:nvSpPr>
        <p:spPr>
          <a:xfrm>
            <a:off x="5364088" y="450912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68" name="Прямая со стрелкой 67"/>
          <p:cNvCxnSpPr>
            <a:stCxn id="61" idx="7"/>
            <a:endCxn id="65" idx="2"/>
          </p:cNvCxnSpPr>
          <p:nvPr/>
        </p:nvCxnSpPr>
        <p:spPr>
          <a:xfrm flipV="1">
            <a:off x="3530443" y="4869160"/>
            <a:ext cx="1833645" cy="68151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endCxn id="63" idx="1"/>
          </p:cNvCxnSpPr>
          <p:nvPr/>
        </p:nvCxnSpPr>
        <p:spPr>
          <a:xfrm>
            <a:off x="4283968" y="5301208"/>
            <a:ext cx="681517" cy="53750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Заголовок 1"/>
          <p:cNvSpPr txBox="1">
            <a:spLocks/>
          </p:cNvSpPr>
          <p:nvPr/>
        </p:nvSpPr>
        <p:spPr>
          <a:xfrm>
            <a:off x="0" y="1412776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Loop</a:t>
            </a:r>
            <a:endParaRPr lang="ru-RU" sz="2800" dirty="0" smtClean="0"/>
          </a:p>
        </p:txBody>
      </p:sp>
      <p:sp>
        <p:nvSpPr>
          <p:cNvPr id="83" name="Заголовок 1"/>
          <p:cNvSpPr txBox="1">
            <a:spLocks/>
          </p:cNvSpPr>
          <p:nvPr/>
        </p:nvSpPr>
        <p:spPr>
          <a:xfrm>
            <a:off x="4499992" y="1484784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Multigraph</a:t>
            </a:r>
            <a:endParaRPr lang="ru-RU" sz="2800" dirty="0" smtClean="0"/>
          </a:p>
        </p:txBody>
      </p:sp>
      <p:sp>
        <p:nvSpPr>
          <p:cNvPr id="84" name="Заголовок 1"/>
          <p:cNvSpPr txBox="1">
            <a:spLocks/>
          </p:cNvSpPr>
          <p:nvPr/>
        </p:nvSpPr>
        <p:spPr>
          <a:xfrm>
            <a:off x="2195736" y="414908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??</a:t>
            </a:r>
            <a:r>
              <a:rPr lang="en-US" sz="2800" dirty="0"/>
              <a:t>?</a:t>
            </a:r>
            <a:r>
              <a:rPr lang="en-US" sz="2800" dirty="0" smtClean="0"/>
              <a:t>Quasi-graph</a:t>
            </a:r>
            <a:r>
              <a:rPr lang="ru-RU" sz="2800" dirty="0" smtClean="0"/>
              <a:t>???</a:t>
            </a:r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</a:t>
            </a:r>
            <a:r>
              <a:rPr lang="ru-RU" sz="8000" b="1" dirty="0" smtClean="0"/>
              <a:t>,</a:t>
            </a:r>
            <a:r>
              <a:rPr lang="en-US" sz="8000" b="1" dirty="0" smtClean="0"/>
              <a:t>f)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The graph in lectures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</a:t>
            </a:r>
            <a:r>
              <a:rPr lang="en-US" sz="8000" b="1" dirty="0" err="1" smtClean="0"/>
              <a:t>V,E,f</a:t>
            </a:r>
            <a:r>
              <a:rPr lang="en-US" sz="8000" b="1" dirty="0" smtClean="0"/>
              <a:t>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</a:t>
            </a:r>
            <a:endParaRPr lang="ru-RU" sz="60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251520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Set of vertices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627784" y="4913784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Set of edges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3059832" y="3501008"/>
            <a:ext cx="936104" cy="86409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V="1">
            <a:off x="4932040" y="3501008"/>
            <a:ext cx="0" cy="158417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"/>
          <p:cNvSpPr txBox="1">
            <a:spLocks/>
          </p:cNvSpPr>
          <p:nvPr/>
        </p:nvSpPr>
        <p:spPr>
          <a:xfrm>
            <a:off x="4644008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Function</a:t>
            </a:r>
            <a:endParaRPr lang="ru-RU" sz="3200" dirty="0" smtClean="0">
              <a:latin typeface="+mj-lt"/>
              <a:ea typeface="+mj-ea"/>
              <a:cs typeface="+mj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 flipH="1" flipV="1">
            <a:off x="5652120" y="3429000"/>
            <a:ext cx="504056" cy="93610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1"/>
            <a:ext cx="9144000" cy="1124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980728"/>
            <a:ext cx="9144000" cy="244827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f : E</a:t>
            </a:r>
            <a:r>
              <a:rPr lang="ru-RU" sz="8000" dirty="0" smtClean="0">
                <a:solidFill>
                  <a:srgbClr val="0070C0"/>
                </a:solidFill>
              </a:rPr>
              <a:t> → 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5400" baseline="30000" dirty="0" err="1" smtClean="0">
                <a:solidFill>
                  <a:srgbClr val="0070C0"/>
                </a:solidFill>
              </a:rPr>
              <a:t>x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8000" b="1" dirty="0" smtClean="0">
                <a:solidFill>
                  <a:srgbClr val="0070C0"/>
                </a:solidFill>
              </a:rPr>
              <a:t/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>
                <a:solidFill>
                  <a:srgbClr val="0070C0"/>
                </a:solidFill>
              </a:rPr>
              <a:t>directed </a:t>
            </a:r>
            <a:r>
              <a:rPr lang="en-US" sz="2800" b="1" dirty="0" smtClean="0">
                <a:solidFill>
                  <a:srgbClr val="0070C0"/>
                </a:solidFill>
              </a:rPr>
              <a:t>edges</a:t>
            </a:r>
            <a:endParaRPr lang="ru-RU" sz="4800" b="1" dirty="0"/>
          </a:p>
        </p:txBody>
      </p:sp>
      <p:sp>
        <p:nvSpPr>
          <p:cNvPr id="4" name="Овал 3"/>
          <p:cNvSpPr/>
          <p:nvPr/>
        </p:nvSpPr>
        <p:spPr>
          <a:xfrm>
            <a:off x="6156176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3635896" y="3573016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6374432" y="34290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987824" y="33569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707904" y="3068960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1907704" y="4221088"/>
            <a:ext cx="6984776" cy="2448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p</a:t>
            </a:r>
            <a:r>
              <a:rPr lang="en-US" sz="2800" baseline="-25000" dirty="0"/>
              <a:t>1</a:t>
            </a:r>
            <a:r>
              <a:rPr lang="en-US" sz="2800" dirty="0"/>
              <a:t>⁰ f(A)=    1  ---</a:t>
            </a:r>
            <a:r>
              <a:rPr lang="ru-RU" sz="2800" dirty="0"/>
              <a:t> </a:t>
            </a:r>
            <a:r>
              <a:rPr lang="en-US" sz="2800" dirty="0">
                <a:solidFill>
                  <a:srgbClr val="7030A0"/>
                </a:solidFill>
              </a:rPr>
              <a:t>edge start</a:t>
            </a:r>
            <a:endParaRPr lang="en-US" sz="2800" dirty="0">
              <a:solidFill>
                <a:srgbClr val="7030A0"/>
              </a:solidFill>
            </a:endParaRPr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p</a:t>
            </a:r>
            <a:r>
              <a:rPr lang="en-US" sz="2800" baseline="-25000" dirty="0"/>
              <a:t>2</a:t>
            </a:r>
            <a:r>
              <a:rPr lang="en-US" sz="2800" dirty="0"/>
              <a:t>⁰ f(A)=    2</a:t>
            </a:r>
            <a:r>
              <a:rPr lang="ru-RU" sz="2800" dirty="0"/>
              <a:t>  -</a:t>
            </a:r>
            <a:r>
              <a:rPr lang="en-US" sz="2800" dirty="0"/>
              <a:t>-- </a:t>
            </a:r>
            <a:r>
              <a:rPr lang="en-US" sz="2800" dirty="0">
                <a:solidFill>
                  <a:srgbClr val="7030A0"/>
                </a:solidFill>
              </a:rPr>
              <a:t>edge end</a:t>
            </a:r>
            <a:endParaRPr lang="en-US" sz="2800" dirty="0">
              <a:solidFill>
                <a:srgbClr val="7030A0"/>
              </a:solidFill>
            </a:endParaRP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f(A)=((p</a:t>
            </a:r>
            <a:r>
              <a:rPr lang="en-US" sz="2800" baseline="-25000" dirty="0"/>
              <a:t>1</a:t>
            </a:r>
            <a:r>
              <a:rPr lang="en-US" sz="2800" dirty="0"/>
              <a:t>⁰ f)(A), (p</a:t>
            </a:r>
            <a:r>
              <a:rPr lang="en-US" sz="2800" baseline="-25000" dirty="0"/>
              <a:t>2</a:t>
            </a:r>
            <a:r>
              <a:rPr lang="en-US" sz="2800" dirty="0"/>
              <a:t>⁰ f)(A))=(1,2)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163832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1"/>
            <a:ext cx="9144000" cy="1124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980728"/>
            <a:ext cx="9144000" cy="244827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f : E</a:t>
            </a:r>
            <a:r>
              <a:rPr lang="ru-RU" sz="8000" dirty="0" smtClean="0">
                <a:solidFill>
                  <a:srgbClr val="0070C0"/>
                </a:solidFill>
              </a:rPr>
              <a:t> → 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5400" baseline="30000" dirty="0" err="1" smtClean="0">
                <a:solidFill>
                  <a:srgbClr val="0070C0"/>
                </a:solidFill>
              </a:rPr>
              <a:t>x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8000" b="1" dirty="0" smtClean="0">
                <a:solidFill>
                  <a:srgbClr val="0070C0"/>
                </a:solidFill>
              </a:rPr>
              <a:t/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>
                <a:solidFill>
                  <a:srgbClr val="0070C0"/>
                </a:solidFill>
              </a:rPr>
              <a:t>directed </a:t>
            </a:r>
            <a:r>
              <a:rPr lang="en-US" sz="2800" b="1" dirty="0" smtClean="0">
                <a:solidFill>
                  <a:srgbClr val="0070C0"/>
                </a:solidFill>
              </a:rPr>
              <a:t>edges</a:t>
            </a:r>
            <a:endParaRPr lang="ru-RU" sz="4800" b="1" dirty="0"/>
          </a:p>
        </p:txBody>
      </p:sp>
      <p:sp>
        <p:nvSpPr>
          <p:cNvPr id="4" name="Овал 3"/>
          <p:cNvSpPr/>
          <p:nvPr/>
        </p:nvSpPr>
        <p:spPr>
          <a:xfrm>
            <a:off x="6156176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3635896" y="3573016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6374432" y="34290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987824" y="33569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707904" y="3068960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1907704" y="4221088"/>
            <a:ext cx="6984776" cy="2448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Vertex</a:t>
            </a:r>
            <a:r>
              <a:rPr lang="ru-RU" sz="2800" dirty="0" smtClean="0"/>
              <a:t> </a:t>
            </a:r>
            <a:r>
              <a:rPr lang="en-US" sz="2800" dirty="0" smtClean="0"/>
              <a:t>1  -</a:t>
            </a:r>
            <a:r>
              <a:rPr lang="ru-RU" sz="2800" dirty="0" smtClean="0"/>
              <a:t> </a:t>
            </a:r>
            <a:r>
              <a:rPr lang="en-US" sz="2800" dirty="0">
                <a:solidFill>
                  <a:srgbClr val="7030A0"/>
                </a:solidFill>
              </a:rPr>
              <a:t>edge </a:t>
            </a:r>
            <a:r>
              <a:rPr lang="en-US" sz="2800" dirty="0" smtClean="0">
                <a:solidFill>
                  <a:srgbClr val="7030A0"/>
                </a:solidFill>
              </a:rPr>
              <a:t>start</a:t>
            </a:r>
            <a:r>
              <a:rPr lang="ru-RU" sz="2800" dirty="0" smtClean="0">
                <a:solidFill>
                  <a:srgbClr val="7030A0"/>
                </a:solidFill>
              </a:rPr>
              <a:t> </a:t>
            </a:r>
            <a:r>
              <a:rPr lang="ru-RU" sz="2800" dirty="0" smtClean="0"/>
              <a:t>(</a:t>
            </a:r>
            <a:r>
              <a:rPr lang="ru-RU" sz="2800" dirty="0"/>
              <a:t>1,2</a:t>
            </a:r>
            <a:r>
              <a:rPr lang="ru-RU" sz="2800" dirty="0" smtClean="0"/>
              <a:t>)</a:t>
            </a:r>
            <a:endParaRPr lang="en-US" sz="2800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/>
              <a:t>Vertex 2</a:t>
            </a:r>
            <a:r>
              <a:rPr lang="ru-RU" sz="2800" dirty="0" smtClean="0"/>
              <a:t>  </a:t>
            </a:r>
            <a:r>
              <a:rPr lang="en-US" sz="2800" dirty="0" smtClean="0"/>
              <a:t>- </a:t>
            </a:r>
            <a:r>
              <a:rPr lang="en-US" sz="2800" dirty="0">
                <a:solidFill>
                  <a:srgbClr val="7030A0"/>
                </a:solidFill>
              </a:rPr>
              <a:t>edge end</a:t>
            </a:r>
            <a:r>
              <a:rPr lang="ru-RU" sz="2800" dirty="0">
                <a:solidFill>
                  <a:srgbClr val="7030A0"/>
                </a:solidFill>
              </a:rPr>
              <a:t> </a:t>
            </a:r>
            <a:r>
              <a:rPr lang="ru-RU" sz="2800" dirty="0" smtClean="0"/>
              <a:t>(1,2</a:t>
            </a:r>
            <a:r>
              <a:rPr lang="ru-RU" sz="2800" dirty="0" smtClean="0"/>
              <a:t>)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Edge</a:t>
            </a:r>
            <a:r>
              <a:rPr lang="ru-RU" sz="2800" dirty="0" smtClean="0"/>
              <a:t> </a:t>
            </a:r>
            <a:r>
              <a:rPr lang="ru-RU" sz="2800" dirty="0"/>
              <a:t>(1,2) </a:t>
            </a:r>
            <a:r>
              <a:rPr lang="en-US" sz="2800" dirty="0"/>
              <a:t>is </a:t>
            </a:r>
            <a:r>
              <a:rPr lang="en-US" sz="2800" dirty="0">
                <a:solidFill>
                  <a:srgbClr val="7030A0"/>
                </a:solidFill>
              </a:rPr>
              <a:t>incident </a:t>
            </a:r>
            <a:r>
              <a:rPr lang="en-US" sz="2800" dirty="0"/>
              <a:t>to vertices </a:t>
            </a:r>
            <a:r>
              <a:rPr lang="ru-RU" sz="2800" dirty="0" smtClean="0"/>
              <a:t>1 </a:t>
            </a:r>
            <a:r>
              <a:rPr lang="en-US" sz="2800" dirty="0" smtClean="0"/>
              <a:t>and</a:t>
            </a:r>
            <a:r>
              <a:rPr lang="ru-RU" sz="2800" dirty="0" smtClean="0"/>
              <a:t> </a:t>
            </a:r>
            <a:r>
              <a:rPr lang="ru-RU" sz="2800" dirty="0"/>
              <a:t>2</a:t>
            </a:r>
            <a:endParaRPr lang="en-US" sz="2800" dirty="0"/>
          </a:p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Vertices </a:t>
            </a:r>
            <a:r>
              <a:rPr lang="ru-RU" sz="2800" dirty="0" smtClean="0"/>
              <a:t>1 </a:t>
            </a:r>
            <a:r>
              <a:rPr lang="en-US" sz="2800" dirty="0" smtClean="0"/>
              <a:t>and</a:t>
            </a:r>
            <a:r>
              <a:rPr lang="ru-RU" sz="2800" dirty="0" smtClean="0"/>
              <a:t> </a:t>
            </a:r>
            <a:r>
              <a:rPr lang="ru-RU" sz="2800" dirty="0"/>
              <a:t>2 </a:t>
            </a:r>
            <a:r>
              <a:rPr lang="en-US" sz="2800" dirty="0"/>
              <a:t>is </a:t>
            </a:r>
            <a:r>
              <a:rPr lang="en-US" sz="2800" dirty="0" smtClean="0">
                <a:solidFill>
                  <a:srgbClr val="7030A0"/>
                </a:solidFill>
              </a:rPr>
              <a:t>incident</a:t>
            </a:r>
            <a:r>
              <a:rPr lang="ru-RU" sz="2800" dirty="0" smtClean="0">
                <a:solidFill>
                  <a:srgbClr val="7030A0"/>
                </a:solidFill>
              </a:rPr>
              <a:t> </a:t>
            </a:r>
            <a:r>
              <a:rPr lang="en-US" sz="2800" dirty="0" smtClean="0"/>
              <a:t>to edge</a:t>
            </a:r>
            <a:r>
              <a:rPr lang="ru-RU" sz="2800" dirty="0" smtClean="0"/>
              <a:t> (</a:t>
            </a:r>
            <a:r>
              <a:rPr lang="ru-RU" sz="2800" dirty="0"/>
              <a:t>1,2)</a:t>
            </a:r>
            <a:endParaRPr lang="en-US" sz="2800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f</a:t>
            </a:r>
            <a:r>
              <a:rPr lang="en-US" sz="2800" dirty="0" smtClean="0"/>
              <a:t>(A)</a:t>
            </a:r>
            <a:r>
              <a:rPr lang="ru-RU" sz="2800" dirty="0" smtClean="0"/>
              <a:t> </a:t>
            </a:r>
            <a:r>
              <a:rPr lang="en-US" sz="2800" dirty="0" smtClean="0"/>
              <a:t>=</a:t>
            </a:r>
            <a:r>
              <a:rPr lang="ru-RU" sz="2800" dirty="0" smtClean="0"/>
              <a:t> </a:t>
            </a:r>
            <a:r>
              <a:rPr lang="en-US" sz="2800" dirty="0" smtClean="0"/>
              <a:t>(1,2)</a:t>
            </a:r>
            <a:endParaRPr lang="ru-RU" sz="2800" dirty="0" smtClean="0"/>
          </a:p>
        </p:txBody>
      </p:sp>
    </p:spTree>
    <p:extLst>
      <p:ext uri="{BB962C8B-B14F-4D97-AF65-F5344CB8AC3E}">
        <p14:creationId xmlns:p14="http://schemas.microsoft.com/office/powerpoint/2010/main" val="2267864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44" idx="3"/>
          </p:cNvCxnSpPr>
          <p:nvPr/>
        </p:nvCxnSpPr>
        <p:spPr>
          <a:xfrm rot="16200000" flipH="1">
            <a:off x="5289521" y="1415335"/>
            <a:ext cx="1512168" cy="3168352"/>
          </a:xfrm>
          <a:prstGeom prst="curvedConnector3">
            <a:avLst>
              <a:gd name="adj1" fmla="val 101624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44" idx="2"/>
          </p:cNvCxnSpPr>
          <p:nvPr/>
        </p:nvCxnSpPr>
        <p:spPr>
          <a:xfrm rot="16200000" flipH="1">
            <a:off x="5544108" y="1520788"/>
            <a:ext cx="1152128" cy="280831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Заголовок 1"/>
          <p:cNvSpPr txBox="1">
            <a:spLocks/>
          </p:cNvSpPr>
          <p:nvPr/>
        </p:nvSpPr>
        <p:spPr>
          <a:xfrm>
            <a:off x="4499992" y="1484784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Multigraph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 smtClean="0"/>
          </a:p>
        </p:txBody>
      </p:sp>
    </p:spTree>
    <p:extLst>
      <p:ext uri="{BB962C8B-B14F-4D97-AF65-F5344CB8AC3E}">
        <p14:creationId xmlns:p14="http://schemas.microsoft.com/office/powerpoint/2010/main" val="3372958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 smtClean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5508104" y="429309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123728" y="422108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987824" y="4509120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5726360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339752" y="429309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059832" y="4005064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0" y="5301208"/>
            <a:ext cx="9144000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1600" dirty="0"/>
              <a:t>The vertices </a:t>
            </a:r>
            <a:r>
              <a:rPr lang="en-US" sz="1600" dirty="0" smtClean="0"/>
              <a:t>1</a:t>
            </a:r>
            <a:r>
              <a:rPr lang="en-US" sz="1600" dirty="0"/>
              <a:t> and </a:t>
            </a:r>
            <a:r>
              <a:rPr lang="en-US" sz="1600" i="1" dirty="0"/>
              <a:t>2</a:t>
            </a:r>
            <a:r>
              <a:rPr lang="en-US" sz="1600" dirty="0"/>
              <a:t> of an edge </a:t>
            </a:r>
            <a:r>
              <a:rPr lang="en-US" sz="1600" dirty="0" smtClean="0"/>
              <a:t>{</a:t>
            </a:r>
            <a:r>
              <a:rPr lang="en-US" sz="1600" i="1" dirty="0"/>
              <a:t>1</a:t>
            </a:r>
            <a:r>
              <a:rPr lang="en-US" sz="1600" dirty="0" smtClean="0"/>
              <a:t>,</a:t>
            </a:r>
            <a:r>
              <a:rPr lang="en-US" sz="1600" dirty="0"/>
              <a:t> </a:t>
            </a:r>
            <a:r>
              <a:rPr lang="en-US" sz="1600" dirty="0" smtClean="0"/>
              <a:t>2}</a:t>
            </a:r>
            <a:r>
              <a:rPr lang="en-US" sz="1600" dirty="0"/>
              <a:t> are called the </a:t>
            </a:r>
            <a:r>
              <a:rPr lang="en-US" sz="1600" i="1" dirty="0"/>
              <a:t>endpoints</a:t>
            </a:r>
            <a:r>
              <a:rPr lang="en-US" sz="1600" dirty="0"/>
              <a:t> of the edge</a:t>
            </a:r>
            <a:r>
              <a:rPr lang="en-US" sz="1600" dirty="0" smtClean="0"/>
              <a:t>.</a:t>
            </a:r>
            <a:endParaRPr lang="ru-RU" sz="16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16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1600" dirty="0" smtClean="0"/>
              <a:t>The </a:t>
            </a:r>
            <a:r>
              <a:rPr lang="en-US" sz="1600" dirty="0"/>
              <a:t>edge is said to </a:t>
            </a:r>
            <a:r>
              <a:rPr lang="en-US" sz="1600" i="1" dirty="0"/>
              <a:t>join</a:t>
            </a:r>
            <a:r>
              <a:rPr lang="en-US" sz="1600" dirty="0"/>
              <a:t> </a:t>
            </a:r>
            <a:r>
              <a:rPr lang="ru-RU" sz="1600" dirty="0" smtClean="0"/>
              <a:t>1</a:t>
            </a:r>
            <a:r>
              <a:rPr lang="en-US" sz="1600" dirty="0"/>
              <a:t> and </a:t>
            </a:r>
            <a:r>
              <a:rPr lang="ru-RU" sz="1600" i="1" dirty="0"/>
              <a:t>2</a:t>
            </a:r>
            <a:r>
              <a:rPr lang="en-US" sz="1600" dirty="0"/>
              <a:t> and to be </a:t>
            </a:r>
            <a:r>
              <a:rPr lang="en-US" sz="1600" i="1" dirty="0"/>
              <a:t>incident</a:t>
            </a:r>
            <a:r>
              <a:rPr lang="en-US" sz="1600" dirty="0"/>
              <a:t> on </a:t>
            </a:r>
            <a:r>
              <a:rPr lang="ru-RU" sz="1600" dirty="0" smtClean="0"/>
              <a:t>1</a:t>
            </a:r>
            <a:r>
              <a:rPr lang="en-US" sz="1600" dirty="0"/>
              <a:t> and </a:t>
            </a:r>
            <a:r>
              <a:rPr lang="ru-RU" sz="1600" i="1" dirty="0"/>
              <a:t>2</a:t>
            </a:r>
            <a:r>
              <a:rPr lang="en-US" sz="1600" dirty="0" smtClean="0"/>
              <a:t>.</a:t>
            </a:r>
            <a:endParaRPr lang="ru-RU" sz="16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16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1600" dirty="0" smtClean="0"/>
              <a:t>A </a:t>
            </a:r>
            <a:r>
              <a:rPr lang="en-US" sz="1600" dirty="0"/>
              <a:t>vertex may belong to no edge, in which case it is not joined to any other </a:t>
            </a:r>
            <a:r>
              <a:rPr lang="en-US" sz="1600" dirty="0" smtClean="0"/>
              <a:t>vertex</a:t>
            </a:r>
            <a:r>
              <a:rPr lang="ru-RU" sz="1600" dirty="0" smtClean="0"/>
              <a:t> (</a:t>
            </a:r>
            <a:r>
              <a:rPr lang="en-US" sz="1600" dirty="0"/>
              <a:t>isolated vertex</a:t>
            </a:r>
            <a:r>
              <a:rPr lang="ru-RU" sz="1600" dirty="0" smtClean="0"/>
              <a:t>)</a:t>
            </a:r>
            <a:r>
              <a:rPr lang="en-US" sz="1600" dirty="0" smtClean="0"/>
              <a:t>.</a:t>
            </a:r>
            <a:endParaRPr lang="ru-RU" sz="1600" dirty="0" smtClean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1340768"/>
            <a:ext cx="9144000" cy="2448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8000" b="1" smtClean="0">
                <a:solidFill>
                  <a:srgbClr val="0070C0"/>
                </a:solidFill>
              </a:rPr>
              <a:t>f : E</a:t>
            </a:r>
            <a:r>
              <a:rPr lang="ru-RU" sz="8000" smtClean="0">
                <a:solidFill>
                  <a:srgbClr val="0070C0"/>
                </a:solidFill>
              </a:rPr>
              <a:t> → </a:t>
            </a:r>
            <a:r>
              <a:rPr lang="en-US" sz="8000" b="1" smtClean="0">
                <a:solidFill>
                  <a:srgbClr val="0070C0"/>
                </a:solidFill>
              </a:rPr>
              <a:t>V</a:t>
            </a:r>
            <a:r>
              <a:rPr lang="en-US" sz="5400" baseline="30000" smtClean="0">
                <a:solidFill>
                  <a:srgbClr val="0070C0"/>
                </a:solidFill>
              </a:rPr>
              <a:t>x</a:t>
            </a:r>
            <a:r>
              <a:rPr lang="en-US" sz="8000" b="1" smtClean="0">
                <a:solidFill>
                  <a:srgbClr val="0070C0"/>
                </a:solidFill>
              </a:rPr>
              <a:t>V</a:t>
            </a:r>
            <a:br>
              <a:rPr lang="en-US" sz="8000" b="1" smtClean="0">
                <a:solidFill>
                  <a:srgbClr val="0070C0"/>
                </a:solidFill>
              </a:rPr>
            </a:br>
            <a:r>
              <a:rPr lang="en-US" sz="2800" b="1" smtClean="0">
                <a:solidFill>
                  <a:srgbClr val="0070C0"/>
                </a:solidFill>
              </a:rPr>
              <a:t>directed edges</a:t>
            </a:r>
            <a:endParaRPr lang="ru-RU" sz="4800" b="1" dirty="0"/>
          </a:p>
        </p:txBody>
      </p:sp>
    </p:spTree>
    <p:extLst>
      <p:ext uri="{BB962C8B-B14F-4D97-AF65-F5344CB8AC3E}">
        <p14:creationId xmlns:p14="http://schemas.microsoft.com/office/powerpoint/2010/main" val="23943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11" idx="7"/>
          </p:cNvCxnSpPr>
          <p:nvPr/>
        </p:nvCxnSpPr>
        <p:spPr>
          <a:xfrm rot="5400000">
            <a:off x="2937657" y="1468061"/>
            <a:ext cx="748407" cy="2299138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14" idx="0"/>
          </p:cNvCxnSpPr>
          <p:nvPr/>
        </p:nvCxnSpPr>
        <p:spPr>
          <a:xfrm rot="5400000">
            <a:off x="3771769" y="2739339"/>
            <a:ext cx="1334706" cy="553789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Заголовок 1"/>
          <p:cNvSpPr txBox="1">
            <a:spLocks/>
          </p:cNvSpPr>
          <p:nvPr/>
        </p:nvSpPr>
        <p:spPr>
          <a:xfrm>
            <a:off x="809822" y="4758589"/>
            <a:ext cx="763284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 </a:t>
            </a:r>
            <a:r>
              <a:rPr lang="en-US" sz="2800" i="1" dirty="0"/>
              <a:t>order</a:t>
            </a:r>
            <a:r>
              <a:rPr lang="en-US" sz="2800" dirty="0"/>
              <a:t> of a graph is its number of vertices |</a:t>
            </a:r>
            <a:r>
              <a:rPr lang="en-US" sz="2800" i="1" dirty="0"/>
              <a:t>V</a:t>
            </a:r>
            <a:r>
              <a:rPr lang="en-US" sz="2800" dirty="0" smtClean="0"/>
              <a:t>|.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 </a:t>
            </a:r>
            <a:r>
              <a:rPr lang="en-US" sz="2800" dirty="0"/>
              <a:t>The </a:t>
            </a:r>
            <a:r>
              <a:rPr lang="en-US" sz="2800" i="1" dirty="0"/>
              <a:t>size</a:t>
            </a:r>
            <a:r>
              <a:rPr lang="en-US" sz="2800" dirty="0"/>
              <a:t> of a graph is its number of edges |</a:t>
            </a:r>
            <a:r>
              <a:rPr lang="en-US" sz="2800" i="1" dirty="0"/>
              <a:t>E</a:t>
            </a:r>
            <a:r>
              <a:rPr lang="en-US" sz="2800" dirty="0"/>
              <a:t>|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smtClean="0"/>
              <a:t>Metrics</a:t>
            </a:r>
            <a:endParaRPr lang="ru-RU" sz="6000" b="1" dirty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7668344" y="321297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4499992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1" name="Овал 10"/>
          <p:cNvSpPr/>
          <p:nvPr/>
        </p:nvSpPr>
        <p:spPr>
          <a:xfrm>
            <a:off x="1547664" y="2886381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1691680" y="29583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3</a:t>
            </a:r>
            <a:endParaRPr lang="ru-RU" sz="2800" b="1" dirty="0" smtClean="0"/>
          </a:p>
        </p:txBody>
      </p:sp>
      <p:sp>
        <p:nvSpPr>
          <p:cNvPr id="14" name="Овал 13"/>
          <p:cNvSpPr/>
          <p:nvPr/>
        </p:nvSpPr>
        <p:spPr>
          <a:xfrm>
            <a:off x="3802187" y="36835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3946203" y="37555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4</a:t>
            </a:r>
            <a:endParaRPr lang="ru-RU" sz="2800" b="1" dirty="0" smtClean="0"/>
          </a:p>
        </p:txBody>
      </p:sp>
      <p:cxnSp>
        <p:nvCxnSpPr>
          <p:cNvPr id="19" name="Прямая со стрелкой 18"/>
          <p:cNvCxnSpPr>
            <a:stCxn id="44" idx="2"/>
            <a:endCxn id="14" idx="6"/>
          </p:cNvCxnSpPr>
          <p:nvPr/>
        </p:nvCxnSpPr>
        <p:spPr>
          <a:xfrm flipH="1">
            <a:off x="4522267" y="3501008"/>
            <a:ext cx="3002061" cy="54261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Path</a:t>
            </a:r>
            <a:r>
              <a:rPr lang="ru-RU" dirty="0" smtClean="0"/>
              <a:t>/ </a:t>
            </a:r>
            <a:r>
              <a:rPr lang="en-US" dirty="0" smtClean="0"/>
              <a:t>Chain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 </a:t>
            </a:r>
            <a:r>
              <a:rPr lang="en-US" sz="2800" b="1" dirty="0" smtClean="0"/>
              <a:t>LINK</a:t>
            </a:r>
            <a:r>
              <a:rPr lang="ru-RU" sz="2800" dirty="0" smtClean="0"/>
              <a:t> </a:t>
            </a:r>
            <a:r>
              <a:rPr lang="en-US" sz="2800" dirty="0" smtClean="0"/>
              <a:t>is a set of two vertices.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2339752" y="3461284"/>
            <a:ext cx="6804248" cy="1839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Vertices 1 and 2 are called the </a:t>
            </a:r>
            <a:r>
              <a:rPr lang="en-US" sz="2400" dirty="0" smtClean="0"/>
              <a:t>endpoints of link {1,2}</a:t>
            </a:r>
            <a:r>
              <a:rPr lang="ru-RU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</a:t>
            </a:r>
            <a:r>
              <a:rPr lang="ru-RU" sz="2800" dirty="0" smtClean="0"/>
              <a:t>…</a:t>
            </a:r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 smtClean="0"/>
          </a:p>
          <a:p>
            <a:endParaRPr lang="en-US" sz="2800" dirty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 flipV="1">
            <a:off x="1475656" y="3861048"/>
            <a:ext cx="936104" cy="50405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</a:t>
            </a:r>
            <a:r>
              <a:rPr lang="ru-RU" sz="2800" dirty="0" smtClean="0"/>
              <a:t>…</a:t>
            </a:r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FF000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FF0000"/>
                </a:solidFill>
              </a:rPr>
              <a:t>3</a:t>
            </a:r>
            <a:r>
              <a:rPr lang="ru-RU" sz="2800" dirty="0" smtClean="0"/>
              <a:t>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en-US" sz="2800" b="1" dirty="0" smtClean="0">
                <a:solidFill>
                  <a:srgbClr val="FF0000"/>
                </a:solidFill>
              </a:rPr>
              <a:t>3</a:t>
            </a:r>
            <a:r>
              <a:rPr lang="en-US" sz="2800" dirty="0" smtClean="0"/>
              <a:t>})</a:t>
            </a:r>
            <a:endParaRPr lang="ru-RU" sz="2800" dirty="0" smtClean="0"/>
          </a:p>
        </p:txBody>
      </p:sp>
      <p:sp>
        <p:nvSpPr>
          <p:cNvPr id="16" name="Овал 15"/>
          <p:cNvSpPr/>
          <p:nvPr/>
        </p:nvSpPr>
        <p:spPr>
          <a:xfrm>
            <a:off x="2699792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>
            <a:off x="1331640" y="4720362"/>
            <a:ext cx="133065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Заголовок 1"/>
          <p:cNvSpPr txBox="1">
            <a:spLocks/>
          </p:cNvSpPr>
          <p:nvPr/>
        </p:nvSpPr>
        <p:spPr>
          <a:xfrm>
            <a:off x="2843808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5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237553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</a:t>
            </a:r>
            <a:r>
              <a:rPr lang="en-US" sz="2800" dirty="0">
                <a:solidFill>
                  <a:srgbClr val="7030A0"/>
                </a:solidFill>
              </a:rPr>
              <a:t>links</a:t>
            </a:r>
            <a:r>
              <a:rPr lang="en-US" sz="2800" dirty="0"/>
              <a:t> where every </a:t>
            </a:r>
            <a:r>
              <a:rPr lang="en-US" sz="2800" dirty="0">
                <a:solidFill>
                  <a:srgbClr val="7030A0"/>
                </a:solidFill>
              </a:rPr>
              <a:t>link</a:t>
            </a:r>
            <a:r>
              <a:rPr lang="en-US" sz="2800" dirty="0"/>
              <a:t>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 and</a:t>
            </a:r>
            <a:endParaRPr lang="ru-RU" sz="2800" dirty="0" smtClean="0"/>
          </a:p>
          <a:p>
            <a:endParaRPr lang="en-US" sz="2800" dirty="0" smtClean="0"/>
          </a:p>
          <a:p>
            <a:r>
              <a:rPr lang="en-US" sz="2800" dirty="0"/>
              <a:t>the common vertex of </a:t>
            </a:r>
            <a:r>
              <a:rPr lang="en-US" sz="2800" dirty="0">
                <a:solidFill>
                  <a:srgbClr val="7030A0"/>
                </a:solidFill>
              </a:rPr>
              <a:t>link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with</a:t>
            </a:r>
          </a:p>
          <a:p>
            <a:r>
              <a:rPr lang="en-US" sz="2800" dirty="0">
                <a:solidFill>
                  <a:srgbClr val="7030A0"/>
                </a:solidFill>
              </a:rPr>
              <a:t>link</a:t>
            </a:r>
            <a:r>
              <a:rPr lang="en-US" sz="2800" dirty="0"/>
              <a:t> i-1 is different from the</a:t>
            </a:r>
            <a:endParaRPr lang="en-US" sz="2800" dirty="0" smtClean="0"/>
          </a:p>
          <a:p>
            <a:r>
              <a:rPr lang="en-US" sz="2800" dirty="0"/>
              <a:t>common vertex of </a:t>
            </a:r>
            <a:r>
              <a:rPr lang="en-US" sz="2800" dirty="0">
                <a:solidFill>
                  <a:srgbClr val="7030A0"/>
                </a:solidFill>
              </a:rPr>
              <a:t>link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with </a:t>
            </a:r>
            <a:r>
              <a:rPr lang="en-US" sz="2800" dirty="0">
                <a:solidFill>
                  <a:srgbClr val="7030A0"/>
                </a:solidFill>
              </a:rPr>
              <a:t>link</a:t>
            </a:r>
            <a:r>
              <a:rPr lang="en-US" sz="2800" dirty="0"/>
              <a:t> i+1</a:t>
            </a:r>
          </a:p>
          <a:p>
            <a:r>
              <a:rPr lang="en-US" sz="2800" dirty="0"/>
              <a:t>(for all </a:t>
            </a:r>
            <a:r>
              <a:rPr lang="en-US" sz="2800" dirty="0" err="1"/>
              <a:t>i</a:t>
            </a:r>
            <a:r>
              <a:rPr lang="en-US" sz="2800" dirty="0"/>
              <a:t> except the first and last</a:t>
            </a:r>
            <a:endParaRPr lang="en-US" sz="2800" dirty="0" smtClean="0"/>
          </a:p>
          <a:p>
            <a:r>
              <a:rPr lang="en-US" sz="2800" dirty="0"/>
              <a:t>number in the sequence)</a:t>
            </a:r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3268347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</a:t>
            </a:r>
            <a:r>
              <a:rPr lang="en-US" sz="2800" dirty="0" smtClean="0">
                <a:solidFill>
                  <a:srgbClr val="7030A0"/>
                </a:solidFill>
              </a:rPr>
              <a:t>edges</a:t>
            </a:r>
            <a:r>
              <a:rPr lang="en-US" sz="2800" dirty="0" smtClean="0"/>
              <a:t> where </a:t>
            </a:r>
            <a:r>
              <a:rPr lang="en-US" sz="2800" dirty="0"/>
              <a:t>every </a:t>
            </a:r>
            <a:r>
              <a:rPr lang="en-US" sz="2800" dirty="0" smtClean="0">
                <a:solidFill>
                  <a:srgbClr val="7030A0"/>
                </a:solidFill>
              </a:rPr>
              <a:t>edge</a:t>
            </a:r>
            <a:r>
              <a:rPr lang="en-US" sz="2800" dirty="0" smtClean="0"/>
              <a:t> has </a:t>
            </a:r>
            <a:r>
              <a:rPr lang="en-US" sz="2800" dirty="0"/>
              <a:t>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 and</a:t>
            </a:r>
            <a:endParaRPr lang="ru-RU" sz="2800" dirty="0" smtClean="0"/>
          </a:p>
          <a:p>
            <a:endParaRPr lang="en-US" sz="2800" dirty="0" smtClean="0"/>
          </a:p>
          <a:p>
            <a:r>
              <a:rPr lang="en-US" sz="2800" dirty="0"/>
              <a:t>the common vertex of </a:t>
            </a:r>
            <a:r>
              <a:rPr lang="en-US" sz="2800" dirty="0" smtClean="0">
                <a:solidFill>
                  <a:srgbClr val="7030A0"/>
                </a:solidFill>
              </a:rPr>
              <a:t>edge</a:t>
            </a:r>
            <a:r>
              <a:rPr lang="en-US" sz="2800" dirty="0" smtClean="0"/>
              <a:t> </a:t>
            </a:r>
            <a:r>
              <a:rPr lang="en-US" sz="2800" dirty="0" err="1" smtClean="0"/>
              <a:t>i</a:t>
            </a:r>
            <a:r>
              <a:rPr lang="en-US" sz="2800" dirty="0" smtClean="0"/>
              <a:t> </a:t>
            </a:r>
            <a:r>
              <a:rPr lang="en-US" sz="2800" dirty="0"/>
              <a:t>with</a:t>
            </a:r>
          </a:p>
          <a:p>
            <a:r>
              <a:rPr lang="en-US" sz="2800" dirty="0" smtClean="0">
                <a:solidFill>
                  <a:srgbClr val="7030A0"/>
                </a:solidFill>
              </a:rPr>
              <a:t>edge</a:t>
            </a:r>
            <a:r>
              <a:rPr lang="en-US" sz="2800" dirty="0" smtClean="0"/>
              <a:t> i-1 </a:t>
            </a:r>
            <a:r>
              <a:rPr lang="en-US" sz="2800" dirty="0"/>
              <a:t>is different from the</a:t>
            </a:r>
            <a:endParaRPr lang="en-US" sz="2800" dirty="0" smtClean="0"/>
          </a:p>
          <a:p>
            <a:r>
              <a:rPr lang="en-US" sz="2800" dirty="0"/>
              <a:t>common vertex of </a:t>
            </a:r>
            <a:r>
              <a:rPr lang="en-US" sz="2800" dirty="0" smtClean="0">
                <a:solidFill>
                  <a:srgbClr val="7030A0"/>
                </a:solidFill>
              </a:rPr>
              <a:t>edge</a:t>
            </a:r>
            <a:r>
              <a:rPr lang="en-US" sz="2800" dirty="0" smtClean="0"/>
              <a:t> </a:t>
            </a:r>
            <a:r>
              <a:rPr lang="en-US" sz="2800" dirty="0" err="1" smtClean="0"/>
              <a:t>i</a:t>
            </a:r>
            <a:r>
              <a:rPr lang="en-US" sz="2800" dirty="0" smtClean="0"/>
              <a:t> </a:t>
            </a:r>
            <a:r>
              <a:rPr lang="en-US" sz="2800" dirty="0"/>
              <a:t>with </a:t>
            </a:r>
            <a:r>
              <a:rPr lang="en-US" sz="2800" dirty="0" smtClean="0">
                <a:solidFill>
                  <a:srgbClr val="7030A0"/>
                </a:solidFill>
              </a:rPr>
              <a:t>edge</a:t>
            </a:r>
            <a:r>
              <a:rPr lang="en-US" sz="2800" dirty="0" smtClean="0"/>
              <a:t> i+1</a:t>
            </a:r>
            <a:endParaRPr lang="en-US" sz="2800" dirty="0"/>
          </a:p>
          <a:p>
            <a:r>
              <a:rPr lang="en-US" sz="2800" dirty="0"/>
              <a:t>(for all </a:t>
            </a:r>
            <a:r>
              <a:rPr lang="en-US" sz="2800" dirty="0" err="1"/>
              <a:t>i</a:t>
            </a:r>
            <a:r>
              <a:rPr lang="en-US" sz="2800" dirty="0"/>
              <a:t> except the first and last</a:t>
            </a:r>
            <a:endParaRPr lang="en-US" sz="2800" dirty="0" smtClean="0"/>
          </a:p>
          <a:p>
            <a:r>
              <a:rPr lang="en-US" sz="2800" dirty="0"/>
              <a:t>number in the sequence)</a:t>
            </a:r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3960948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A </a:t>
            </a:r>
            <a:r>
              <a:rPr lang="en-US" sz="2800" b="1" dirty="0" smtClean="0"/>
              <a:t>CYCLE</a:t>
            </a:r>
            <a:r>
              <a:rPr lang="en-US" sz="2800" dirty="0" smtClean="0"/>
              <a:t> is a </a:t>
            </a:r>
            <a:r>
              <a:rPr lang="en-US" sz="2800" dirty="0"/>
              <a:t>closed simple </a:t>
            </a:r>
            <a:r>
              <a:rPr lang="en-US" sz="2800" dirty="0" smtClean="0"/>
              <a:t>chain</a:t>
            </a:r>
            <a:endParaRPr lang="ru-RU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2,1</a:t>
            </a:r>
            <a:r>
              <a:rPr lang="en-US" sz="2800" dirty="0" smtClean="0"/>
              <a:t>})</a:t>
            </a:r>
            <a:endParaRPr lang="ru-RU" sz="2800" dirty="0" smtClean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2" name="Прямая со стрелкой 21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123728" y="3461284"/>
            <a:ext cx="666023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	</a:t>
            </a:r>
            <a:r>
              <a:rPr lang="en-US" sz="2800" dirty="0"/>
              <a:t>A </a:t>
            </a:r>
            <a:r>
              <a:rPr lang="en-US" sz="2800" b="1" dirty="0"/>
              <a:t>simple </a:t>
            </a:r>
            <a:r>
              <a:rPr lang="en-US" sz="2800" b="1" dirty="0" smtClean="0"/>
              <a:t>chain </a:t>
            </a:r>
            <a:r>
              <a:rPr lang="en-US" sz="2800" dirty="0" smtClean="0"/>
              <a:t>is </a:t>
            </a:r>
            <a:r>
              <a:rPr lang="en-US" sz="2800" dirty="0"/>
              <a:t>a </a:t>
            </a:r>
            <a:r>
              <a:rPr lang="en-US" sz="2800" dirty="0" smtClean="0"/>
              <a:t>chain containing </a:t>
            </a:r>
            <a:r>
              <a:rPr lang="en-US" sz="2800" dirty="0"/>
              <a:t>each </a:t>
            </a:r>
            <a:r>
              <a:rPr lang="en-US" sz="2800" dirty="0" smtClean="0"/>
              <a:t>link at </a:t>
            </a:r>
            <a:r>
              <a:rPr lang="en-US" sz="2800" dirty="0"/>
              <a:t>most once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3275856" y="2780928"/>
            <a:ext cx="5652120" cy="360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Link</a:t>
            </a:r>
            <a:r>
              <a:rPr lang="en-US" sz="2800" dirty="0"/>
              <a:t> e</a:t>
            </a:r>
            <a:r>
              <a:rPr lang="en-US" sz="2800" dirty="0" smtClean="0"/>
              <a:t>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Chain</a:t>
            </a:r>
            <a:r>
              <a:rPr lang="ru-RU" sz="2800" dirty="0" smtClean="0"/>
              <a:t>	</a:t>
            </a: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2,4</a:t>
            </a:r>
            <a:r>
              <a:rPr lang="en-US" sz="2800" dirty="0" smtClean="0"/>
              <a:t>})</a:t>
            </a:r>
          </a:p>
          <a:p>
            <a:pPr marL="514350" lvl="0" indent="-514350">
              <a:spcBef>
                <a:spcPct val="0"/>
              </a:spcBef>
            </a:pPr>
            <a:endParaRPr lang="ru-RU" sz="2800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Cycle </a:t>
            </a:r>
            <a:r>
              <a:rPr lang="en-US" sz="2800" dirty="0"/>
              <a:t>e</a:t>
            </a:r>
            <a:r>
              <a:rPr lang="en-US" sz="2800" dirty="0" smtClean="0"/>
              <a:t>xample:</a:t>
            </a:r>
            <a:r>
              <a:rPr lang="ru-RU" sz="2800" dirty="0" smtClean="0"/>
              <a:t> </a:t>
            </a:r>
            <a:r>
              <a:rPr lang="en-US" sz="2800" dirty="0"/>
              <a:t>(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2,1</a:t>
            </a:r>
            <a:r>
              <a:rPr lang="en-US" sz="2800" dirty="0" smtClean="0"/>
              <a:t>})</a:t>
            </a:r>
            <a:endParaRPr lang="ru-RU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</a:t>
            </a:r>
            <a:r>
              <a:rPr lang="en-US" sz="2800" dirty="0" smtClean="0"/>
              <a:t>graph (digraph)</a:t>
            </a:r>
            <a:endParaRPr lang="ru-RU" sz="2800" dirty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</a:t>
            </a:r>
            <a:r>
              <a:rPr lang="en-US" sz="2800" dirty="0"/>
              <a:t>n</a:t>
            </a:r>
            <a:r>
              <a:rPr lang="en-US" sz="2800" dirty="0" smtClean="0"/>
              <a:t> </a:t>
            </a:r>
            <a:r>
              <a:rPr lang="en-US" sz="2800" b="1" dirty="0" smtClean="0"/>
              <a:t>ARC</a:t>
            </a:r>
            <a:r>
              <a:rPr lang="ru-RU" sz="2800" dirty="0" smtClean="0"/>
              <a:t> </a:t>
            </a:r>
            <a:r>
              <a:rPr lang="en-US" sz="2800" dirty="0" smtClean="0"/>
              <a:t>is an ordered set of two vertices.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ru-RU" sz="2800" dirty="0"/>
              <a:t>(</a:t>
            </a:r>
            <a:r>
              <a:rPr lang="ru-RU" sz="2800" dirty="0" smtClean="0"/>
              <a:t>1,3)</a:t>
            </a:r>
            <a:endParaRPr lang="en-US" sz="2800" dirty="0" smtClean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2339752" y="3461284"/>
            <a:ext cx="6804248" cy="1839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Vertices 1 and 2 are called the </a:t>
            </a:r>
            <a:r>
              <a:rPr lang="en-US" sz="2400" dirty="0" smtClean="0"/>
              <a:t>endpoints of arc </a:t>
            </a:r>
            <a:r>
              <a:rPr lang="en-US" sz="2400" dirty="0"/>
              <a:t>(1,2</a:t>
            </a:r>
            <a:r>
              <a:rPr lang="en-US" sz="2400" dirty="0" smtClean="0"/>
              <a:t>)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 marL="514350" lvl="0" indent="-514350">
              <a:spcBef>
                <a:spcPct val="0"/>
              </a:spcBef>
            </a:pPr>
            <a:endParaRPr lang="en-US" sz="2400" dirty="0"/>
          </a:p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Vertex 1 is called the start of the arc, and vertex 2 is called the </a:t>
            </a:r>
            <a:r>
              <a:rPr lang="en-US" sz="2400" dirty="0" smtClean="0"/>
              <a:t>end</a:t>
            </a:r>
            <a:r>
              <a:rPr lang="ru-RU" sz="24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 </a:t>
            </a:r>
            <a:r>
              <a:rPr lang="en-US" sz="2800" b="1" dirty="0" smtClean="0"/>
              <a:t>PATH</a:t>
            </a:r>
            <a:r>
              <a:rPr lang="en-US" sz="2800" dirty="0" smtClean="0"/>
              <a:t> is a sequence </a:t>
            </a:r>
            <a:r>
              <a:rPr lang="en-US" sz="2800" dirty="0"/>
              <a:t>of arcs </a:t>
            </a:r>
            <a:r>
              <a:rPr lang="en-US" sz="2800" dirty="0" smtClean="0"/>
              <a:t>such</a:t>
            </a:r>
            <a:endParaRPr lang="en-US" sz="2800" dirty="0" smtClean="0">
              <a:solidFill>
                <a:srgbClr val="FF0000"/>
              </a:solidFill>
            </a:endParaRPr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that for any two consecutive arcs</a:t>
            </a: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it is satisfied that the end of the</a:t>
            </a: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previous arc is the beginning of</a:t>
            </a:r>
            <a:endParaRPr lang="en-US" sz="2800" b="1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/>
              <a:t>the next.</a:t>
            </a:r>
            <a:endParaRPr lang="ru-RU" sz="2800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</a:t>
            </a:r>
            <a:r>
              <a:rPr lang="ru-RU" sz="2800" dirty="0"/>
              <a:t>1,3), (3,2), (2,4</a:t>
            </a:r>
            <a:r>
              <a:rPr lang="ru-RU" sz="2800" dirty="0" smtClean="0"/>
              <a:t>)</a:t>
            </a:r>
            <a:r>
              <a:rPr lang="en-US" sz="2800" dirty="0" smtClean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2" name="Прямая со стрелкой 21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051720" y="4941168"/>
            <a:ext cx="666023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	</a:t>
            </a:r>
            <a:r>
              <a:rPr lang="en-US" sz="2800" dirty="0"/>
              <a:t>A </a:t>
            </a:r>
            <a:r>
              <a:rPr lang="en-US" sz="2800" b="1" dirty="0"/>
              <a:t>simple path</a:t>
            </a:r>
            <a:r>
              <a:rPr lang="en-US" sz="2800" dirty="0"/>
              <a:t> is a path containing each </a:t>
            </a:r>
            <a:r>
              <a:rPr lang="en-US" sz="2800" dirty="0" smtClean="0"/>
              <a:t>arc at </a:t>
            </a:r>
            <a:r>
              <a:rPr lang="en-US" sz="2800" dirty="0"/>
              <a:t>most once</a:t>
            </a:r>
            <a:r>
              <a:rPr lang="ru-RU" sz="2800" dirty="0" smtClean="0"/>
              <a:t>.</a:t>
            </a:r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A </a:t>
            </a:r>
            <a:r>
              <a:rPr lang="en-US" sz="2800" b="1" dirty="0" smtClean="0"/>
              <a:t>CIRCUIT</a:t>
            </a:r>
            <a:r>
              <a:rPr lang="en-US" sz="2800" dirty="0" smtClean="0"/>
              <a:t> is </a:t>
            </a:r>
            <a:r>
              <a:rPr lang="en-US" sz="2800" dirty="0"/>
              <a:t>a closed simple path</a:t>
            </a:r>
            <a:r>
              <a:rPr lang="en-US" sz="2800" dirty="0" smtClean="0"/>
              <a:t>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(</a:t>
            </a:r>
            <a:r>
              <a:rPr lang="ru-RU" sz="2800" dirty="0"/>
              <a:t>(1,3), (3,2), (2,1))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275856" y="4149080"/>
            <a:ext cx="5652120" cy="223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Arc</a:t>
            </a:r>
            <a:r>
              <a:rPr lang="ru-RU" sz="2800" dirty="0" smtClean="0"/>
              <a:t>	</a:t>
            </a:r>
            <a:r>
              <a:rPr lang="en-US" sz="2800" dirty="0" smtClean="0"/>
              <a:t>example</a:t>
            </a:r>
            <a:r>
              <a:rPr lang="en-US" sz="2800" dirty="0"/>
              <a:t>:</a:t>
            </a:r>
            <a:r>
              <a:rPr lang="ru-RU" sz="2800" dirty="0" smtClean="0"/>
              <a:t> (1,3)</a:t>
            </a: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Path example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(1,3), (3,2), (2,4))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Circuit example: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(1,3), (3,2), (2,1))</a:t>
            </a:r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Directed </a:t>
            </a:r>
            <a:r>
              <a:rPr lang="en-US" sz="2800" dirty="0"/>
              <a:t>graph </a:t>
            </a:r>
            <a:r>
              <a:rPr lang="en-US" sz="2800" dirty="0" smtClean="0"/>
              <a:t>(digraph</a:t>
            </a:r>
            <a:r>
              <a:rPr lang="en-US" sz="2800" dirty="0"/>
              <a:t>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995936" y="1484784"/>
            <a:ext cx="3995936" cy="3744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There is the cycle</a:t>
            </a:r>
          </a:p>
          <a:p>
            <a:pPr marL="514350" lvl="0" indent="-514350" algn="ctr">
              <a:spcBef>
                <a:spcPct val="0"/>
              </a:spcBef>
            </a:pP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There is no circuit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912" y="2481262"/>
            <a:ext cx="5210175" cy="1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641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Vertex </a:t>
            </a:r>
            <a:r>
              <a:rPr lang="en-US" dirty="0" smtClean="0"/>
              <a:t>degree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550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 degree of a vertex </a:t>
            </a:r>
            <a:r>
              <a:rPr lang="en-US" sz="2800" dirty="0" smtClean="0"/>
              <a:t>is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 </a:t>
            </a:r>
            <a:r>
              <a:rPr lang="en-US" sz="2800" dirty="0"/>
              <a:t>number of incident </a:t>
            </a:r>
            <a:r>
              <a:rPr lang="en-US" sz="2800" dirty="0" smtClean="0"/>
              <a:t>edges.</a:t>
            </a: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628284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 degree of a </a:t>
            </a:r>
            <a:r>
              <a:rPr lang="en-US" sz="2800" dirty="0" smtClean="0"/>
              <a:t>vertex</a:t>
            </a:r>
            <a:r>
              <a:rPr lang="ru-RU" sz="2800" dirty="0" smtClean="0"/>
              <a:t> </a:t>
            </a:r>
            <a:r>
              <a:rPr lang="en-US" sz="2800" dirty="0" smtClean="0"/>
              <a:t>is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 number</a:t>
            </a:r>
            <a:r>
              <a:rPr lang="ru-RU" sz="2800" dirty="0" smtClean="0"/>
              <a:t> </a:t>
            </a:r>
            <a:r>
              <a:rPr lang="en-US" sz="2800" dirty="0" smtClean="0"/>
              <a:t>of </a:t>
            </a:r>
            <a:r>
              <a:rPr lang="en-US" sz="2800" dirty="0"/>
              <a:t>incident </a:t>
            </a:r>
            <a:r>
              <a:rPr lang="en-US" sz="2800" dirty="0" smtClean="0"/>
              <a:t>edges.</a:t>
            </a: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434015" y="2906138"/>
            <a:ext cx="3995936" cy="2592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1 </a:t>
            </a:r>
            <a:r>
              <a:rPr lang="ru-RU" sz="2800" dirty="0" smtClean="0"/>
              <a:t>= 1</a:t>
            </a:r>
          </a:p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2 = 2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3 = 0</a:t>
            </a: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4 = 2</a:t>
            </a: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5 = 1</a:t>
            </a: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62981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 vertex 3</a:t>
            </a:r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4120833" y="2286531"/>
            <a:ext cx="4538229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b="1" dirty="0" smtClean="0"/>
              <a:t>ISOLATED vertex </a:t>
            </a:r>
            <a:r>
              <a:rPr lang="en-US" sz="2400" dirty="0" smtClean="0"/>
              <a:t>is a vertex </a:t>
            </a:r>
            <a:r>
              <a:rPr lang="en-US" sz="2400" dirty="0"/>
              <a:t>whose degree is </a:t>
            </a:r>
            <a:r>
              <a:rPr lang="en-US" sz="2400" dirty="0" smtClean="0"/>
              <a:t>zero.</a:t>
            </a:r>
          </a:p>
        </p:txBody>
      </p:sp>
    </p:spTree>
    <p:extLst>
      <p:ext uri="{BB962C8B-B14F-4D97-AF65-F5344CB8AC3E}">
        <p14:creationId xmlns:p14="http://schemas.microsoft.com/office/powerpoint/2010/main" val="3937076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5"/>
            <a:ext cx="9144000" cy="1224136"/>
          </a:xfrm>
        </p:spPr>
        <p:txBody>
          <a:bodyPr/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Sum of degrees of all vertices = 2 * number of edges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69647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4"/>
            <a:ext cx="9144000" cy="1800199"/>
          </a:xfrm>
        </p:spPr>
        <p:txBody>
          <a:bodyPr>
            <a:normAutofit fontScale="92500" lnSpcReduction="10000"/>
          </a:bodyPr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are 15 telephones in the town of Little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Can </a:t>
            </a:r>
            <a:r>
              <a:rPr lang="en-US" dirty="0"/>
              <a:t>they be wired together so that each is connected to exactly 5 others?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42635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representations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19464" y="3068960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Tx/>
              <a:buChar char="-"/>
            </a:pPr>
            <a:r>
              <a:rPr lang="en-US" sz="2800" dirty="0" smtClean="0"/>
              <a:t>geometric graph</a:t>
            </a:r>
            <a:r>
              <a:rPr lang="ru-RU" sz="2800" dirty="0" smtClean="0"/>
              <a:t> (</a:t>
            </a:r>
            <a:r>
              <a:rPr lang="en-US" sz="2800" dirty="0" smtClean="0"/>
              <a:t>diagrammatic form</a:t>
            </a:r>
            <a:r>
              <a:rPr lang="ru-RU" sz="2800" dirty="0" smtClean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matrix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matrix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list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99992" y="2852936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3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1, 4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2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5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list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99992" y="2852936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</a:t>
            </a:r>
            <a:r>
              <a:rPr lang="en-US" sz="2800" b="1" dirty="0" smtClean="0"/>
              <a:t>2, 3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1, </a:t>
            </a:r>
            <a:r>
              <a:rPr lang="en-US" sz="2800" b="1" dirty="0" smtClean="0"/>
              <a:t>3, 4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</a:t>
            </a:r>
            <a:r>
              <a:rPr lang="en-US" sz="2800" b="1" dirty="0" smtClean="0"/>
              <a:t>1, </a:t>
            </a:r>
            <a:r>
              <a:rPr lang="ru-RU" sz="2800" b="1" dirty="0" smtClean="0"/>
              <a:t>2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</a:t>
            </a:r>
            <a:r>
              <a:rPr lang="en-US" sz="2800" b="1" dirty="0" smtClean="0"/>
              <a:t>2, </a:t>
            </a:r>
            <a:r>
              <a:rPr lang="ru-RU" sz="2800" b="1" dirty="0" smtClean="0"/>
              <a:t>5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  <a:r>
              <a:rPr lang="en-US" sz="2800" b="1" dirty="0" smtClean="0"/>
              <a:t>   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2539916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Arcs list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347864" y="3212976"/>
            <a:ext cx="57961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3600" b="1" dirty="0">
                <a:solidFill>
                  <a:srgbClr val="0070C0"/>
                </a:solidFill>
              </a:rPr>
              <a:t>(</a:t>
            </a:r>
            <a:r>
              <a:rPr lang="ru-RU" sz="3600" b="1" dirty="0" smtClean="0">
                <a:solidFill>
                  <a:srgbClr val="0070C0"/>
                </a:solidFill>
              </a:rPr>
              <a:t>(1,3), (3,2), (2,1), (2,4), (4,5)</a:t>
            </a:r>
            <a:r>
              <a:rPr lang="en-US" sz="3600" b="1" dirty="0" smtClean="0">
                <a:solidFill>
                  <a:srgbClr val="0070C0"/>
                </a:solidFill>
              </a:rPr>
              <a:t>)</a:t>
            </a:r>
            <a:endParaRPr lang="ru-RU" sz="3600" b="1" dirty="0" smtClean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Links </a:t>
            </a:r>
            <a:r>
              <a:rPr lang="en-US" sz="2800" b="1" dirty="0"/>
              <a:t>list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203848" y="3212976"/>
            <a:ext cx="59401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3600" b="1" dirty="0" smtClean="0">
                <a:solidFill>
                  <a:srgbClr val="0070C0"/>
                </a:solidFill>
              </a:rPr>
              <a:t>(</a:t>
            </a:r>
            <a:r>
              <a:rPr lang="en-US" sz="3600" b="1" dirty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1,3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3,2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2,1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2,4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4,5</a:t>
            </a:r>
            <a:r>
              <a:rPr lang="en-US" sz="3600" b="1" dirty="0" smtClean="0">
                <a:solidFill>
                  <a:srgbClr val="0070C0"/>
                </a:solidFill>
              </a:rPr>
              <a:t>})</a:t>
            </a:r>
            <a:endParaRPr lang="ru-RU" sz="3600" b="1" dirty="0" smtClean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398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319464" y="3068960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-      </a:t>
            </a:r>
            <a:r>
              <a:rPr lang="en-US" sz="2800" b="1" dirty="0"/>
              <a:t>weighted </a:t>
            </a:r>
            <a:r>
              <a:rPr lang="en-US" sz="2800" b="1" dirty="0" smtClean="0"/>
              <a:t>graph</a:t>
            </a:r>
            <a:endParaRPr lang="ru-RU" sz="2800" b="1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b="1" dirty="0"/>
              <a:t>Distance matrix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(Matrix </a:t>
            </a:r>
            <a:r>
              <a:rPr lang="en-US" sz="2800" b="1" dirty="0"/>
              <a:t>of </a:t>
            </a:r>
            <a:r>
              <a:rPr lang="en-US" sz="2800" b="1" dirty="0" smtClean="0"/>
              <a:t>weights)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The adjacency list of a weighted graph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19600" y="2780928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(3,2)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(1,1), (4,1)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(2,3)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(5,2)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707904" y="4941168"/>
            <a:ext cx="49685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The </a:t>
            </a:r>
            <a:r>
              <a:rPr lang="en-US" sz="2800" b="1" dirty="0" smtClean="0"/>
              <a:t>arc list </a:t>
            </a:r>
            <a:r>
              <a:rPr lang="en-US" sz="2800" b="1" dirty="0"/>
              <a:t>of a weighted graph</a:t>
            </a:r>
            <a:endParaRPr lang="ru-RU" sz="2800" b="1" dirty="0"/>
          </a:p>
          <a:p>
            <a:pPr marL="514350" lvl="0" indent="-514350" algn="ctr">
              <a:spcBef>
                <a:spcPct val="0"/>
              </a:spcBef>
            </a:pP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563888" y="3212976"/>
            <a:ext cx="558011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3600" b="1" dirty="0" smtClean="0">
                <a:solidFill>
                  <a:srgbClr val="0070C0"/>
                </a:solidFill>
              </a:rPr>
              <a:t>(1,3,2), (3,2,3), (2,1,1), (2,4,1), (4,5,2)</a:t>
            </a:r>
          </a:p>
        </p:txBody>
      </p:sp>
      <p:sp>
        <p:nvSpPr>
          <p:cNvPr id="21" name="Овал 20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Овал 24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Овал 32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1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2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45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9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2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CONNECTIVITY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Овал 36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41" name="Прямая со стрелкой 40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components are there?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Connectivity components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5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Number of components: </a:t>
            </a:r>
            <a:r>
              <a:rPr lang="ru-RU" sz="2800" dirty="0" smtClean="0"/>
              <a:t>3</a:t>
            </a:r>
            <a:endParaRPr lang="en-US" sz="2800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Овал 29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Strong 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496855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strong </a:t>
            </a:r>
            <a:r>
              <a:rPr lang="en-US" sz="2800" b="1" dirty="0">
                <a:solidFill>
                  <a:srgbClr val="00B050"/>
                </a:solidFill>
              </a:rPr>
              <a:t>connectivity </a:t>
            </a:r>
            <a:r>
              <a:rPr lang="en-US" sz="2800" b="1" dirty="0" smtClean="0">
                <a:solidFill>
                  <a:srgbClr val="00B050"/>
                </a:solidFill>
              </a:rPr>
              <a:t>components?</a:t>
            </a:r>
          </a:p>
        </p:txBody>
      </p: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436096" y="5085184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Strong 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496855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Number of </a:t>
            </a:r>
            <a:r>
              <a:rPr lang="en-US" sz="2800" dirty="0" smtClean="0"/>
              <a:t>strong </a:t>
            </a:r>
            <a:r>
              <a:rPr lang="en-US" sz="2800" dirty="0"/>
              <a:t>connectivity </a:t>
            </a:r>
            <a:r>
              <a:rPr lang="en-US" sz="2800" dirty="0" smtClean="0"/>
              <a:t>components: </a:t>
            </a:r>
            <a:r>
              <a:rPr lang="ru-RU" sz="2800" dirty="0" smtClean="0"/>
              <a:t>5</a:t>
            </a:r>
            <a:endParaRPr lang="en-US" sz="2800" dirty="0" smtClean="0"/>
          </a:p>
        </p:txBody>
      </p: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436096" y="5085184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156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Овал 25"/>
          <p:cNvSpPr/>
          <p:nvPr/>
        </p:nvSpPr>
        <p:spPr>
          <a:xfrm>
            <a:off x="2123728" y="3861048"/>
            <a:ext cx="3384376" cy="292494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Condensation</a:t>
            </a:r>
            <a:endParaRPr lang="ru-RU" sz="2800" dirty="0" smtClean="0">
              <a:solidFill>
                <a:srgbClr val="FF0000"/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580112" y="5085184"/>
            <a:ext cx="1080120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Заголовок 1"/>
          <p:cNvSpPr txBox="1">
            <a:spLocks/>
          </p:cNvSpPr>
          <p:nvPr/>
        </p:nvSpPr>
        <p:spPr>
          <a:xfrm>
            <a:off x="3419872" y="4077072"/>
            <a:ext cx="93610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456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3250014" y="1484784"/>
            <a:ext cx="5818530" cy="26420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 smtClean="0"/>
              <a:t>The </a:t>
            </a:r>
            <a:r>
              <a:rPr lang="en-US" sz="2000" b="1" dirty="0" smtClean="0"/>
              <a:t>CONDENSATION</a:t>
            </a:r>
            <a:r>
              <a:rPr lang="en-US" sz="2000" dirty="0" smtClean="0"/>
              <a:t> of a directed graph </a:t>
            </a:r>
            <a:r>
              <a:rPr lang="en-US" sz="2000" i="1" dirty="0" smtClean="0"/>
              <a:t>G</a:t>
            </a:r>
            <a:r>
              <a:rPr lang="en-US" sz="2000" dirty="0" smtClean="0"/>
              <a:t> is a directed </a:t>
            </a:r>
            <a:r>
              <a:rPr lang="en-US" sz="2000" b="1" dirty="0" smtClean="0">
                <a:solidFill>
                  <a:srgbClr val="FF0000"/>
                </a:solidFill>
              </a:rPr>
              <a:t>acyclic</a:t>
            </a:r>
            <a:r>
              <a:rPr lang="en-US" sz="2000" dirty="0" smtClean="0"/>
              <a:t> graph with one vertex for each strongly connected component of </a:t>
            </a:r>
            <a:r>
              <a:rPr lang="en-US" sz="2000" i="1" dirty="0" smtClean="0"/>
              <a:t>G</a:t>
            </a:r>
            <a:r>
              <a:rPr lang="en-US" sz="2000" dirty="0" smtClean="0"/>
              <a:t>, and an edge connecting pairs of components that contain the two endpoints of at least one edge in </a:t>
            </a:r>
            <a:r>
              <a:rPr lang="en-US" sz="2000" i="1" dirty="0" smtClean="0"/>
              <a:t>G</a:t>
            </a:r>
            <a:r>
              <a:rPr lang="en-US" sz="2000" dirty="0" smtClean="0"/>
              <a:t>.</a:t>
            </a:r>
            <a:endParaRPr lang="ru-RU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2780928"/>
            <a:ext cx="8229600" cy="3345235"/>
          </a:xfrm>
        </p:spPr>
        <p:txBody>
          <a:bodyPr/>
          <a:lstStyle/>
          <a:p>
            <a:pPr marL="0" lvl="0" indent="0" algn="ctr">
              <a:buNone/>
            </a:pPr>
            <a:r>
              <a:rPr lang="en-US" b="1" dirty="0" smtClean="0"/>
              <a:t>Condensation has no circuit</a:t>
            </a:r>
            <a:endParaRPr lang="ru-RU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13334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Овал 25"/>
          <p:cNvSpPr/>
          <p:nvPr/>
        </p:nvSpPr>
        <p:spPr>
          <a:xfrm>
            <a:off x="2123728" y="3861048"/>
            <a:ext cx="3384376" cy="292494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Condensation </a:t>
            </a:r>
            <a:r>
              <a:rPr lang="en-US" sz="2800" b="1" dirty="0"/>
              <a:t>has no circuit</a:t>
            </a:r>
            <a:endParaRPr lang="ru-RU" sz="2800" b="1" dirty="0" smtClean="0">
              <a:solidFill>
                <a:srgbClr val="FF0000"/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>
            <a:stCxn id="19" idx="6"/>
          </p:cNvCxnSpPr>
          <p:nvPr/>
        </p:nvCxnSpPr>
        <p:spPr>
          <a:xfrm flipV="1">
            <a:off x="5364088" y="5157192"/>
            <a:ext cx="1296144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Заголовок 1"/>
          <p:cNvSpPr txBox="1">
            <a:spLocks/>
          </p:cNvSpPr>
          <p:nvPr/>
        </p:nvSpPr>
        <p:spPr>
          <a:xfrm>
            <a:off x="3419872" y="4077072"/>
            <a:ext cx="93610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456</a:t>
            </a:r>
            <a:endParaRPr lang="ru-RU" sz="2800" b="1" dirty="0" smtClean="0"/>
          </a:p>
        </p:txBody>
      </p:sp>
      <p:cxnSp>
        <p:nvCxnSpPr>
          <p:cNvPr id="35" name="Прямая со стрелкой 34"/>
          <p:cNvCxnSpPr>
            <a:endCxn id="23" idx="6"/>
          </p:cNvCxnSpPr>
          <p:nvPr/>
        </p:nvCxnSpPr>
        <p:spPr>
          <a:xfrm flipH="1">
            <a:off x="4139952" y="5589240"/>
            <a:ext cx="266429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единительная линия 42"/>
          <p:cNvCxnSpPr/>
          <p:nvPr/>
        </p:nvCxnSpPr>
        <p:spPr>
          <a:xfrm flipH="1" flipV="1">
            <a:off x="5508104" y="5517232"/>
            <a:ext cx="936104" cy="93610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/>
          <p:nvPr/>
        </p:nvCxnSpPr>
        <p:spPr>
          <a:xfrm flipH="1">
            <a:off x="5508104" y="5373216"/>
            <a:ext cx="648072" cy="93610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4"/>
            <a:ext cx="9144000" cy="2664296"/>
          </a:xfrm>
        </p:spPr>
        <p:txBody>
          <a:bodyPr>
            <a:normAutofit fontScale="85000" lnSpcReduction="20000"/>
          </a:bodyPr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In some kingdom, cities are connected by airlines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There </a:t>
            </a:r>
            <a:r>
              <a:rPr lang="en-US" dirty="0"/>
              <a:t>are 101 airlines from the capital, 1 airline from </a:t>
            </a:r>
            <a:r>
              <a:rPr lang="en-US" dirty="0" err="1"/>
              <a:t>Dalny</a:t>
            </a:r>
            <a:r>
              <a:rPr lang="en-US" dirty="0"/>
              <a:t>, and 20 airlines from all other cities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Prove </a:t>
            </a:r>
            <a:r>
              <a:rPr lang="en-US" dirty="0"/>
              <a:t>that it is possible to get by plane from the capital to the </a:t>
            </a:r>
            <a:r>
              <a:rPr lang="en-US" dirty="0" smtClean="0"/>
              <a:t>city of </a:t>
            </a:r>
            <a:r>
              <a:rPr lang="en-US" dirty="0" err="1"/>
              <a:t>Dalny</a:t>
            </a:r>
            <a:r>
              <a:rPr lang="en-US" dirty="0"/>
              <a:t> </a:t>
            </a:r>
            <a:r>
              <a:rPr lang="en-US" dirty="0" smtClean="0"/>
              <a:t>(possibly </a:t>
            </a:r>
            <a:r>
              <a:rPr lang="en-US" dirty="0"/>
              <a:t>with transplants).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96723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Tree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Заголовок 1"/>
          <p:cNvSpPr txBox="1">
            <a:spLocks/>
          </p:cNvSpPr>
          <p:nvPr/>
        </p:nvSpPr>
        <p:spPr>
          <a:xfrm>
            <a:off x="4860032" y="4265712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TREE</a:t>
            </a:r>
            <a:r>
              <a:rPr lang="en-US" sz="2800" dirty="0"/>
              <a:t> is an </a:t>
            </a:r>
            <a:r>
              <a:rPr lang="en-US" sz="2800" b="1" dirty="0">
                <a:solidFill>
                  <a:srgbClr val="FF0000"/>
                </a:solidFill>
              </a:rPr>
              <a:t>undirected</a:t>
            </a:r>
            <a:r>
              <a:rPr lang="en-US" sz="2800" dirty="0"/>
              <a:t> graph that is both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 connected </a:t>
            </a:r>
            <a:r>
              <a:rPr lang="en-US" sz="2800" dirty="0"/>
              <a:t>and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Заголовок 1"/>
          <p:cNvSpPr txBox="1">
            <a:spLocks/>
          </p:cNvSpPr>
          <p:nvPr/>
        </p:nvSpPr>
        <p:spPr>
          <a:xfrm>
            <a:off x="4860032" y="4265712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TREE</a:t>
            </a:r>
            <a:r>
              <a:rPr lang="en-US" sz="2800" dirty="0"/>
              <a:t> is </a:t>
            </a:r>
            <a:r>
              <a:rPr lang="en-US" sz="2800" dirty="0" smtClean="0"/>
              <a:t>a</a:t>
            </a:r>
            <a:r>
              <a:rPr lang="ru-RU" sz="2800" dirty="0" smtClean="0"/>
              <a:t> </a:t>
            </a:r>
            <a:r>
              <a:rPr lang="en-US" sz="2800" dirty="0" smtClean="0"/>
              <a:t>graph </a:t>
            </a:r>
            <a:r>
              <a:rPr lang="en-US" sz="2800" dirty="0"/>
              <a:t>that is both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 connected </a:t>
            </a:r>
            <a:r>
              <a:rPr lang="en-US" sz="2800" dirty="0"/>
              <a:t>and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931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V="1">
            <a:off x="1115616" y="4581128"/>
            <a:ext cx="216024" cy="11521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971600" y="2492896"/>
            <a:ext cx="288032" cy="309634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/>
          <p:nvPr/>
        </p:nvCxnSpPr>
        <p:spPr>
          <a:xfrm flipV="1">
            <a:off x="1331640" y="5589240"/>
            <a:ext cx="648072" cy="1440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 стрелкой 61"/>
          <p:cNvCxnSpPr/>
          <p:nvPr/>
        </p:nvCxnSpPr>
        <p:spPr>
          <a:xfrm flipV="1">
            <a:off x="1403648" y="5661248"/>
            <a:ext cx="252028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Заголовок 1"/>
          <p:cNvSpPr txBox="1">
            <a:spLocks/>
          </p:cNvSpPr>
          <p:nvPr/>
        </p:nvSpPr>
        <p:spPr>
          <a:xfrm>
            <a:off x="0" y="5373216"/>
            <a:ext cx="187220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Leafs</a:t>
            </a:r>
            <a:endParaRPr lang="ru-RU" sz="2800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1520788"/>
            <a:ext cx="4538229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b="1" dirty="0" smtClean="0"/>
              <a:t>LEAF </a:t>
            </a:r>
            <a:r>
              <a:rPr lang="en-US" sz="2400" dirty="0" smtClean="0"/>
              <a:t>is a vertex </a:t>
            </a:r>
            <a:r>
              <a:rPr lang="en-US" sz="2400" dirty="0"/>
              <a:t>whose degree is </a:t>
            </a:r>
            <a:r>
              <a:rPr lang="en-US" sz="2400" dirty="0" smtClean="0"/>
              <a:t>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Forest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348880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771800" y="2420888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267744" y="4077072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427984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707904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283968" y="4077072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572000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851920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275856" y="2204864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6948264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6228184" y="37890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0" name="Прямая со стрелкой 39"/>
          <p:cNvCxnSpPr/>
          <p:nvPr/>
        </p:nvCxnSpPr>
        <p:spPr>
          <a:xfrm flipH="1">
            <a:off x="6804248" y="2348880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Заголовок 1"/>
          <p:cNvSpPr txBox="1">
            <a:spLocks/>
          </p:cNvSpPr>
          <p:nvPr/>
        </p:nvSpPr>
        <p:spPr>
          <a:xfrm>
            <a:off x="7092280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2" name="Заголовок 1"/>
          <p:cNvSpPr txBox="1">
            <a:spLocks/>
          </p:cNvSpPr>
          <p:nvPr/>
        </p:nvSpPr>
        <p:spPr>
          <a:xfrm>
            <a:off x="6372200" y="386104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4689036" y="4833156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FOREST</a:t>
            </a:r>
            <a:r>
              <a:rPr lang="en-US" sz="2800" dirty="0"/>
              <a:t> is an undirected graph </a:t>
            </a:r>
            <a:r>
              <a:rPr lang="en-US" sz="2800" dirty="0" smtClean="0"/>
              <a:t>that is </a:t>
            </a:r>
            <a:r>
              <a:rPr lang="en-US" sz="2800" dirty="0" smtClean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212976"/>
            <a:ext cx="8229600" cy="2913187"/>
          </a:xfrm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There is always a leaf in a </a:t>
            </a:r>
            <a:r>
              <a:rPr lang="en-US" dirty="0" smtClean="0"/>
              <a:t>tree</a:t>
            </a:r>
            <a:r>
              <a:rPr lang="ru-RU" dirty="0" smtClean="0"/>
              <a:t> </a:t>
            </a:r>
            <a:r>
              <a:rPr lang="en-US" dirty="0" smtClean="0"/>
              <a:t>with more than one vertex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196238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</a:t>
            </a:r>
            <a:r>
              <a:rPr lang="en-US" sz="2000" dirty="0"/>
              <a:t> the opposite.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3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</a:t>
            </a:r>
            <a:r>
              <a:rPr lang="en-US" sz="2000" dirty="0"/>
              <a:t> the </a:t>
            </a:r>
            <a:r>
              <a:rPr lang="en-US" sz="2000" dirty="0" smtClean="0"/>
              <a:t>opposite, i.e</a:t>
            </a:r>
            <a:r>
              <a:rPr lang="en-US" sz="2000" dirty="0"/>
              <a:t>., there are no sheets.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3702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1209932" y="400709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1919460" y="3603609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/>
          <p:cNvSpPr/>
          <p:nvPr/>
        </p:nvSpPr>
        <p:spPr>
          <a:xfrm>
            <a:off x="3555455" y="5587045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= 3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484277" y="5592449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= 2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3995936" y="404560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>
            <a:off x="4788024" y="4607149"/>
            <a:ext cx="846846" cy="13937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705464" y="364212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>
            <a:off x="4847909" y="4171964"/>
            <a:ext cx="791709" cy="15240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052099" y="4068688"/>
            <a:ext cx="791709" cy="15240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Прямоугольник 40"/>
          <p:cNvSpPr/>
          <p:nvPr/>
        </p:nvSpPr>
        <p:spPr>
          <a:xfrm>
            <a:off x="6136287" y="5587045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&gt; 2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6576768" y="404560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3" name="Прямая со стрелкой 42"/>
          <p:cNvCxnSpPr/>
          <p:nvPr/>
        </p:nvCxnSpPr>
        <p:spPr>
          <a:xfrm>
            <a:off x="7368856" y="4607149"/>
            <a:ext cx="846846" cy="13937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>
            <a:off x="7286296" y="364212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Прямоугольник 45"/>
          <p:cNvSpPr/>
          <p:nvPr/>
        </p:nvSpPr>
        <p:spPr>
          <a:xfrm>
            <a:off x="7620597" y="4045609"/>
            <a:ext cx="3433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5352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2722100" y="43671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3431628" y="3963649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 стрелкой 5"/>
          <p:cNvCxnSpPr/>
          <p:nvPr/>
        </p:nvCxnSpPr>
        <p:spPr>
          <a:xfrm>
            <a:off x="4860032" y="4165391"/>
            <a:ext cx="72008" cy="561783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4211960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4572000" y="4854323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" name="Прямая со стрелкой 9"/>
          <p:cNvCxnSpPr/>
          <p:nvPr/>
        </p:nvCxnSpPr>
        <p:spPr>
          <a:xfrm>
            <a:off x="3431628" y="5066156"/>
            <a:ext cx="1068364" cy="14820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673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4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66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936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2" name="Прямая со стрелкой 11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65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уга 1"/>
          <p:cNvSpPr/>
          <p:nvPr/>
        </p:nvSpPr>
        <p:spPr>
          <a:xfrm rot="8100959">
            <a:off x="3476664" y="4992402"/>
            <a:ext cx="1440160" cy="1368152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6827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765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</a:t>
            </a:r>
            <a:r>
              <a:rPr lang="en-US" sz="2000" dirty="0" smtClean="0"/>
              <a:t>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Овал 13"/>
          <p:cNvSpPr/>
          <p:nvPr/>
        </p:nvSpPr>
        <p:spPr>
          <a:xfrm>
            <a:off x="6401040" y="5381955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072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401040" y="5381955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4" name="Прямая со стрелкой 13"/>
          <p:cNvCxnSpPr/>
          <p:nvPr/>
        </p:nvCxnSpPr>
        <p:spPr>
          <a:xfrm flipH="1">
            <a:off x="7221968" y="5720273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73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Since the number of vertices is finite, at some step the marked vertex will be chosen, which means that a cycle will be found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585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Since the number of vertices is finite, at some step the marked vertex will be chosen, which means that a cycle will be found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Contradiction!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So there is a sheet in the loop</a:t>
            </a: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4342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212976"/>
            <a:ext cx="8229600" cy="2913187"/>
          </a:xfrm>
        </p:spPr>
        <p:txBody>
          <a:bodyPr/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is </a:t>
            </a:r>
            <a:r>
              <a:rPr lang="en-US" dirty="0" smtClean="0"/>
              <a:t>   </a:t>
            </a:r>
            <a:r>
              <a:rPr lang="en-US" b="1" dirty="0" smtClean="0"/>
              <a:t>|</a:t>
            </a:r>
            <a:r>
              <a:rPr lang="en-US" b="1" dirty="0"/>
              <a:t>E| </a:t>
            </a:r>
            <a:r>
              <a:rPr lang="ru-RU" b="1" dirty="0"/>
              <a:t>=</a:t>
            </a:r>
            <a:r>
              <a:rPr lang="en-US" b="1" dirty="0"/>
              <a:t> |V</a:t>
            </a:r>
            <a:r>
              <a:rPr lang="en-US" b="1" dirty="0" smtClean="0"/>
              <a:t>|- 1</a:t>
            </a:r>
            <a:r>
              <a:rPr lang="en-US" dirty="0" smtClean="0"/>
              <a:t>    in any tree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7999382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There is    </a:t>
            </a:r>
            <a:r>
              <a:rPr lang="en-US" sz="2800" b="1" dirty="0"/>
              <a:t>|E| </a:t>
            </a:r>
            <a:r>
              <a:rPr lang="ru-RU" sz="2800" b="1" dirty="0"/>
              <a:t>=</a:t>
            </a:r>
            <a:r>
              <a:rPr lang="en-US" sz="2800" b="1" dirty="0"/>
              <a:t> |V|- 1</a:t>
            </a:r>
            <a:r>
              <a:rPr lang="en-US" sz="2800" dirty="0"/>
              <a:t>    in any tree</a:t>
            </a:r>
            <a:endParaRPr lang="ru-RU" sz="2800" b="1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There is    </a:t>
            </a:r>
            <a:r>
              <a:rPr lang="en-US" sz="2800" b="1" dirty="0"/>
              <a:t>|E| </a:t>
            </a:r>
            <a:r>
              <a:rPr lang="ru-RU" sz="2800" b="1" dirty="0"/>
              <a:t>=</a:t>
            </a:r>
            <a:r>
              <a:rPr lang="en-US" sz="2800" b="1" dirty="0"/>
              <a:t> |V|- 1</a:t>
            </a:r>
            <a:r>
              <a:rPr lang="en-US" sz="2800" dirty="0"/>
              <a:t>    in any tree</a:t>
            </a:r>
            <a:endParaRPr lang="ru-RU" sz="2800" b="1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/>
          <p:cNvCxnSpPr/>
          <p:nvPr/>
        </p:nvCxnSpPr>
        <p:spPr>
          <a:xfrm>
            <a:off x="1835696" y="980728"/>
            <a:ext cx="504056" cy="122413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/>
          <p:nvPr/>
        </p:nvCxnSpPr>
        <p:spPr>
          <a:xfrm flipH="1">
            <a:off x="755576" y="1124744"/>
            <a:ext cx="1656184" cy="136815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Заголовок 1"/>
          <p:cNvSpPr txBox="1">
            <a:spLocks/>
          </p:cNvSpPr>
          <p:nvPr/>
        </p:nvSpPr>
        <p:spPr>
          <a:xfrm>
            <a:off x="5004048" y="4077072"/>
            <a:ext cx="41399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After discarding a leaf from a graph that has more than 2 vertices, the graph remains a tree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4"/>
            <a:ext cx="9144000" cy="2448272"/>
          </a:xfrm>
        </p:spPr>
        <p:txBody>
          <a:bodyPr>
            <a:normAutofit fontScale="92500" lnSpcReduction="20000"/>
          </a:bodyPr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are 101 cities in the country of </a:t>
            </a:r>
            <a:r>
              <a:rPr lang="en-US" dirty="0" err="1"/>
              <a:t>Drevlyandia</a:t>
            </a:r>
            <a:r>
              <a:rPr lang="en-US" dirty="0"/>
              <a:t>, and some of them are connected by roads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Any </a:t>
            </a:r>
            <a:r>
              <a:rPr lang="en-US" dirty="0"/>
              <a:t>two cities are connected by exactly one </a:t>
            </a:r>
            <a:r>
              <a:rPr lang="en-US" dirty="0" smtClean="0"/>
              <a:t>road.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How </a:t>
            </a:r>
            <a:r>
              <a:rPr lang="en-US" dirty="0"/>
              <a:t>many roads are there in this country?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811658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Isomorphism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0" name="Овал 19"/>
          <p:cNvSpPr/>
          <p:nvPr/>
        </p:nvSpPr>
        <p:spPr>
          <a:xfrm>
            <a:off x="579613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Овал 20"/>
          <p:cNvSpPr/>
          <p:nvPr/>
        </p:nvSpPr>
        <p:spPr>
          <a:xfrm>
            <a:off x="745232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2" name="Овал 21"/>
          <p:cNvSpPr/>
          <p:nvPr/>
        </p:nvSpPr>
        <p:spPr>
          <a:xfrm>
            <a:off x="752432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694826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4" name="Прямая со стрелкой 23"/>
          <p:cNvCxnSpPr/>
          <p:nvPr/>
        </p:nvCxnSpPr>
        <p:spPr>
          <a:xfrm flipH="1">
            <a:off x="658822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V="1">
            <a:off x="781236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745232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1"/>
          <p:cNvSpPr txBox="1">
            <a:spLocks/>
          </p:cNvSpPr>
          <p:nvPr/>
        </p:nvSpPr>
        <p:spPr>
          <a:xfrm>
            <a:off x="5796136" y="2060849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13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7452320" y="1700808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14</a:t>
            </a:r>
            <a:endParaRPr lang="ru-RU" sz="2800" b="1" dirty="0" smtClean="0"/>
          </a:p>
        </p:txBody>
      </p:sp>
      <p:sp>
        <p:nvSpPr>
          <p:cNvPr id="33" name="Заголовок 1"/>
          <p:cNvSpPr txBox="1">
            <a:spLocks/>
          </p:cNvSpPr>
          <p:nvPr/>
        </p:nvSpPr>
        <p:spPr>
          <a:xfrm>
            <a:off x="7668344" y="3356992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12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7092280" y="5517232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35" name="Овал 34"/>
          <p:cNvSpPr/>
          <p:nvPr/>
        </p:nvSpPr>
        <p:spPr>
          <a:xfrm>
            <a:off x="572412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5796136" y="3645025"/>
            <a:ext cx="50182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45353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347864" y="2420888"/>
            <a:ext cx="360040" cy="7920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1040101" y="2708920"/>
            <a:ext cx="289201" cy="93610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9755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537214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470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cxnSp>
        <p:nvCxnSpPr>
          <p:cNvPr id="37" name="Прямая со стрелкой 36"/>
          <p:cNvCxnSpPr/>
          <p:nvPr/>
        </p:nvCxnSpPr>
        <p:spPr>
          <a:xfrm>
            <a:off x="1257294" y="4365104"/>
            <a:ext cx="938442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/>
          <p:nvPr/>
        </p:nvCxnSpPr>
        <p:spPr>
          <a:xfrm flipV="1">
            <a:off x="2915816" y="4149080"/>
            <a:ext cx="792088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V="1">
            <a:off x="1411401" y="3789041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5545444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7201628" y="12687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8100392" y="51999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6537654" y="24568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7" name="Прямая со стрелкой 46"/>
          <p:cNvCxnSpPr/>
          <p:nvPr/>
        </p:nvCxnSpPr>
        <p:spPr>
          <a:xfrm flipH="1">
            <a:off x="6337532" y="170080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 flipH="1" flipV="1">
            <a:off x="7777692" y="2060848"/>
            <a:ext cx="645620" cy="28443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5502725" y="2528900"/>
            <a:ext cx="329415" cy="291632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Заголовок 1"/>
          <p:cNvSpPr txBox="1">
            <a:spLocks/>
          </p:cNvSpPr>
          <p:nvPr/>
        </p:nvSpPr>
        <p:spPr>
          <a:xfrm>
            <a:off x="5763700" y="170080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/>
              <a:t>3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7419884" y="13407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2" name="Заголовок 1"/>
          <p:cNvSpPr txBox="1">
            <a:spLocks/>
          </p:cNvSpPr>
          <p:nvPr/>
        </p:nvSpPr>
        <p:spPr>
          <a:xfrm>
            <a:off x="8244408" y="52719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/>
              <a:t>5</a:t>
            </a:r>
            <a:endParaRPr lang="ru-RU" sz="2800" b="1" dirty="0" smtClean="0"/>
          </a:p>
        </p:txBody>
      </p:sp>
      <p:sp>
        <p:nvSpPr>
          <p:cNvPr id="53" name="Заголовок 1"/>
          <p:cNvSpPr txBox="1">
            <a:spLocks/>
          </p:cNvSpPr>
          <p:nvPr/>
        </p:nvSpPr>
        <p:spPr>
          <a:xfrm>
            <a:off x="6681670" y="25289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54" name="Овал 53"/>
          <p:cNvSpPr/>
          <p:nvPr/>
        </p:nvSpPr>
        <p:spPr>
          <a:xfrm>
            <a:off x="5184068" y="56320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Заголовок 1"/>
          <p:cNvSpPr txBox="1">
            <a:spLocks/>
          </p:cNvSpPr>
          <p:nvPr/>
        </p:nvSpPr>
        <p:spPr>
          <a:xfrm>
            <a:off x="5402324" y="570404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cxnSp>
        <p:nvCxnSpPr>
          <p:cNvPr id="56" name="Прямая со стрелкой 55"/>
          <p:cNvCxnSpPr/>
          <p:nvPr/>
        </p:nvCxnSpPr>
        <p:spPr>
          <a:xfrm flipV="1">
            <a:off x="5904148" y="3212976"/>
            <a:ext cx="737414" cy="23470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7257734" y="3176972"/>
            <a:ext cx="879998" cy="19802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6058255" y="5704043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956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45353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347864" y="2420888"/>
            <a:ext cx="360040" cy="7920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1040101" y="2708920"/>
            <a:ext cx="289201" cy="93610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537214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7" name="Прямая со стрелкой 36"/>
          <p:cNvCxnSpPr/>
          <p:nvPr/>
        </p:nvCxnSpPr>
        <p:spPr>
          <a:xfrm>
            <a:off x="1257294" y="4365104"/>
            <a:ext cx="938442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/>
          <p:nvPr/>
        </p:nvCxnSpPr>
        <p:spPr>
          <a:xfrm flipV="1">
            <a:off x="2915816" y="4149080"/>
            <a:ext cx="792088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V="1">
            <a:off x="1411401" y="3789041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5545444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7201628" y="12687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8100392" y="51999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6537654" y="24568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7" name="Прямая со стрелкой 46"/>
          <p:cNvCxnSpPr/>
          <p:nvPr/>
        </p:nvCxnSpPr>
        <p:spPr>
          <a:xfrm flipH="1">
            <a:off x="6337532" y="170080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 flipH="1" flipV="1">
            <a:off x="7777692" y="2060848"/>
            <a:ext cx="645620" cy="28443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5502725" y="2528900"/>
            <a:ext cx="329415" cy="291632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Овал 53"/>
          <p:cNvSpPr/>
          <p:nvPr/>
        </p:nvSpPr>
        <p:spPr>
          <a:xfrm>
            <a:off x="5184068" y="56320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6" name="Прямая со стрелкой 55"/>
          <p:cNvCxnSpPr/>
          <p:nvPr/>
        </p:nvCxnSpPr>
        <p:spPr>
          <a:xfrm flipV="1">
            <a:off x="5904148" y="3212976"/>
            <a:ext cx="737414" cy="23470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7257734" y="3176972"/>
            <a:ext cx="879998" cy="19802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6058255" y="5704043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12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Eulerian </a:t>
            </a:r>
            <a:r>
              <a:rPr lang="en-US" dirty="0" smtClean="0"/>
              <a:t>path/cycle/graph</a:t>
            </a:r>
            <a:endParaRPr lang="ru-RU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4847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12474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36450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path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1556792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1844824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771800" y="1916832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267744" y="3573016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15567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1967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371703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427984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707904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4572000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851920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203848" y="1700808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>
            <a:off x="971600" y="2348880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 flipH="1">
            <a:off x="2699792" y="5229200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5508104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5652120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3275856" y="1412776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V="1">
            <a:off x="5076056" y="1916832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Заголовок 1"/>
          <p:cNvSpPr txBox="1">
            <a:spLocks/>
          </p:cNvSpPr>
          <p:nvPr/>
        </p:nvSpPr>
        <p:spPr>
          <a:xfrm>
            <a:off x="3843536" y="3583823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An </a:t>
            </a:r>
            <a:r>
              <a:rPr lang="en-US" sz="2800" b="1" dirty="0" smtClean="0"/>
              <a:t>Eulerian </a:t>
            </a:r>
            <a:r>
              <a:rPr lang="en-US" sz="2800" b="1" dirty="0"/>
              <a:t>path</a:t>
            </a:r>
            <a:r>
              <a:rPr lang="en-US" sz="2800" dirty="0"/>
              <a:t> is </a:t>
            </a:r>
            <a:r>
              <a:rPr lang="en-US" sz="2800" dirty="0" smtClean="0"/>
              <a:t>a path </a:t>
            </a:r>
            <a:r>
              <a:rPr lang="en-US" sz="2800" dirty="0"/>
              <a:t>containing all </a:t>
            </a:r>
            <a:r>
              <a:rPr lang="en-US" sz="2800" dirty="0" smtClean="0"/>
              <a:t>edges</a:t>
            </a:r>
            <a:r>
              <a:rPr lang="ru-RU" sz="2800" dirty="0" smtClean="0"/>
              <a:t> </a:t>
            </a:r>
            <a:r>
              <a:rPr lang="en-US" sz="2800" dirty="0" smtClean="0"/>
              <a:t>of a graph</a:t>
            </a:r>
            <a:endParaRPr lang="ru-RU" sz="2800" dirty="0" smtClean="0"/>
          </a:p>
        </p:txBody>
      </p:sp>
      <p:sp>
        <p:nvSpPr>
          <p:cNvPr id="2" name="Прямоугольник 1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</a:t>
            </a:r>
            <a:r>
              <a:rPr lang="en-US" dirty="0" smtClean="0"/>
              <a:t>2</a:t>
            </a:r>
            <a:r>
              <a:rPr lang="ru-RU" dirty="0" smtClean="0"/>
              <a:t>,3</a:t>
            </a:r>
            <a:r>
              <a:rPr lang="ru-RU" dirty="0"/>
              <a:t>), (</a:t>
            </a:r>
            <a:r>
              <a:rPr lang="ru-RU" dirty="0" smtClean="0"/>
              <a:t>3,</a:t>
            </a:r>
            <a:r>
              <a:rPr lang="en-US" dirty="0" smtClean="0"/>
              <a:t>1</a:t>
            </a:r>
            <a:r>
              <a:rPr lang="ru-RU" dirty="0" smtClean="0"/>
              <a:t>), (</a:t>
            </a:r>
            <a:r>
              <a:rPr lang="en-US" dirty="0" smtClean="0"/>
              <a:t>1</a:t>
            </a:r>
            <a:r>
              <a:rPr lang="ru-RU" dirty="0" smtClean="0"/>
              <a:t>,</a:t>
            </a:r>
            <a:r>
              <a:rPr lang="en-US" dirty="0" smtClean="0"/>
              <a:t>2</a:t>
            </a:r>
            <a:r>
              <a:rPr lang="ru-RU" dirty="0" smtClean="0"/>
              <a:t>)</a:t>
            </a:r>
            <a:r>
              <a:rPr lang="en-US" dirty="0" smtClean="0"/>
              <a:t>, </a:t>
            </a:r>
            <a:r>
              <a:rPr lang="ru-RU" dirty="0" smtClean="0"/>
              <a:t>(2,8), (8,6), (6,2), (2,4), (4,5), (5,7)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</a:t>
            </a:r>
            <a:r>
              <a:rPr lang="en-US" sz="2800" dirty="0" smtClean="0"/>
              <a:t>cycle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3664024" y="3773061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An </a:t>
            </a:r>
            <a:r>
              <a:rPr lang="en-US" sz="2800" b="1" dirty="0"/>
              <a:t>Eulerian </a:t>
            </a:r>
            <a:r>
              <a:rPr lang="en-US" sz="2800" b="1" dirty="0" smtClean="0"/>
              <a:t>cycle</a:t>
            </a:r>
            <a:r>
              <a:rPr lang="en-US" sz="2800" dirty="0" smtClean="0"/>
              <a:t> is </a:t>
            </a:r>
            <a:r>
              <a:rPr lang="en-US" sz="2800" dirty="0"/>
              <a:t>a </a:t>
            </a:r>
            <a:r>
              <a:rPr lang="en-US" sz="2800" dirty="0" smtClean="0"/>
              <a:t>cycle containing </a:t>
            </a:r>
            <a:r>
              <a:rPr lang="en-US" sz="2800" dirty="0"/>
              <a:t>all edges</a:t>
            </a:r>
            <a:r>
              <a:rPr lang="ru-RU" sz="2800" dirty="0"/>
              <a:t> </a:t>
            </a:r>
            <a:r>
              <a:rPr lang="en-US" sz="2800" dirty="0"/>
              <a:t>of a graph</a:t>
            </a:r>
            <a:endParaRPr lang="ru-RU" sz="2800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</a:t>
            </a:r>
            <a:r>
              <a:rPr lang="en-US" dirty="0" smtClean="0"/>
              <a:t>2</a:t>
            </a:r>
            <a:r>
              <a:rPr lang="ru-RU" dirty="0" smtClean="0"/>
              <a:t>,3</a:t>
            </a:r>
            <a:r>
              <a:rPr lang="ru-RU" dirty="0"/>
              <a:t>), (</a:t>
            </a:r>
            <a:r>
              <a:rPr lang="ru-RU" dirty="0" smtClean="0"/>
              <a:t>3,</a:t>
            </a:r>
            <a:r>
              <a:rPr lang="en-US" dirty="0" smtClean="0"/>
              <a:t>1</a:t>
            </a:r>
            <a:r>
              <a:rPr lang="ru-RU" dirty="0" smtClean="0"/>
              <a:t>), (</a:t>
            </a:r>
            <a:r>
              <a:rPr lang="en-US" dirty="0" smtClean="0"/>
              <a:t>1</a:t>
            </a:r>
            <a:r>
              <a:rPr lang="ru-RU" dirty="0" smtClean="0"/>
              <a:t>,</a:t>
            </a:r>
            <a:r>
              <a:rPr lang="en-US" dirty="0" smtClean="0"/>
              <a:t>2</a:t>
            </a:r>
            <a:r>
              <a:rPr lang="ru-RU" dirty="0" smtClean="0"/>
              <a:t>)</a:t>
            </a:r>
            <a:r>
              <a:rPr lang="en-US" dirty="0" smtClean="0"/>
              <a:t>, </a:t>
            </a:r>
            <a:r>
              <a:rPr lang="ru-RU" dirty="0" smtClean="0"/>
              <a:t>(2,8), (8,6), (6,2), (2,4), (4,5), (5,7), (7,2)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42" name="Овал 41"/>
          <p:cNvSpPr/>
          <p:nvPr/>
        </p:nvSpPr>
        <p:spPr>
          <a:xfrm>
            <a:off x="755576" y="14847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2411760" y="112474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2483768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Овал 49"/>
          <p:cNvSpPr/>
          <p:nvPr/>
        </p:nvSpPr>
        <p:spPr>
          <a:xfrm>
            <a:off x="539552" y="36450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2" name="Овал 51"/>
          <p:cNvSpPr/>
          <p:nvPr/>
        </p:nvSpPr>
        <p:spPr>
          <a:xfrm>
            <a:off x="1763688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" name="Прямая со стрелкой 52"/>
          <p:cNvCxnSpPr/>
          <p:nvPr/>
        </p:nvCxnSpPr>
        <p:spPr>
          <a:xfrm flipH="1">
            <a:off x="1547664" y="1556792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V="1">
            <a:off x="1259632" y="1844824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2771800" y="1916832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 flipH="1">
            <a:off x="2267744" y="3573016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Заголовок 1"/>
          <p:cNvSpPr txBox="1">
            <a:spLocks/>
          </p:cNvSpPr>
          <p:nvPr/>
        </p:nvSpPr>
        <p:spPr>
          <a:xfrm>
            <a:off x="973832" y="15567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9" name="Заголовок 1"/>
          <p:cNvSpPr txBox="1">
            <a:spLocks/>
          </p:cNvSpPr>
          <p:nvPr/>
        </p:nvSpPr>
        <p:spPr>
          <a:xfrm>
            <a:off x="2630016" y="11967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60" name="Заголовок 1"/>
          <p:cNvSpPr txBox="1">
            <a:spLocks/>
          </p:cNvSpPr>
          <p:nvPr/>
        </p:nvSpPr>
        <p:spPr>
          <a:xfrm>
            <a:off x="755576" y="371703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61" name="Заголовок 1"/>
          <p:cNvSpPr txBox="1">
            <a:spLocks/>
          </p:cNvSpPr>
          <p:nvPr/>
        </p:nvSpPr>
        <p:spPr>
          <a:xfrm>
            <a:off x="2627784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62" name="Заголовок 1"/>
          <p:cNvSpPr txBox="1">
            <a:spLocks/>
          </p:cNvSpPr>
          <p:nvPr/>
        </p:nvSpPr>
        <p:spPr>
          <a:xfrm>
            <a:off x="1907704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63" name="Овал 62"/>
          <p:cNvSpPr/>
          <p:nvPr/>
        </p:nvSpPr>
        <p:spPr>
          <a:xfrm>
            <a:off x="4427984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3707904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5" name="Заголовок 1"/>
          <p:cNvSpPr txBox="1">
            <a:spLocks/>
          </p:cNvSpPr>
          <p:nvPr/>
        </p:nvSpPr>
        <p:spPr>
          <a:xfrm>
            <a:off x="4572000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66" name="Заголовок 1"/>
          <p:cNvSpPr txBox="1">
            <a:spLocks/>
          </p:cNvSpPr>
          <p:nvPr/>
        </p:nvSpPr>
        <p:spPr>
          <a:xfrm>
            <a:off x="3851920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67" name="Прямая со стрелкой 66"/>
          <p:cNvCxnSpPr/>
          <p:nvPr/>
        </p:nvCxnSpPr>
        <p:spPr>
          <a:xfrm>
            <a:off x="3203848" y="1700808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Прямая со стрелкой 67"/>
          <p:cNvCxnSpPr/>
          <p:nvPr/>
        </p:nvCxnSpPr>
        <p:spPr>
          <a:xfrm flipH="1">
            <a:off x="971600" y="2348880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/>
          <p:cNvCxnSpPr/>
          <p:nvPr/>
        </p:nvCxnSpPr>
        <p:spPr>
          <a:xfrm flipH="1">
            <a:off x="2699792" y="5229200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Овал 69"/>
          <p:cNvSpPr/>
          <p:nvPr/>
        </p:nvSpPr>
        <p:spPr>
          <a:xfrm>
            <a:off x="5508104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1" name="Заголовок 1"/>
          <p:cNvSpPr txBox="1">
            <a:spLocks/>
          </p:cNvSpPr>
          <p:nvPr/>
        </p:nvSpPr>
        <p:spPr>
          <a:xfrm>
            <a:off x="5652120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72" name="Прямая со стрелкой 71"/>
          <p:cNvCxnSpPr/>
          <p:nvPr/>
        </p:nvCxnSpPr>
        <p:spPr>
          <a:xfrm>
            <a:off x="3275856" y="1412776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 flipV="1">
            <a:off x="5076056" y="1916832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095836" y="1931033"/>
            <a:ext cx="756084" cy="30537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cycle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3843536" y="3948778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An Eulerian cycle is a </a:t>
            </a:r>
            <a:r>
              <a:rPr lang="en-US" sz="2800" dirty="0" smtClean="0"/>
              <a:t>cycle </a:t>
            </a:r>
            <a:r>
              <a:rPr lang="en-US" sz="2800" dirty="0"/>
              <a:t>containing all edges</a:t>
            </a:r>
            <a:r>
              <a:rPr lang="ru-RU" sz="2800" dirty="0"/>
              <a:t> </a:t>
            </a:r>
            <a:r>
              <a:rPr lang="en-US" sz="2800" dirty="0"/>
              <a:t>of a graph</a:t>
            </a:r>
            <a:endParaRPr lang="ru-RU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412776"/>
            <a:ext cx="7772400" cy="338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/>
              <a:t>Let G(V,E) be a connected </a:t>
            </a:r>
            <a:r>
              <a:rPr lang="en-US" sz="2000" dirty="0" smtClean="0"/>
              <a:t>undirected graph</a:t>
            </a:r>
            <a:r>
              <a:rPr lang="en-US" sz="2000" dirty="0"/>
              <a:t>, then the following conditions are </a:t>
            </a:r>
            <a:r>
              <a:rPr lang="en-US" sz="2000" dirty="0" smtClean="0"/>
              <a:t>equivalent</a:t>
            </a:r>
            <a:r>
              <a:rPr lang="ru-RU" sz="2000" dirty="0" smtClean="0"/>
              <a:t>:</a:t>
            </a:r>
          </a:p>
          <a:p>
            <a:endParaRPr lang="ru-RU" sz="2000" dirty="0" smtClean="0"/>
          </a:p>
          <a:p>
            <a:pPr marL="457200" indent="-457200">
              <a:buAutoNum type="arabicPeriod"/>
            </a:pPr>
            <a:r>
              <a:rPr lang="en-US" sz="2000" dirty="0" smtClean="0"/>
              <a:t>G is</a:t>
            </a:r>
            <a:r>
              <a:rPr lang="ru-RU" sz="2000" dirty="0" smtClean="0"/>
              <a:t> </a:t>
            </a:r>
            <a:r>
              <a:rPr lang="en-US" sz="2000" dirty="0" smtClean="0"/>
              <a:t>an </a:t>
            </a:r>
            <a:r>
              <a:rPr lang="en-US" sz="2000" dirty="0"/>
              <a:t>Eulerian </a:t>
            </a:r>
            <a:r>
              <a:rPr lang="en-US" sz="2000" dirty="0" smtClean="0"/>
              <a:t>graph</a:t>
            </a:r>
            <a:endParaRPr lang="ru-RU" sz="2000" dirty="0" smtClean="0"/>
          </a:p>
          <a:p>
            <a:pPr marL="457200" indent="-457200">
              <a:buAutoNum type="arabicPeriod"/>
            </a:pPr>
            <a:endParaRPr lang="ru-RU" sz="2000" b="1" dirty="0" smtClean="0"/>
          </a:p>
          <a:p>
            <a:pPr marL="457200" indent="-457200">
              <a:buAutoNum type="arabicPeriod"/>
            </a:pPr>
            <a:r>
              <a:rPr lang="en-US" sz="2000" dirty="0"/>
              <a:t>Degrees of all vertices are even</a:t>
            </a:r>
            <a:endParaRPr lang="ru-RU" sz="2000" dirty="0" smtClean="0"/>
          </a:p>
          <a:p>
            <a:pPr marL="457200" indent="-457200">
              <a:buAutoNum type="arabicPeriod"/>
            </a:pPr>
            <a:endParaRPr lang="ru-RU" sz="2000" b="1" dirty="0" smtClean="0"/>
          </a:p>
          <a:p>
            <a:pPr marL="457200" indent="-457200">
              <a:buAutoNum type="arabicPeriod"/>
            </a:pPr>
            <a:r>
              <a:rPr lang="en-US" sz="2000" dirty="0"/>
              <a:t>The set of edges is divided into non-intersecting simple cycles</a:t>
            </a:r>
            <a:endParaRPr lang="ru-RU" sz="2000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Theorem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5805264"/>
            <a:ext cx="77724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dirty="0" smtClean="0"/>
              <a:t>*Existence </a:t>
            </a:r>
            <a:r>
              <a:rPr lang="en-US" sz="2000" dirty="0"/>
              <a:t>of an Eulerian cycle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107504" y="1268760"/>
            <a:ext cx="345638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G is an </a:t>
            </a:r>
            <a:r>
              <a:rPr lang="en-US" sz="2800" dirty="0"/>
              <a:t>Eulerian graph</a:t>
            </a:r>
            <a:r>
              <a:rPr lang="ru-RU" sz="2800" dirty="0" smtClean="0"/>
              <a:t> 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427984" y="1268760"/>
            <a:ext cx="4716016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57200" indent="-457200"/>
            <a:r>
              <a:rPr lang="en-US" sz="2800" dirty="0"/>
              <a:t>Degrees of all vertices are even</a:t>
            </a:r>
            <a:endParaRPr lang="ru-RU" sz="2800" dirty="0" smtClean="0"/>
          </a:p>
        </p:txBody>
      </p:sp>
      <p:sp>
        <p:nvSpPr>
          <p:cNvPr id="5" name="Стрелка вправо 4"/>
          <p:cNvSpPr/>
          <p:nvPr/>
        </p:nvSpPr>
        <p:spPr>
          <a:xfrm>
            <a:off x="3635896" y="162880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757808" y="2564904"/>
            <a:ext cx="2590056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Ǝ</a:t>
            </a:r>
            <a:r>
              <a:rPr lang="ru-RU" sz="2800" dirty="0" smtClean="0"/>
              <a:t> </a:t>
            </a:r>
            <a:r>
              <a:rPr lang="en-US" sz="2800" dirty="0"/>
              <a:t>Eulerian </a:t>
            </a:r>
            <a:r>
              <a:rPr lang="en-US" sz="2800" dirty="0" smtClean="0"/>
              <a:t>cycle</a:t>
            </a:r>
            <a:endParaRPr lang="ru-RU" sz="2800" dirty="0" smtClean="0"/>
          </a:p>
        </p:txBody>
      </p:sp>
      <p:sp>
        <p:nvSpPr>
          <p:cNvPr id="8" name="Стрелка вправо 7"/>
          <p:cNvSpPr/>
          <p:nvPr/>
        </p:nvSpPr>
        <p:spPr>
          <a:xfrm rot="3712409">
            <a:off x="1778704" y="232978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994729" y="3553917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1187624" y="4221088"/>
            <a:ext cx="7056784" cy="23042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800" dirty="0" smtClean="0">
                <a:solidFill>
                  <a:srgbClr val="FF0000"/>
                </a:solidFill>
              </a:rPr>
              <a:t>Рассмотрим произвольную  вершину этого цикла. Двигаясь по циклу, в нее вошли столько же раз сколько и вышли из нее. Значит количество входящих и исходящих ребер одинаково.</a:t>
            </a:r>
          </a:p>
        </p:txBody>
      </p:sp>
      <p:sp>
        <p:nvSpPr>
          <p:cNvPr id="12" name="Стрелка вправо 11"/>
          <p:cNvSpPr/>
          <p:nvPr/>
        </p:nvSpPr>
        <p:spPr>
          <a:xfrm rot="18270303">
            <a:off x="4841032" y="3222634"/>
            <a:ext cx="1851069" cy="1521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3563888" y="980728"/>
            <a:ext cx="720080" cy="151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7200" dirty="0" smtClean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2</a:t>
            </a:r>
          </a:p>
        </p:txBody>
      </p:sp>
      <p:sp>
        <p:nvSpPr>
          <p:cNvPr id="16" name="Стрелка вправо 15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2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467544" y="1268760"/>
            <a:ext cx="30221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457200" indent="-457200"/>
            <a:r>
              <a:rPr lang="en-US" sz="2800" dirty="0"/>
              <a:t>Degrees of all vertices are even</a:t>
            </a:r>
            <a:endParaRPr lang="ru-RU" sz="2800" dirty="0" smtClean="0"/>
          </a:p>
        </p:txBody>
      </p:sp>
      <p:sp>
        <p:nvSpPr>
          <p:cNvPr id="10" name="Заголовок 1"/>
          <p:cNvSpPr txBox="1">
            <a:spLocks/>
          </p:cNvSpPr>
          <p:nvPr/>
        </p:nvSpPr>
        <p:spPr>
          <a:xfrm>
            <a:off x="4499992" y="1268760"/>
            <a:ext cx="45365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r>
              <a:rPr lang="en-US" sz="2800" dirty="0"/>
              <a:t>The set of edges is divided into non-intersecting simple cycles</a:t>
            </a:r>
            <a:endParaRPr lang="ru-RU" sz="2800" dirty="0" smtClean="0"/>
          </a:p>
        </p:txBody>
      </p:sp>
      <p:sp>
        <p:nvSpPr>
          <p:cNvPr id="11" name="Стрелка вправо 10"/>
          <p:cNvSpPr/>
          <p:nvPr/>
        </p:nvSpPr>
        <p:spPr>
          <a:xfrm>
            <a:off x="3635896" y="162880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1706696" y="2329781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3563888" y="980728"/>
            <a:ext cx="720080" cy="151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7200" dirty="0" smtClean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95536" y="2564904"/>
            <a:ext cx="8352928" cy="2808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>
              <a:spcBef>
                <a:spcPct val="0"/>
              </a:spcBef>
            </a:pPr>
            <a:r>
              <a:rPr lang="ru-RU" sz="2800" dirty="0" smtClean="0">
                <a:solidFill>
                  <a:srgbClr val="FF0000"/>
                </a:solidFill>
              </a:rPr>
              <a:t>Возьмем произвольную вершину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ru-RU" sz="2800" dirty="0" smtClean="0">
                <a:solidFill>
                  <a:srgbClr val="FF0000"/>
                </a:solidFill>
              </a:rPr>
              <a:t>. </a:t>
            </a:r>
            <a:r>
              <a:rPr lang="en-US" sz="2800" dirty="0" smtClean="0">
                <a:solidFill>
                  <a:srgbClr val="FF0000"/>
                </a:solidFill>
              </a:rPr>
              <a:t>C</a:t>
            </a:r>
            <a:r>
              <a:rPr lang="ru-RU" sz="2800" dirty="0" err="1" smtClean="0">
                <a:solidFill>
                  <a:srgbClr val="FF0000"/>
                </a:solidFill>
              </a:rPr>
              <a:t>тепень</a:t>
            </a:r>
            <a:r>
              <a:rPr lang="ru-RU" sz="2800" dirty="0" smtClean="0">
                <a:solidFill>
                  <a:srgbClr val="FF0000"/>
                </a:solidFill>
              </a:rPr>
              <a:t>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en-US" sz="2800" dirty="0" smtClean="0">
                <a:solidFill>
                  <a:srgbClr val="FF0000"/>
                </a:solidFill>
              </a:rPr>
              <a:t> </a:t>
            </a:r>
            <a:r>
              <a:rPr lang="ru-RU" sz="2800" dirty="0" smtClean="0">
                <a:solidFill>
                  <a:srgbClr val="FF0000"/>
                </a:solidFill>
              </a:rPr>
              <a:t>четна и не равна 0 (иначе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en-US" sz="2800" dirty="0" smtClean="0">
                <a:solidFill>
                  <a:srgbClr val="FF0000"/>
                </a:solidFill>
              </a:rPr>
              <a:t> – </a:t>
            </a:r>
            <a:r>
              <a:rPr lang="ru-RU" sz="2800" dirty="0" smtClean="0">
                <a:solidFill>
                  <a:srgbClr val="FF0000"/>
                </a:solidFill>
              </a:rPr>
              <a:t>изолированная, а значит </a:t>
            </a:r>
            <a:r>
              <a:rPr lang="en-US" sz="2800" dirty="0" smtClean="0">
                <a:solidFill>
                  <a:srgbClr val="FF0000"/>
                </a:solidFill>
              </a:rPr>
              <a:t>V</a:t>
            </a:r>
            <a:r>
              <a:rPr lang="ru-RU" sz="2800" dirty="0" smtClean="0">
                <a:solidFill>
                  <a:srgbClr val="FF0000"/>
                </a:solidFill>
              </a:rPr>
              <a:t> не связен). Двигаясь из нее по любому ребру попадаем в </a:t>
            </a:r>
            <a:r>
              <a:rPr lang="en-US" sz="2800" b="1" dirty="0" smtClean="0">
                <a:solidFill>
                  <a:srgbClr val="FF0000"/>
                </a:solidFill>
              </a:rPr>
              <a:t>v</a:t>
            </a:r>
            <a:r>
              <a:rPr lang="ru-RU" sz="2800" dirty="0" smtClean="0">
                <a:solidFill>
                  <a:srgbClr val="FF0000"/>
                </a:solidFill>
              </a:rPr>
              <a:t>. Ее степень четна, а значит из нее можно перейти по ребру в следующую вершину. Количество вершин конечно, а значит в какой-то момент встретиться вершина уже принадлежащая строящемуся пути.</a:t>
            </a:r>
            <a:r>
              <a:rPr lang="ru-RU" sz="2800" dirty="0" smtClean="0"/>
              <a:t> </a:t>
            </a:r>
          </a:p>
        </p:txBody>
      </p:sp>
      <p:sp>
        <p:nvSpPr>
          <p:cNvPr id="15" name="Стрелка вправо 14"/>
          <p:cNvSpPr/>
          <p:nvPr/>
        </p:nvSpPr>
        <p:spPr>
          <a:xfrm rot="3712409">
            <a:off x="1778704" y="5426126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755576" y="5805264"/>
            <a:ext cx="30221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457200" indent="-457200"/>
            <a:r>
              <a:rPr lang="ru-RU" sz="2800" dirty="0" smtClean="0">
                <a:solidFill>
                  <a:srgbClr val="FF0000"/>
                </a:solidFill>
              </a:rPr>
              <a:t>Получился простой цикл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3569194" y="632439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607496" y="5517232"/>
            <a:ext cx="4536504" cy="122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ru-RU" sz="2800" dirty="0" smtClean="0">
                <a:solidFill>
                  <a:srgbClr val="FF0000"/>
                </a:solidFill>
              </a:rPr>
              <a:t>Выкинуть из графа все ребра получившегося цикла и повторить предыдущую процедуру</a:t>
            </a:r>
          </a:p>
        </p:txBody>
      </p:sp>
      <p:sp>
        <p:nvSpPr>
          <p:cNvPr id="19" name="Стрелка вправо 18"/>
          <p:cNvSpPr/>
          <p:nvPr/>
        </p:nvSpPr>
        <p:spPr>
          <a:xfrm rot="16200000">
            <a:off x="6857411" y="3807885"/>
            <a:ext cx="3579707" cy="229649"/>
          </a:xfrm>
          <a:prstGeom prst="rightArrow">
            <a:avLst>
              <a:gd name="adj1" fmla="val 42193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755576" y="5229200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Доказательство (конструктивное)</a:t>
            </a:r>
            <a:r>
              <a:rPr lang="ru-RU" sz="2000" dirty="0" smtClean="0">
                <a:solidFill>
                  <a:srgbClr val="FF0000"/>
                </a:solidFill>
              </a:rPr>
              <a:t>: Множество не пересекающихся простых циклов охватывающих весь граф. После этого они «склеиваются».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79512" y="1126485"/>
            <a:ext cx="36724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set of edges is divided into non-intersecting simple cycles</a:t>
            </a:r>
            <a:endParaRPr lang="ru-RU" dirty="0" smtClean="0"/>
          </a:p>
        </p:txBody>
      </p:sp>
      <p:sp>
        <p:nvSpPr>
          <p:cNvPr id="9" name="Прямоугольник 8"/>
          <p:cNvSpPr/>
          <p:nvPr/>
        </p:nvSpPr>
        <p:spPr>
          <a:xfrm>
            <a:off x="5148064" y="1126485"/>
            <a:ext cx="360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G – </a:t>
            </a:r>
            <a:r>
              <a:rPr lang="ru-RU" dirty="0" err="1" smtClean="0"/>
              <a:t>эйлеров</a:t>
            </a:r>
            <a:r>
              <a:rPr lang="en-US" dirty="0" smtClean="0"/>
              <a:t> </a:t>
            </a:r>
            <a:r>
              <a:rPr lang="ru-RU" dirty="0" smtClean="0"/>
              <a:t>граф (</a:t>
            </a:r>
            <a:r>
              <a:rPr lang="ru-RU" dirty="0" err="1" smtClean="0"/>
              <a:t>граф</a:t>
            </a:r>
            <a:r>
              <a:rPr lang="ru-RU" dirty="0" smtClean="0"/>
              <a:t>, имеющий </a:t>
            </a:r>
            <a:r>
              <a:rPr lang="ru-RU" dirty="0" err="1" smtClean="0"/>
              <a:t>эйлеров</a:t>
            </a:r>
            <a:r>
              <a:rPr lang="ru-RU" dirty="0" smtClean="0"/>
              <a:t> цикл)</a:t>
            </a:r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778704" y="204174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31912" y="2564904"/>
            <a:ext cx="36724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Возьмем произвольный цикл.</a:t>
            </a:r>
          </a:p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Найдем среди оставшихся циклов, цикл имеющий общую вершину с уже выбранным (такой точно есть, иначе граф был бы не связным).</a:t>
            </a:r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2180719" y="456202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3707904" y="5085184"/>
            <a:ext cx="22322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Получился набор не пересекающихся простых циклов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79512" y="1126485"/>
            <a:ext cx="36724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set of edges is divided into non-intersecting simple cycles</a:t>
            </a:r>
            <a:endParaRPr lang="ru-RU" dirty="0" smtClean="0"/>
          </a:p>
        </p:txBody>
      </p:sp>
      <p:sp>
        <p:nvSpPr>
          <p:cNvPr id="9" name="Прямоугольник 8"/>
          <p:cNvSpPr/>
          <p:nvPr/>
        </p:nvSpPr>
        <p:spPr>
          <a:xfrm>
            <a:off x="5148064" y="1126485"/>
            <a:ext cx="3600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 is</a:t>
            </a:r>
            <a:r>
              <a:rPr lang="ru-RU" dirty="0"/>
              <a:t> </a:t>
            </a:r>
            <a:r>
              <a:rPr lang="en-US" dirty="0"/>
              <a:t>an Eulerian graph</a:t>
            </a:r>
            <a:endParaRPr lang="ru-RU" dirty="0" smtClean="0"/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778704" y="204174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31912" y="2564904"/>
            <a:ext cx="395205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Возьмем произвольный цикл.</a:t>
            </a:r>
          </a:p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Найдем среди оставшихся циклов, цикл имеющий общую вершину с уже выбранным (такой точно есть, иначе граф был бы не связным).</a:t>
            </a:r>
          </a:p>
          <a:p>
            <a:pPr marL="342900" indent="-342900">
              <a:buFontTx/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«Склеим» этот цикл с тем что есть.</a:t>
            </a:r>
            <a:endParaRPr lang="ru-RU" b="1" dirty="0" smtClean="0">
              <a:solidFill>
                <a:srgbClr val="FF0000"/>
              </a:solidFill>
            </a:endParaRPr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3506897" y="456202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 rot="18875400">
            <a:off x="5355183" y="4466033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5508104" y="2852936"/>
            <a:ext cx="22322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Будем повторять 2) и 3) пока все циклы не склеятся в один.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15" name="Стрелка вправо 14"/>
          <p:cNvSpPr/>
          <p:nvPr/>
        </p:nvSpPr>
        <p:spPr>
          <a:xfrm rot="16524336">
            <a:off x="6218834" y="2177754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268761"/>
            <a:ext cx="7772400" cy="338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Эйлеров </a:t>
            </a:r>
            <a:r>
              <a:rPr lang="ru-RU" sz="2000" dirty="0">
                <a:solidFill>
                  <a:srgbClr val="FF0000"/>
                </a:solidFill>
              </a:rPr>
              <a:t>путь существует тогда и только тогда, когда количество вершин с нечётными степенями равно двум или нулю (в случае существования </a:t>
            </a:r>
            <a:r>
              <a:rPr lang="ru-RU" sz="2000" dirty="0" err="1">
                <a:solidFill>
                  <a:srgbClr val="FF0000"/>
                </a:solidFill>
              </a:rPr>
              <a:t>эйлерова</a:t>
            </a:r>
            <a:r>
              <a:rPr lang="ru-RU" sz="2000" dirty="0">
                <a:solidFill>
                  <a:srgbClr val="FF0000"/>
                </a:solidFill>
              </a:rPr>
              <a:t> цикла).</a:t>
            </a:r>
            <a:endParaRPr lang="ru-RU" sz="2000" b="1" dirty="0">
              <a:solidFill>
                <a:srgbClr val="FF0000"/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Theorem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5805264"/>
            <a:ext cx="77724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dirty="0" smtClean="0"/>
              <a:t>*Existence </a:t>
            </a:r>
            <a:r>
              <a:rPr lang="en-US" sz="2000" dirty="0"/>
              <a:t>of an Eulerian cycle</a:t>
            </a:r>
            <a:endParaRPr lang="ru-RU" sz="2000" dirty="0" smtClean="0"/>
          </a:p>
        </p:txBody>
      </p:sp>
    </p:spTree>
    <p:extLst>
      <p:ext uri="{BB962C8B-B14F-4D97-AF65-F5344CB8AC3E}">
        <p14:creationId xmlns:p14="http://schemas.microsoft.com/office/powerpoint/2010/main" val="1303446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268761"/>
            <a:ext cx="7772400" cy="1368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Теорема</a:t>
            </a:r>
            <a:r>
              <a:rPr lang="ru-RU" sz="2000" dirty="0" smtClean="0">
                <a:solidFill>
                  <a:srgbClr val="FF0000"/>
                </a:solidFill>
              </a:rPr>
              <a:t>: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</a:t>
            </a:r>
            <a:r>
              <a:rPr lang="ru-RU" sz="2000" dirty="0" smtClean="0">
                <a:solidFill>
                  <a:srgbClr val="FF0000"/>
                </a:solidFill>
              </a:rPr>
              <a:t> путь существует тогда и только тогда, когда количество вершин с нечётными степенями равно двум или нулю (в случае существования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эйлерова</a:t>
            </a:r>
            <a:r>
              <a:rPr lang="ru-RU" sz="2000" dirty="0" smtClean="0">
                <a:solidFill>
                  <a:srgbClr val="FF0000"/>
                </a:solidFill>
              </a:rPr>
              <a:t> цикла).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27584" y="2924944"/>
            <a:ext cx="7772400" cy="3024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Доказательство</a:t>
            </a:r>
            <a:r>
              <a:rPr lang="ru-RU" sz="2000" dirty="0" smtClean="0">
                <a:solidFill>
                  <a:srgbClr val="FF0000"/>
                </a:solidFill>
              </a:rPr>
              <a:t>: </a:t>
            </a: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Если есть (две) вершины нечетной степени, то их нужно соединить временным ребром.</a:t>
            </a:r>
          </a:p>
          <a:p>
            <a:pPr lvl="0">
              <a:buFont typeface="Arial" pitchFamily="34" charset="0"/>
              <a:buChar char="•"/>
            </a:pPr>
            <a:endParaRPr lang="ru-RU" sz="2000" dirty="0" smtClean="0">
              <a:solidFill>
                <a:srgbClr val="FF0000"/>
              </a:solidFill>
            </a:endParaRP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Находится множество не пересекающихся простых циклов охватывающих весь граф. После этого они «склеиваются».</a:t>
            </a:r>
          </a:p>
          <a:p>
            <a:pPr lvl="0">
              <a:buFont typeface="Arial" pitchFamily="34" charset="0"/>
              <a:buChar char="•"/>
            </a:pPr>
            <a:endParaRPr lang="ru-RU" sz="2000" dirty="0" smtClean="0">
              <a:solidFill>
                <a:srgbClr val="FF0000"/>
              </a:solidFill>
            </a:endParaRP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В полученном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эйлеровом</a:t>
            </a:r>
            <a:r>
              <a:rPr lang="ru-RU" sz="2000" dirty="0" smtClean="0">
                <a:solidFill>
                  <a:srgbClr val="FF0000"/>
                </a:solidFill>
              </a:rPr>
              <a:t> цикле удаляется временное ребро, после чего остается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</a:t>
            </a:r>
            <a:r>
              <a:rPr lang="ru-RU" sz="2000" dirty="0" smtClean="0">
                <a:solidFill>
                  <a:srgbClr val="FF0000"/>
                </a:solidFill>
              </a:rPr>
              <a:t> путь начинающийся в одной из удаленных вершин, а заканчивающийся в другой.</a:t>
            </a:r>
          </a:p>
          <a:p>
            <a:endParaRPr lang="ru-RU" sz="2000" b="1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15224</TotalTime>
  <Words>3636</Words>
  <Application>Microsoft Office PowerPoint</Application>
  <PresentationFormat>Экран (4:3)</PresentationFormat>
  <Paragraphs>1083</Paragraphs>
  <Slides>106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106</vt:i4>
      </vt:variant>
    </vt:vector>
  </HeadingPairs>
  <TitlesOfParts>
    <vt:vector size="109" baseType="lpstr">
      <vt:lpstr>Arial</vt:lpstr>
      <vt:lpstr>Calibri</vt:lpstr>
      <vt:lpstr>Тема Office</vt:lpstr>
      <vt:lpstr>Graph algorithms</vt:lpstr>
      <vt:lpstr>Basic concepts of graph theory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G(V,E)</vt:lpstr>
      <vt:lpstr>G(V,E)</vt:lpstr>
      <vt:lpstr>Презентация PowerPoint</vt:lpstr>
      <vt:lpstr>E={(u,v) : u∈V, v∈V} Arc – directed edge   </vt:lpstr>
      <vt:lpstr>Презентация PowerPoint</vt:lpstr>
      <vt:lpstr>E={(u,v) : u∈V, v∈V}  Arc – directed edge  E={{u,v} : u∈V, v∈V} Link - undirected edge</vt:lpstr>
      <vt:lpstr>Презентация PowerPoint</vt:lpstr>
      <vt:lpstr>G(V,E,f)</vt:lpstr>
      <vt:lpstr>G(V,E,f)</vt:lpstr>
      <vt:lpstr>f : E → VxV directed edges</vt:lpstr>
      <vt:lpstr>f : E → VxV directed edges</vt:lpstr>
      <vt:lpstr>Презентация PowerPoint</vt:lpstr>
      <vt:lpstr>Презентация PowerPoint</vt:lpstr>
      <vt:lpstr>Презентация PowerPoint</vt:lpstr>
      <vt:lpstr>Path/ Chain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Задача</vt:lpstr>
      <vt:lpstr>Vertex degree</vt:lpstr>
      <vt:lpstr>Презентация PowerPoint</vt:lpstr>
      <vt:lpstr>Презентация PowerPoint</vt:lpstr>
      <vt:lpstr>Презентация PowerPoint</vt:lpstr>
      <vt:lpstr>Theorem</vt:lpstr>
      <vt:lpstr>Task</vt:lpstr>
      <vt:lpstr>Graph representations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CONNECTIVITY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Task</vt:lpstr>
      <vt:lpstr>Tree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Презентация PowerPoint</vt:lpstr>
      <vt:lpstr>Task</vt:lpstr>
      <vt:lpstr>Isomorphism</vt:lpstr>
      <vt:lpstr>Презентация PowerPoint</vt:lpstr>
      <vt:lpstr>Презентация PowerPoint</vt:lpstr>
      <vt:lpstr>Презентация PowerPoint</vt:lpstr>
      <vt:lpstr>Eulerian path/cycle/graph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817</cp:revision>
  <dcterms:created xsi:type="dcterms:W3CDTF">2020-02-18T13:52:34Z</dcterms:created>
  <dcterms:modified xsi:type="dcterms:W3CDTF">2022-02-14T20:11:42Z</dcterms:modified>
</cp:coreProperties>
</file>
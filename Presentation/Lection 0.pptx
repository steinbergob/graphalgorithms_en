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8"/>
  </p:notesMasterIdLst>
  <p:sldIdLst>
    <p:sldId id="256" r:id="rId2"/>
    <p:sldId id="273" r:id="rId3"/>
    <p:sldId id="305" r:id="rId4"/>
    <p:sldId id="308" r:id="rId5"/>
    <p:sldId id="309" r:id="rId6"/>
    <p:sldId id="304" r:id="rId7"/>
    <p:sldId id="310" r:id="rId8"/>
    <p:sldId id="311" r:id="rId9"/>
    <p:sldId id="312" r:id="rId10"/>
    <p:sldId id="417" r:id="rId11"/>
    <p:sldId id="399" r:id="rId12"/>
    <p:sldId id="315" r:id="rId13"/>
    <p:sldId id="316" r:id="rId14"/>
    <p:sldId id="331" r:id="rId15"/>
    <p:sldId id="317" r:id="rId16"/>
    <p:sldId id="333" r:id="rId17"/>
    <p:sldId id="318" r:id="rId18"/>
    <p:sldId id="320" r:id="rId19"/>
    <p:sldId id="321" r:id="rId20"/>
    <p:sldId id="322" r:id="rId21"/>
    <p:sldId id="442" r:id="rId22"/>
    <p:sldId id="443" r:id="rId23"/>
    <p:sldId id="401" r:id="rId24"/>
    <p:sldId id="400" r:id="rId25"/>
    <p:sldId id="383" r:id="rId26"/>
    <p:sldId id="332" r:id="rId27"/>
    <p:sldId id="377" r:id="rId28"/>
    <p:sldId id="378" r:id="rId29"/>
    <p:sldId id="402" r:id="rId30"/>
    <p:sldId id="404" r:id="rId31"/>
    <p:sldId id="444" r:id="rId32"/>
    <p:sldId id="379" r:id="rId33"/>
    <p:sldId id="372" r:id="rId34"/>
    <p:sldId id="338" r:id="rId35"/>
    <p:sldId id="375" r:id="rId36"/>
    <p:sldId id="376" r:id="rId37"/>
    <p:sldId id="334" r:id="rId38"/>
    <p:sldId id="373" r:id="rId39"/>
    <p:sldId id="440" r:id="rId40"/>
    <p:sldId id="409" r:id="rId41"/>
    <p:sldId id="411" r:id="rId42"/>
    <p:sldId id="413" r:id="rId43"/>
    <p:sldId id="412" r:id="rId44"/>
    <p:sldId id="414" r:id="rId45"/>
    <p:sldId id="436" r:id="rId46"/>
    <p:sldId id="299" r:id="rId47"/>
    <p:sldId id="324" r:id="rId48"/>
    <p:sldId id="326" r:id="rId49"/>
    <p:sldId id="325" r:id="rId50"/>
    <p:sldId id="369" r:id="rId51"/>
    <p:sldId id="329" r:id="rId52"/>
    <p:sldId id="405" r:id="rId53"/>
    <p:sldId id="327" r:id="rId54"/>
    <p:sldId id="406" r:id="rId55"/>
    <p:sldId id="328" r:id="rId56"/>
    <p:sldId id="370" r:id="rId57"/>
    <p:sldId id="330" r:id="rId58"/>
    <p:sldId id="350" r:id="rId59"/>
    <p:sldId id="380" r:id="rId60"/>
    <p:sldId id="339" r:id="rId61"/>
    <p:sldId id="385" r:id="rId62"/>
    <p:sldId id="384" r:id="rId63"/>
    <p:sldId id="407" r:id="rId64"/>
    <p:sldId id="341" r:id="rId65"/>
    <p:sldId id="408" r:id="rId66"/>
    <p:sldId id="342" r:id="rId67"/>
    <p:sldId id="438" r:id="rId68"/>
    <p:sldId id="382" r:id="rId69"/>
    <p:sldId id="352" r:id="rId70"/>
    <p:sldId id="439" r:id="rId71"/>
    <p:sldId id="351" r:id="rId72"/>
    <p:sldId id="346" r:id="rId73"/>
    <p:sldId id="415" r:id="rId74"/>
    <p:sldId id="418" r:id="rId75"/>
    <p:sldId id="445" r:id="rId76"/>
    <p:sldId id="422" r:id="rId77"/>
    <p:sldId id="424" r:id="rId78"/>
    <p:sldId id="423" r:id="rId79"/>
    <p:sldId id="425" r:id="rId80"/>
    <p:sldId id="426" r:id="rId81"/>
    <p:sldId id="430" r:id="rId82"/>
    <p:sldId id="427" r:id="rId83"/>
    <p:sldId id="431" r:id="rId84"/>
    <p:sldId id="428" r:id="rId85"/>
    <p:sldId id="432" r:id="rId86"/>
    <p:sldId id="429" r:id="rId87"/>
    <p:sldId id="446" r:id="rId88"/>
    <p:sldId id="416" r:id="rId89"/>
    <p:sldId id="355" r:id="rId90"/>
    <p:sldId id="356" r:id="rId91"/>
    <p:sldId id="437" r:id="rId92"/>
    <p:sldId id="396" r:id="rId93"/>
    <p:sldId id="387" r:id="rId94"/>
    <p:sldId id="433" r:id="rId95"/>
    <p:sldId id="434" r:id="rId96"/>
    <p:sldId id="357" r:id="rId97"/>
    <p:sldId id="353" r:id="rId98"/>
    <p:sldId id="358" r:id="rId99"/>
    <p:sldId id="386" r:id="rId100"/>
    <p:sldId id="360" r:id="rId101"/>
    <p:sldId id="361" r:id="rId102"/>
    <p:sldId id="362" r:id="rId103"/>
    <p:sldId id="363" r:id="rId104"/>
    <p:sldId id="364" r:id="rId105"/>
    <p:sldId id="435" r:id="rId106"/>
    <p:sldId id="366" r:id="rId10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0"/>
  </p:normalViewPr>
  <p:slideViewPr>
    <p:cSldViewPr>
      <p:cViewPr varScale="1">
        <p:scale>
          <a:sx n="99" d="100"/>
          <a:sy n="99" d="100"/>
        </p:scale>
        <p:origin x="4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0819D-A975-4EB5-924C-319D3567C40C}" type="datetimeFigureOut">
              <a:rPr lang="ru-RU" smtClean="0"/>
              <a:t>26.04.2022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D733C-3CE7-4123-AD27-D4DEFA6C49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876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После выбрасывания листа из графа у которого больше 2 вершин, граф остается деревом</a:t>
            </a:r>
          </a:p>
          <a:p>
            <a:endParaRPr lang="ru-RU" dirty="0" smtClean="0"/>
          </a:p>
          <a:p>
            <a:r>
              <a:rPr lang="ru-RU" dirty="0" smtClean="0"/>
              <a:t>Предположим что листа нет.</a:t>
            </a:r>
          </a:p>
          <a:p>
            <a:endParaRPr lang="ru-RU" dirty="0" smtClean="0"/>
          </a:p>
          <a:p>
            <a:r>
              <a:rPr lang="ru-RU" dirty="0" smtClean="0"/>
              <a:t>Тогда степень каждой вершины больше или равна 2.</a:t>
            </a:r>
          </a:p>
          <a:p>
            <a:endParaRPr lang="ru-RU" dirty="0" smtClean="0"/>
          </a:p>
          <a:p>
            <a:r>
              <a:rPr lang="ru-RU" dirty="0" smtClean="0"/>
              <a:t>Покажем что в таком графе точно есть цикл.</a:t>
            </a:r>
          </a:p>
          <a:p>
            <a:endParaRPr lang="ru-RU" dirty="0" smtClean="0"/>
          </a:p>
          <a:p>
            <a:r>
              <a:rPr lang="ru-RU" dirty="0" smtClean="0"/>
              <a:t>Применим конструктивный подход. Построим его.</a:t>
            </a:r>
          </a:p>
          <a:p>
            <a:endParaRPr lang="ru-RU" dirty="0" smtClean="0"/>
          </a:p>
          <a:p>
            <a:r>
              <a:rPr lang="ru-RU" dirty="0" smtClean="0"/>
              <a:t>1) Возьмем произвольную вершину. Пометим ее как добавленную в строящийся цикл.</a:t>
            </a:r>
          </a:p>
          <a:p>
            <a:r>
              <a:rPr lang="ru-RU" dirty="0" smtClean="0"/>
              <a:t>2) Ее степень &gt;= 2. Возьмем любую из смежных с ней вершин. </a:t>
            </a:r>
          </a:p>
          <a:p>
            <a:r>
              <a:rPr lang="ru-RU" dirty="0" smtClean="0"/>
              <a:t>3) Если вершина оказалась помеченной, то был найден цикл. Выход.</a:t>
            </a:r>
          </a:p>
          <a:p>
            <a:r>
              <a:rPr lang="ru-RU" dirty="0" smtClean="0"/>
              <a:t>4) Степень этой вершины тоже &gt;=2, значит у нее есть еще, как минимум одна смежная вершина. Возьмем ее и пометим ее как добавленную в строящийся цикл. Перейдем к пункту 2.</a:t>
            </a:r>
          </a:p>
          <a:p>
            <a:endParaRPr lang="ru-RU" dirty="0" smtClean="0"/>
          </a:p>
          <a:p>
            <a:r>
              <a:rPr lang="ru-RU" dirty="0" smtClean="0"/>
              <a:t>Так как количество вершин конечно, то на каком-то шаге будет выбрана помеченная вершина, а значит будет найден цикл.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D733C-3CE7-4123-AD27-D4DEFA6C490B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756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После выбрасывания листа из графа у которого больше 2 вершин, граф остается деревом</a:t>
            </a:r>
          </a:p>
          <a:p>
            <a:endParaRPr lang="ru-RU" dirty="0" smtClean="0"/>
          </a:p>
          <a:p>
            <a:r>
              <a:rPr lang="ru-RU" dirty="0" smtClean="0"/>
              <a:t>Предположим что листа нет.</a:t>
            </a:r>
          </a:p>
          <a:p>
            <a:endParaRPr lang="ru-RU" dirty="0" smtClean="0"/>
          </a:p>
          <a:p>
            <a:r>
              <a:rPr lang="ru-RU" dirty="0" smtClean="0"/>
              <a:t>Тогда степень каждой вершины больше или равна 2.</a:t>
            </a:r>
          </a:p>
          <a:p>
            <a:endParaRPr lang="ru-RU" dirty="0" smtClean="0"/>
          </a:p>
          <a:p>
            <a:r>
              <a:rPr lang="ru-RU" dirty="0" smtClean="0"/>
              <a:t>Покажем что в таком графе точно есть цикл.</a:t>
            </a:r>
          </a:p>
          <a:p>
            <a:endParaRPr lang="ru-RU" dirty="0" smtClean="0"/>
          </a:p>
          <a:p>
            <a:r>
              <a:rPr lang="ru-RU" dirty="0" smtClean="0"/>
              <a:t>Применим конструктивный подход. Построим его.</a:t>
            </a:r>
          </a:p>
          <a:p>
            <a:endParaRPr lang="ru-RU" dirty="0" smtClean="0"/>
          </a:p>
          <a:p>
            <a:r>
              <a:rPr lang="ru-RU" dirty="0" smtClean="0"/>
              <a:t>1) Возьмем произвольную вершину. Пометим ее как добавленную в строящийся цикл.</a:t>
            </a:r>
          </a:p>
          <a:p>
            <a:r>
              <a:rPr lang="ru-RU" dirty="0" smtClean="0"/>
              <a:t>2) Ее степень &gt;= 2. Возьмем любую из смежных с ней вершин. </a:t>
            </a:r>
          </a:p>
          <a:p>
            <a:r>
              <a:rPr lang="ru-RU" dirty="0" smtClean="0"/>
              <a:t>3) Если вершина оказалась помеченной, то был найден цикл. Выход.</a:t>
            </a:r>
          </a:p>
          <a:p>
            <a:r>
              <a:rPr lang="ru-RU" dirty="0" smtClean="0"/>
              <a:t>4) Степень этой вершины тоже &gt;=2, значит у нее есть еще, как минимум одна смежная вершина. Возьмем ее и пометим ее как добавленную в строящийся цикл. Перейдем к пункту 2.</a:t>
            </a:r>
          </a:p>
          <a:p>
            <a:endParaRPr lang="ru-RU" dirty="0" smtClean="0"/>
          </a:p>
          <a:p>
            <a:r>
              <a:rPr lang="ru-RU" dirty="0" smtClean="0"/>
              <a:t>Так как количество вершин конечно, то на каком-то шаге будет выбрана помеченная вершина, а значит будет найден цикл.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CD733C-3CE7-4123-AD27-D4DEFA6C490B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24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 </a:t>
            </a:r>
            <a:r>
              <a:rPr lang="en-US" dirty="0"/>
              <a:t>a</a:t>
            </a:r>
            <a:r>
              <a:rPr lang="en-US" dirty="0" smtClean="0"/>
              <a:t>lgorithms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Lection </a:t>
            </a:r>
            <a:r>
              <a:rPr lang="ru-RU" dirty="0" smtClean="0"/>
              <a:t>0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concepts of graph theory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11334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908720"/>
            <a:ext cx="11144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2708920"/>
            <a:ext cx="127635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5013176"/>
            <a:ext cx="10096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87824" y="2204864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43608" y="5229200"/>
            <a:ext cx="10096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5856" y="404664"/>
            <a:ext cx="10763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948264" y="1484784"/>
            <a:ext cx="1133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444208" y="5157192"/>
            <a:ext cx="10191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35696" y="3573016"/>
            <a:ext cx="11144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020272" y="3764260"/>
            <a:ext cx="109537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11334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908720"/>
            <a:ext cx="11144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2708920"/>
            <a:ext cx="127635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5013176"/>
            <a:ext cx="10096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87824" y="2204864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43608" y="5229200"/>
            <a:ext cx="10096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5856" y="404664"/>
            <a:ext cx="10763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948264" y="1484784"/>
            <a:ext cx="1133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444208" y="5157192"/>
            <a:ext cx="10191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35696" y="3573016"/>
            <a:ext cx="11144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020272" y="3764260"/>
            <a:ext cx="109537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Прямая со стрелкой 16"/>
          <p:cNvCxnSpPr/>
          <p:nvPr/>
        </p:nvCxnSpPr>
        <p:spPr>
          <a:xfrm flipH="1" flipV="1">
            <a:off x="4139952" y="1340768"/>
            <a:ext cx="1080121" cy="158417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 flipV="1">
            <a:off x="1691680" y="2492896"/>
            <a:ext cx="4896544" cy="28083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3502174" y="3233564"/>
            <a:ext cx="493762" cy="17796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V="1">
            <a:off x="5940152" y="2420888"/>
            <a:ext cx="1224136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Заголовок 1"/>
          <p:cNvSpPr txBox="1">
            <a:spLocks/>
          </p:cNvSpPr>
          <p:nvPr/>
        </p:nvSpPr>
        <p:spPr>
          <a:xfrm>
            <a:off x="4499992" y="0"/>
            <a:ext cx="464400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400" dirty="0"/>
              <a:t>The brother is pointing </a:t>
            </a:r>
            <a:r>
              <a:rPr lang="en-US" sz="2400" dirty="0" smtClean="0"/>
              <a:t>at his </a:t>
            </a:r>
            <a:r>
              <a:rPr lang="en-US" sz="2400" dirty="0"/>
              <a:t>sister</a:t>
            </a:r>
            <a:endParaRPr lang="ru-RU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971600" y="17728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3419872" y="5486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2051720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Овал 39"/>
          <p:cNvSpPr/>
          <p:nvPr/>
        </p:nvSpPr>
        <p:spPr>
          <a:xfrm>
            <a:off x="1259632" y="53732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7236296" y="400506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6516216" y="53012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5436096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5220072" y="306896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3779912" y="51571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3059832" y="23488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7164288" y="17008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5473824" y="0"/>
            <a:ext cx="367017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Kids </a:t>
            </a:r>
            <a:r>
              <a:rPr lang="ru-RU" sz="2800" dirty="0" smtClean="0"/>
              <a:t>=</a:t>
            </a:r>
            <a:r>
              <a:rPr lang="en-US" sz="2800" dirty="0" smtClean="0"/>
              <a:t> vertices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971600" y="17728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3419872" y="5486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2051720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Овал 39"/>
          <p:cNvSpPr/>
          <p:nvPr/>
        </p:nvSpPr>
        <p:spPr>
          <a:xfrm>
            <a:off x="1259632" y="53732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7236296" y="400506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6516216" y="53012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5436096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5220072" y="306896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3779912" y="51571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3059832" y="23488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7164288" y="17008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3" name="Прямая со стрелкой 52"/>
          <p:cNvCxnSpPr/>
          <p:nvPr/>
        </p:nvCxnSpPr>
        <p:spPr>
          <a:xfrm flipH="1" flipV="1">
            <a:off x="4139952" y="1340768"/>
            <a:ext cx="1080121" cy="158417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 flipH="1" flipV="1">
            <a:off x="1691680" y="2492896"/>
            <a:ext cx="4896544" cy="28083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/>
          <p:nvPr/>
        </p:nvCxnSpPr>
        <p:spPr>
          <a:xfrm>
            <a:off x="3502174" y="3233564"/>
            <a:ext cx="493762" cy="17796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 flipV="1">
            <a:off x="5940152" y="2420888"/>
            <a:ext cx="1224136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Заголовок 1"/>
          <p:cNvSpPr txBox="1">
            <a:spLocks/>
          </p:cNvSpPr>
          <p:nvPr/>
        </p:nvSpPr>
        <p:spPr>
          <a:xfrm>
            <a:off x="-36512" y="6021288"/>
            <a:ext cx="5832648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 algn="ctr">
              <a:spcBef>
                <a:spcPct val="0"/>
              </a:spcBef>
            </a:pPr>
            <a:r>
              <a:rPr lang="en-US" sz="2800" dirty="0"/>
              <a:t>pointing </a:t>
            </a:r>
            <a:r>
              <a:rPr lang="en-US" sz="2800" dirty="0" smtClean="0"/>
              <a:t>to a sister </a:t>
            </a:r>
            <a:r>
              <a:rPr lang="ru-RU" sz="2800" dirty="0" smtClean="0"/>
              <a:t>=</a:t>
            </a:r>
            <a:r>
              <a:rPr lang="en-US" sz="2800" dirty="0" smtClean="0"/>
              <a:t> edges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5473824" y="0"/>
            <a:ext cx="367017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Kids </a:t>
            </a:r>
            <a:r>
              <a:rPr lang="ru-RU" sz="2800" dirty="0" smtClean="0"/>
              <a:t>=</a:t>
            </a:r>
            <a:r>
              <a:rPr lang="en-US" sz="2800" dirty="0" smtClean="0"/>
              <a:t> vertices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971600" y="17728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>
            <a:off x="3419872" y="5486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2051720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1259632" y="53732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7236296" y="400506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/>
          <p:cNvSpPr/>
          <p:nvPr/>
        </p:nvSpPr>
        <p:spPr>
          <a:xfrm>
            <a:off x="6516216" y="53012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5436096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/>
          <p:cNvSpPr/>
          <p:nvPr/>
        </p:nvSpPr>
        <p:spPr>
          <a:xfrm>
            <a:off x="5220072" y="306896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/>
          <p:cNvSpPr/>
          <p:nvPr/>
        </p:nvSpPr>
        <p:spPr>
          <a:xfrm>
            <a:off x="3779912" y="51571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/>
          <p:cNvSpPr/>
          <p:nvPr/>
        </p:nvSpPr>
        <p:spPr>
          <a:xfrm>
            <a:off x="3059832" y="23488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/>
          <p:cNvSpPr/>
          <p:nvPr/>
        </p:nvSpPr>
        <p:spPr>
          <a:xfrm>
            <a:off x="7164288" y="17008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5580112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3563888" y="54868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1115616" y="184482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9</a:t>
            </a:r>
            <a:endParaRPr lang="ru-RU" sz="2800" b="1" dirty="0" smtClean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203848" y="242088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5364088" y="314096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22" name="Заголовок 1"/>
          <p:cNvSpPr txBox="1">
            <a:spLocks/>
          </p:cNvSpPr>
          <p:nvPr/>
        </p:nvSpPr>
        <p:spPr>
          <a:xfrm>
            <a:off x="7308304" y="177281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2123728" y="3789040"/>
            <a:ext cx="504056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10</a:t>
            </a:r>
            <a:endParaRPr lang="ru-RU" sz="2800" b="1" dirty="0" smtClean="0"/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1331640" y="5445224"/>
            <a:ext cx="57606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11</a:t>
            </a:r>
            <a:endParaRPr lang="ru-RU" sz="2800" b="1" dirty="0" smtClean="0"/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3923928" y="52292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6660232" y="537321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27" name="Заголовок 1"/>
          <p:cNvSpPr txBox="1">
            <a:spLocks/>
          </p:cNvSpPr>
          <p:nvPr/>
        </p:nvSpPr>
        <p:spPr>
          <a:xfrm>
            <a:off x="7380312" y="407707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cxnSp>
        <p:nvCxnSpPr>
          <p:cNvPr id="28" name="Прямая со стрелкой 27"/>
          <p:cNvCxnSpPr/>
          <p:nvPr/>
        </p:nvCxnSpPr>
        <p:spPr>
          <a:xfrm flipH="1" flipV="1">
            <a:off x="4139952" y="1340768"/>
            <a:ext cx="1080121" cy="158417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 flipV="1">
            <a:off x="1691680" y="2492896"/>
            <a:ext cx="4896544" cy="28083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>
            <a:off x="3502174" y="3233564"/>
            <a:ext cx="493762" cy="177961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V="1">
            <a:off x="5940152" y="2420888"/>
            <a:ext cx="1224136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Заголовок 1"/>
          <p:cNvSpPr txBox="1">
            <a:spLocks/>
          </p:cNvSpPr>
          <p:nvPr/>
        </p:nvSpPr>
        <p:spPr>
          <a:xfrm>
            <a:off x="-36512" y="6021288"/>
            <a:ext cx="5832648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 algn="ctr">
              <a:spcBef>
                <a:spcPct val="0"/>
              </a:spcBef>
            </a:pPr>
            <a:r>
              <a:rPr lang="en-US" sz="2800" dirty="0"/>
              <a:t>pointing </a:t>
            </a:r>
            <a:r>
              <a:rPr lang="en-US" sz="2800" dirty="0" smtClean="0"/>
              <a:t>to a sister </a:t>
            </a:r>
            <a:r>
              <a:rPr lang="ru-RU" sz="2800" dirty="0" smtClean="0"/>
              <a:t>=</a:t>
            </a:r>
            <a:r>
              <a:rPr lang="en-US" sz="2800" dirty="0" smtClean="0"/>
              <a:t> edges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5473824" y="0"/>
            <a:ext cx="367017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Kids </a:t>
            </a:r>
            <a:r>
              <a:rPr lang="ru-RU" sz="2800" dirty="0" smtClean="0"/>
              <a:t>=</a:t>
            </a:r>
            <a:r>
              <a:rPr lang="en-US" sz="2800" dirty="0" smtClean="0"/>
              <a:t> vertices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11334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908720"/>
            <a:ext cx="11144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2708920"/>
            <a:ext cx="1276350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904" y="5013176"/>
            <a:ext cx="10096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87824" y="2204864"/>
            <a:ext cx="10287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43608" y="5229200"/>
            <a:ext cx="10096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5856" y="404664"/>
            <a:ext cx="10763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948264" y="1484784"/>
            <a:ext cx="1133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444208" y="5157192"/>
            <a:ext cx="10191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35696" y="3573016"/>
            <a:ext cx="11144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020272" y="3764260"/>
            <a:ext cx="109537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Прямая со стрелкой 13"/>
          <p:cNvCxnSpPr/>
          <p:nvPr/>
        </p:nvCxnSpPr>
        <p:spPr>
          <a:xfrm flipH="1" flipV="1">
            <a:off x="4139952" y="1340768"/>
            <a:ext cx="1080121" cy="1584176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H="1" flipV="1">
            <a:off x="1691680" y="2492896"/>
            <a:ext cx="4896544" cy="2808313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030" idx="2"/>
          </p:cNvCxnSpPr>
          <p:nvPr/>
        </p:nvCxnSpPr>
        <p:spPr>
          <a:xfrm>
            <a:off x="3502174" y="3233564"/>
            <a:ext cx="493762" cy="1779612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5940152" y="2420888"/>
            <a:ext cx="1224136" cy="648072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3995936" y="1772816"/>
            <a:ext cx="1224136" cy="576064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H="1" flipV="1">
            <a:off x="6156176" y="3645024"/>
            <a:ext cx="864096" cy="432048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>
            <a:off x="1979712" y="3717032"/>
            <a:ext cx="3096344" cy="1656184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1979712" y="2276872"/>
            <a:ext cx="1008112" cy="216024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3491880" y="1412776"/>
            <a:ext cx="0" cy="720080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V="1">
            <a:off x="2771800" y="3212976"/>
            <a:ext cx="432048" cy="432048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Заголовок 1"/>
          <p:cNvSpPr txBox="1">
            <a:spLocks/>
          </p:cNvSpPr>
          <p:nvPr/>
        </p:nvSpPr>
        <p:spPr>
          <a:xfrm>
            <a:off x="4427984" y="0"/>
            <a:ext cx="471601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Who's friends with whom?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971600" y="17728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>
            <a:off x="3419872" y="5486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2051720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1259632" y="53732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7236296" y="400506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/>
          <p:cNvSpPr/>
          <p:nvPr/>
        </p:nvSpPr>
        <p:spPr>
          <a:xfrm>
            <a:off x="6516216" y="53012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5436096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/>
          <p:cNvSpPr/>
          <p:nvPr/>
        </p:nvSpPr>
        <p:spPr>
          <a:xfrm>
            <a:off x="5220072" y="306896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/>
          <p:cNvSpPr/>
          <p:nvPr/>
        </p:nvSpPr>
        <p:spPr>
          <a:xfrm>
            <a:off x="3779912" y="51571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/>
          <p:cNvSpPr/>
          <p:nvPr/>
        </p:nvSpPr>
        <p:spPr>
          <a:xfrm>
            <a:off x="3059832" y="23488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/>
          <p:cNvSpPr/>
          <p:nvPr/>
        </p:nvSpPr>
        <p:spPr>
          <a:xfrm>
            <a:off x="7164288" y="17008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5580112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3563888" y="54868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1115616" y="184482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9</a:t>
            </a:r>
            <a:endParaRPr lang="ru-RU" sz="2800" b="1" dirty="0" smtClean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203848" y="242088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5364088" y="314096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22" name="Заголовок 1"/>
          <p:cNvSpPr txBox="1">
            <a:spLocks/>
          </p:cNvSpPr>
          <p:nvPr/>
        </p:nvSpPr>
        <p:spPr>
          <a:xfrm>
            <a:off x="7308304" y="177281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2123728" y="3789040"/>
            <a:ext cx="504056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10</a:t>
            </a:r>
            <a:endParaRPr lang="ru-RU" sz="2800" b="1" dirty="0" smtClean="0"/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1331640" y="5445224"/>
            <a:ext cx="57606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11</a:t>
            </a:r>
            <a:endParaRPr lang="ru-RU" sz="2800" b="1" dirty="0" smtClean="0"/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3923928" y="52292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6660232" y="537321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27" name="Заголовок 1"/>
          <p:cNvSpPr txBox="1">
            <a:spLocks/>
          </p:cNvSpPr>
          <p:nvPr/>
        </p:nvSpPr>
        <p:spPr>
          <a:xfrm>
            <a:off x="7380312" y="407707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cxnSp>
        <p:nvCxnSpPr>
          <p:cNvPr id="32" name="Прямая со стрелкой 31"/>
          <p:cNvCxnSpPr/>
          <p:nvPr/>
        </p:nvCxnSpPr>
        <p:spPr>
          <a:xfrm flipH="1" flipV="1">
            <a:off x="4139952" y="1340768"/>
            <a:ext cx="1080121" cy="1584176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 flipV="1">
            <a:off x="1691680" y="2492896"/>
            <a:ext cx="4896544" cy="2808313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3502174" y="3233564"/>
            <a:ext cx="493762" cy="1779612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V="1">
            <a:off x="5940152" y="2420888"/>
            <a:ext cx="1224136" cy="648072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V="1">
            <a:off x="3995936" y="1772816"/>
            <a:ext cx="1224136" cy="576064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H="1" flipV="1">
            <a:off x="6156176" y="3645024"/>
            <a:ext cx="864096" cy="432048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 flipH="1">
            <a:off x="1979712" y="3717032"/>
            <a:ext cx="3096344" cy="1656184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>
            <a:off x="1979712" y="2276872"/>
            <a:ext cx="1008112" cy="216024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>
            <a:off x="3491880" y="1412776"/>
            <a:ext cx="0" cy="720080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 flipV="1">
            <a:off x="2771800" y="3212976"/>
            <a:ext cx="432048" cy="432048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971600" y="17728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>
            <a:off x="3419872" y="5486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2051720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/>
          <p:cNvSpPr/>
          <p:nvPr/>
        </p:nvSpPr>
        <p:spPr>
          <a:xfrm>
            <a:off x="1259632" y="53732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7236296" y="400506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/>
          <p:cNvSpPr/>
          <p:nvPr/>
        </p:nvSpPr>
        <p:spPr>
          <a:xfrm>
            <a:off x="6516216" y="53012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5436096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/>
          <p:cNvSpPr/>
          <p:nvPr/>
        </p:nvSpPr>
        <p:spPr>
          <a:xfrm>
            <a:off x="5220072" y="306896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/>
          <p:cNvSpPr/>
          <p:nvPr/>
        </p:nvSpPr>
        <p:spPr>
          <a:xfrm>
            <a:off x="3779912" y="51571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/>
          <p:cNvSpPr/>
          <p:nvPr/>
        </p:nvSpPr>
        <p:spPr>
          <a:xfrm>
            <a:off x="3059832" y="23488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/>
          <p:cNvSpPr/>
          <p:nvPr/>
        </p:nvSpPr>
        <p:spPr>
          <a:xfrm>
            <a:off x="7164288" y="170080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5580112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3563888" y="54868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1115616" y="184482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9</a:t>
            </a:r>
            <a:endParaRPr lang="ru-RU" sz="2800" b="1" dirty="0" smtClean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203848" y="242088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5364088" y="314096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22" name="Заголовок 1"/>
          <p:cNvSpPr txBox="1">
            <a:spLocks/>
          </p:cNvSpPr>
          <p:nvPr/>
        </p:nvSpPr>
        <p:spPr>
          <a:xfrm>
            <a:off x="7308304" y="177281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2123728" y="3789040"/>
            <a:ext cx="504056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10</a:t>
            </a:r>
            <a:endParaRPr lang="ru-RU" sz="2800" b="1" dirty="0" smtClean="0"/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1331640" y="5445224"/>
            <a:ext cx="57606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11</a:t>
            </a:r>
            <a:endParaRPr lang="ru-RU" sz="2800" b="1" dirty="0" smtClean="0"/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3923928" y="52292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6660232" y="537321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27" name="Заголовок 1"/>
          <p:cNvSpPr txBox="1">
            <a:spLocks/>
          </p:cNvSpPr>
          <p:nvPr/>
        </p:nvSpPr>
        <p:spPr>
          <a:xfrm>
            <a:off x="7380312" y="407707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cxnSp>
        <p:nvCxnSpPr>
          <p:cNvPr id="32" name="Прямая со стрелкой 31"/>
          <p:cNvCxnSpPr/>
          <p:nvPr/>
        </p:nvCxnSpPr>
        <p:spPr>
          <a:xfrm flipH="1" flipV="1">
            <a:off x="4139952" y="1340768"/>
            <a:ext cx="1080121" cy="1584176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 flipV="1">
            <a:off x="1691680" y="2492896"/>
            <a:ext cx="4896544" cy="2808313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3502174" y="3233564"/>
            <a:ext cx="493762" cy="1779612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V="1">
            <a:off x="5940152" y="2420888"/>
            <a:ext cx="1224136" cy="648072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V="1">
            <a:off x="3995936" y="1772816"/>
            <a:ext cx="1224136" cy="576064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H="1" flipV="1">
            <a:off x="6156176" y="3645024"/>
            <a:ext cx="864096" cy="432048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 flipH="1">
            <a:off x="1979712" y="3717032"/>
            <a:ext cx="3096344" cy="1656184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>
            <a:off x="1979712" y="2276872"/>
            <a:ext cx="1008112" cy="216024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>
            <a:off x="3491880" y="1412776"/>
            <a:ext cx="0" cy="720080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 flipV="1">
            <a:off x="2771800" y="3212976"/>
            <a:ext cx="432048" cy="432048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0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755576" y="249289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 smtClean="0"/>
              <a:t>A </a:t>
            </a:r>
            <a:r>
              <a:rPr lang="en-US" sz="6000" b="1" dirty="0" smtClean="0">
                <a:solidFill>
                  <a:srgbClr val="00B0F0"/>
                </a:solidFill>
              </a:rPr>
              <a:t>graph</a:t>
            </a:r>
            <a:r>
              <a:rPr lang="en-US" sz="6000" dirty="0" smtClean="0"/>
              <a:t> is a mathematical abstraction that describes </a:t>
            </a:r>
            <a:r>
              <a:rPr lang="en-US" sz="6000" b="1" dirty="0" smtClean="0">
                <a:solidFill>
                  <a:srgbClr val="00B0F0"/>
                </a:solidFill>
              </a:rPr>
              <a:t>objects</a:t>
            </a:r>
            <a:r>
              <a:rPr lang="en-US" sz="6000" dirty="0" smtClean="0"/>
              <a:t> and the </a:t>
            </a:r>
            <a:r>
              <a:rPr lang="en-US" sz="6000" b="1" dirty="0" smtClean="0">
                <a:solidFill>
                  <a:srgbClr val="00B0F0"/>
                </a:solidFill>
              </a:rPr>
              <a:t>connections</a:t>
            </a:r>
            <a:r>
              <a:rPr lang="en-US" sz="6000" dirty="0" smtClean="0"/>
              <a:t> between them</a:t>
            </a:r>
            <a:endParaRPr lang="ru-RU" sz="6000" b="1" dirty="0" smtClean="0"/>
          </a:p>
        </p:txBody>
      </p:sp>
    </p:spTree>
    <p:extLst>
      <p:ext uri="{BB962C8B-B14F-4D97-AF65-F5344CB8AC3E}">
        <p14:creationId xmlns:p14="http://schemas.microsoft.com/office/powerpoint/2010/main" val="2004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1988840"/>
            <a:ext cx="3888432" cy="1944216"/>
          </a:xfrm>
        </p:spPr>
        <p:txBody>
          <a:bodyPr>
            <a:noAutofit/>
          </a:bodyPr>
          <a:lstStyle/>
          <a:p>
            <a:r>
              <a:rPr lang="en-US" sz="8000" b="1" dirty="0" smtClean="0"/>
              <a:t>G(V,E)</a:t>
            </a:r>
            <a:endParaRPr lang="ru-RU" sz="8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 smtClean="0"/>
              <a:t>Graph is a function</a:t>
            </a:r>
            <a:endParaRPr lang="ru-RU" sz="6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1988840"/>
            <a:ext cx="3888432" cy="1944216"/>
          </a:xfrm>
        </p:spPr>
        <p:txBody>
          <a:bodyPr>
            <a:noAutofit/>
          </a:bodyPr>
          <a:lstStyle/>
          <a:p>
            <a:r>
              <a:rPr lang="en-US" sz="8000" b="1" dirty="0" smtClean="0"/>
              <a:t>G(V,E)</a:t>
            </a:r>
            <a:endParaRPr lang="ru-RU" sz="8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251520" y="3933056"/>
            <a:ext cx="4464496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Set of Vert</a:t>
            </a:r>
            <a:r>
              <a:rPr lang="en-US" sz="3200" dirty="0" err="1" smtClean="0">
                <a:solidFill>
                  <a:srgbClr val="7030A0"/>
                </a:solidFill>
                <a:latin typeface="+mj-lt"/>
                <a:ea typeface="+mj-ea"/>
                <a:cs typeface="+mj-cs"/>
              </a:rPr>
              <a:t>ic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es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644008" y="3933056"/>
            <a:ext cx="4464496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Set of Edges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3059832" y="3573016"/>
            <a:ext cx="1296144" cy="7920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H="1" flipV="1">
            <a:off x="5364088" y="3501008"/>
            <a:ext cx="792088" cy="86409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 smtClean="0"/>
              <a:t>Graph is a function</a:t>
            </a:r>
            <a:endParaRPr lang="ru-RU" sz="6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Types of graphs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4355976" y="3140968"/>
            <a:ext cx="482453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Directed graph</a:t>
            </a:r>
            <a:endParaRPr lang="ru-RU" sz="2800" dirty="0" smtClean="0"/>
          </a:p>
        </p:txBody>
      </p:sp>
      <p:sp>
        <p:nvSpPr>
          <p:cNvPr id="35" name="Стрелка вправо 34"/>
          <p:cNvSpPr/>
          <p:nvPr/>
        </p:nvSpPr>
        <p:spPr>
          <a:xfrm>
            <a:off x="3707904" y="3429000"/>
            <a:ext cx="93610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 smtClean="0"/>
              <a:t>Arcs</a:t>
            </a:r>
            <a:endParaRPr lang="ru-RU" sz="6000" b="1" dirty="0" smtClean="0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0" y="1340768"/>
            <a:ext cx="9144000" cy="5517232"/>
          </a:xfrm>
        </p:spPr>
        <p:txBody>
          <a:bodyPr>
            <a:noAutofit/>
          </a:bodyPr>
          <a:lstStyle/>
          <a:p>
            <a:pPr lvl="0"/>
            <a:r>
              <a:rPr lang="en-US" sz="8000" b="1" dirty="0" smtClean="0">
                <a:solidFill>
                  <a:srgbClr val="0070C0"/>
                </a:solidFill>
              </a:rPr>
              <a:t>E={(</a:t>
            </a:r>
            <a:r>
              <a:rPr lang="en-US" sz="8000" b="1" dirty="0" err="1" smtClean="0">
                <a:solidFill>
                  <a:srgbClr val="0070C0"/>
                </a:solidFill>
              </a:rPr>
              <a:t>u,v</a:t>
            </a:r>
            <a:r>
              <a:rPr lang="en-US" sz="8000" b="1" dirty="0" smtClean="0">
                <a:solidFill>
                  <a:srgbClr val="0070C0"/>
                </a:solidFill>
              </a:rPr>
              <a:t>) : u</a:t>
            </a:r>
            <a:r>
              <a:rPr lang="ru-RU" sz="6000" b="1" dirty="0" smtClean="0">
                <a:solidFill>
                  <a:srgbClr val="0070C0"/>
                </a:solidFill>
              </a:rPr>
              <a:t>∈</a:t>
            </a:r>
            <a:r>
              <a:rPr lang="en-US" sz="8000" b="1" dirty="0" smtClean="0">
                <a:solidFill>
                  <a:srgbClr val="0070C0"/>
                </a:solidFill>
              </a:rPr>
              <a:t>V, v</a:t>
            </a:r>
            <a:r>
              <a:rPr lang="ru-RU" sz="6000" b="1" dirty="0" smtClean="0">
                <a:solidFill>
                  <a:srgbClr val="0070C0"/>
                </a:solidFill>
              </a:rPr>
              <a:t>∈</a:t>
            </a:r>
            <a:r>
              <a:rPr lang="en-US" sz="8000" b="1" dirty="0" smtClean="0">
                <a:solidFill>
                  <a:srgbClr val="0070C0"/>
                </a:solidFill>
              </a:rPr>
              <a:t>V}</a:t>
            </a:r>
            <a:br>
              <a:rPr lang="en-US" sz="8000" b="1" dirty="0" smtClean="0">
                <a:solidFill>
                  <a:srgbClr val="0070C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Arc </a:t>
            </a:r>
            <a:r>
              <a:rPr lang="ru-RU" sz="2800" b="1" dirty="0" smtClean="0">
                <a:solidFill>
                  <a:srgbClr val="0070C0"/>
                </a:solidFill>
              </a:rPr>
              <a:t>– </a:t>
            </a:r>
            <a:r>
              <a:rPr lang="en-US" sz="2800" b="1" dirty="0" smtClean="0">
                <a:solidFill>
                  <a:srgbClr val="0070C0"/>
                </a:solidFill>
              </a:rPr>
              <a:t>directed edge</a:t>
            </a:r>
            <a:r>
              <a:rPr lang="en-US" sz="8000" b="1" dirty="0" smtClean="0"/>
              <a:t/>
            </a:r>
            <a:br>
              <a:rPr lang="en-US" sz="8000" b="1" dirty="0" smtClean="0"/>
            </a:br>
            <a:r>
              <a:rPr lang="ru-RU" sz="8000" b="1" dirty="0" smtClean="0"/>
              <a:t/>
            </a:r>
            <a:br>
              <a:rPr lang="ru-RU" sz="8000" b="1" dirty="0" smtClean="0"/>
            </a:br>
            <a:r>
              <a:rPr lang="ru-RU" sz="8000" b="1" dirty="0" smtClean="0"/>
              <a:t/>
            </a:r>
            <a:br>
              <a:rPr lang="ru-RU" sz="8000" b="1" dirty="0" smtClean="0"/>
            </a:br>
            <a:endParaRPr lang="ru-RU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14401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420888"/>
            <a:ext cx="1224136" cy="165618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4355976" y="3140968"/>
            <a:ext cx="482453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Undirected graph</a:t>
            </a:r>
            <a:endParaRPr lang="ru-RU" sz="2800" dirty="0" smtClean="0"/>
          </a:p>
        </p:txBody>
      </p:sp>
      <p:sp>
        <p:nvSpPr>
          <p:cNvPr id="35" name="Стрелка вправо 34"/>
          <p:cNvSpPr/>
          <p:nvPr/>
        </p:nvSpPr>
        <p:spPr>
          <a:xfrm>
            <a:off x="3707904" y="3429000"/>
            <a:ext cx="93610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Types of graphs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340768"/>
            <a:ext cx="9144000" cy="5517232"/>
          </a:xfrm>
        </p:spPr>
        <p:txBody>
          <a:bodyPr>
            <a:noAutofit/>
          </a:bodyPr>
          <a:lstStyle/>
          <a:p>
            <a:pPr lvl="0"/>
            <a:r>
              <a:rPr lang="en-US" sz="8000" b="1" dirty="0" smtClean="0">
                <a:solidFill>
                  <a:srgbClr val="0070C0"/>
                </a:solidFill>
              </a:rPr>
              <a:t>E={(</a:t>
            </a:r>
            <a:r>
              <a:rPr lang="en-US" sz="8000" b="1" dirty="0" err="1" smtClean="0">
                <a:solidFill>
                  <a:srgbClr val="0070C0"/>
                </a:solidFill>
              </a:rPr>
              <a:t>u,v</a:t>
            </a:r>
            <a:r>
              <a:rPr lang="en-US" sz="8000" b="1" dirty="0" smtClean="0">
                <a:solidFill>
                  <a:srgbClr val="0070C0"/>
                </a:solidFill>
              </a:rPr>
              <a:t>) : u</a:t>
            </a:r>
            <a:r>
              <a:rPr lang="ru-RU" sz="6000" b="1" dirty="0" smtClean="0">
                <a:solidFill>
                  <a:srgbClr val="0070C0"/>
                </a:solidFill>
              </a:rPr>
              <a:t>∈</a:t>
            </a:r>
            <a:r>
              <a:rPr lang="en-US" sz="8000" b="1" dirty="0" smtClean="0">
                <a:solidFill>
                  <a:srgbClr val="0070C0"/>
                </a:solidFill>
              </a:rPr>
              <a:t>V, v</a:t>
            </a:r>
            <a:r>
              <a:rPr lang="ru-RU" sz="6000" b="1" dirty="0" smtClean="0">
                <a:solidFill>
                  <a:srgbClr val="0070C0"/>
                </a:solidFill>
              </a:rPr>
              <a:t>∈</a:t>
            </a:r>
            <a:r>
              <a:rPr lang="en-US" sz="8000" b="1" dirty="0" smtClean="0">
                <a:solidFill>
                  <a:srgbClr val="0070C0"/>
                </a:solidFill>
              </a:rPr>
              <a:t>V}</a:t>
            </a:r>
            <a:br>
              <a:rPr lang="en-US" sz="8000" b="1" dirty="0" smtClean="0">
                <a:solidFill>
                  <a:srgbClr val="0070C0"/>
                </a:solidFill>
              </a:rPr>
            </a:br>
            <a:r>
              <a:rPr lang="ru-RU" sz="2800" b="1" dirty="0" smtClean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Arc </a:t>
            </a:r>
            <a:r>
              <a:rPr lang="ru-RU" sz="2800" b="1" dirty="0">
                <a:solidFill>
                  <a:srgbClr val="0070C0"/>
                </a:solidFill>
              </a:rPr>
              <a:t>– </a:t>
            </a:r>
            <a:r>
              <a:rPr lang="en-US" sz="2800" b="1" dirty="0">
                <a:solidFill>
                  <a:srgbClr val="0070C0"/>
                </a:solidFill>
              </a:rPr>
              <a:t>directed edge</a:t>
            </a:r>
            <a:r>
              <a:rPr lang="en-US" sz="8000" b="1" dirty="0"/>
              <a:t/>
            </a:r>
            <a:br>
              <a:rPr lang="en-US" sz="8000" b="1" dirty="0"/>
            </a:br>
            <a:r>
              <a:rPr lang="ru-RU" sz="8000" b="1" dirty="0" smtClean="0"/>
              <a:t/>
            </a:r>
            <a:br>
              <a:rPr lang="ru-RU" sz="8000" b="1" dirty="0" smtClean="0"/>
            </a:br>
            <a:r>
              <a:rPr lang="en-US" sz="8000" b="1" dirty="0" smtClean="0">
                <a:solidFill>
                  <a:srgbClr val="00B050"/>
                </a:solidFill>
              </a:rPr>
              <a:t>E={{</a:t>
            </a:r>
            <a:r>
              <a:rPr lang="en-US" sz="8000" b="1" dirty="0" err="1" smtClean="0">
                <a:solidFill>
                  <a:srgbClr val="00B050"/>
                </a:solidFill>
              </a:rPr>
              <a:t>u,v</a:t>
            </a:r>
            <a:r>
              <a:rPr lang="en-US" sz="8000" b="1" dirty="0" smtClean="0">
                <a:solidFill>
                  <a:srgbClr val="00B050"/>
                </a:solidFill>
              </a:rPr>
              <a:t>} : u</a:t>
            </a:r>
            <a:r>
              <a:rPr lang="ru-RU" sz="6000" b="1" dirty="0" smtClean="0">
                <a:solidFill>
                  <a:srgbClr val="00B050"/>
                </a:solidFill>
              </a:rPr>
              <a:t>∈</a:t>
            </a:r>
            <a:r>
              <a:rPr lang="en-US" sz="8000" b="1" dirty="0" smtClean="0">
                <a:solidFill>
                  <a:srgbClr val="00B050"/>
                </a:solidFill>
              </a:rPr>
              <a:t>V, v</a:t>
            </a:r>
            <a:r>
              <a:rPr lang="ru-RU" sz="6000" b="1" dirty="0" smtClean="0">
                <a:solidFill>
                  <a:srgbClr val="00B050"/>
                </a:solidFill>
              </a:rPr>
              <a:t>∈</a:t>
            </a:r>
            <a:r>
              <a:rPr lang="en-US" sz="8000" b="1" dirty="0" smtClean="0">
                <a:solidFill>
                  <a:srgbClr val="00B050"/>
                </a:solidFill>
              </a:rPr>
              <a:t>V}</a:t>
            </a:r>
            <a:r>
              <a:rPr lang="ru-RU" sz="8000" b="1" dirty="0" smtClean="0">
                <a:solidFill>
                  <a:srgbClr val="00B050"/>
                </a:solidFill>
              </a:rPr>
              <a:t/>
            </a:r>
            <a:br>
              <a:rPr lang="ru-RU" sz="8000" b="1" dirty="0" smtClean="0">
                <a:solidFill>
                  <a:srgbClr val="00B050"/>
                </a:solidFill>
              </a:rPr>
            </a:br>
            <a:r>
              <a:rPr lang="en-US" sz="2000" b="1" dirty="0" smtClean="0">
                <a:solidFill>
                  <a:srgbClr val="00B050"/>
                </a:solidFill>
              </a:rPr>
              <a:t>Link </a:t>
            </a:r>
            <a:r>
              <a:rPr lang="ru-RU" sz="2000" b="1" dirty="0" smtClean="0">
                <a:solidFill>
                  <a:srgbClr val="00B050"/>
                </a:solidFill>
              </a:rPr>
              <a:t>- </a:t>
            </a:r>
            <a:r>
              <a:rPr lang="en-US" sz="2000" b="1" dirty="0" smtClean="0">
                <a:solidFill>
                  <a:srgbClr val="00B050"/>
                </a:solidFill>
              </a:rPr>
              <a:t>undirected edge</a:t>
            </a:r>
            <a:endParaRPr lang="ru-RU" sz="2800" b="1" dirty="0">
              <a:solidFill>
                <a:srgbClr val="00B050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 smtClean="0"/>
              <a:t>Edges</a:t>
            </a:r>
            <a:endParaRPr lang="ru-RU" sz="6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Овал 43"/>
          <p:cNvSpPr/>
          <p:nvPr/>
        </p:nvSpPr>
        <p:spPr>
          <a:xfrm>
            <a:off x="7524328" y="314096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1331640" y="33569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4355976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9" name="Shape 18"/>
          <p:cNvCxnSpPr>
            <a:stCxn id="45" idx="6"/>
            <a:endCxn id="45" idx="0"/>
          </p:cNvCxnSpPr>
          <p:nvPr/>
        </p:nvCxnSpPr>
        <p:spPr>
          <a:xfrm flipH="1" flipV="1">
            <a:off x="1691680" y="3356992"/>
            <a:ext cx="360040" cy="360040"/>
          </a:xfrm>
          <a:prstGeom prst="curvedConnector4">
            <a:avLst>
              <a:gd name="adj1" fmla="val -254949"/>
              <a:gd name="adj2" fmla="val 354949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stCxn id="46" idx="5"/>
            <a:endCxn id="44" idx="1"/>
          </p:cNvCxnSpPr>
          <p:nvPr/>
        </p:nvCxnSpPr>
        <p:spPr>
          <a:xfrm>
            <a:off x="4970603" y="2243427"/>
            <a:ext cx="2659178" cy="100299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6" idx="3"/>
            <a:endCxn id="44" idx="3"/>
          </p:cNvCxnSpPr>
          <p:nvPr/>
        </p:nvCxnSpPr>
        <p:spPr>
          <a:xfrm rot="16200000" flipH="1">
            <a:off x="5289521" y="1415335"/>
            <a:ext cx="1512168" cy="3168352"/>
          </a:xfrm>
          <a:prstGeom prst="curvedConnector3">
            <a:avLst>
              <a:gd name="adj1" fmla="val 101624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hape 27"/>
          <p:cNvCxnSpPr>
            <a:stCxn id="46" idx="4"/>
            <a:endCxn id="44" idx="2"/>
          </p:cNvCxnSpPr>
          <p:nvPr/>
        </p:nvCxnSpPr>
        <p:spPr>
          <a:xfrm rot="16200000" flipH="1">
            <a:off x="5544108" y="1520788"/>
            <a:ext cx="1152128" cy="2808312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Овал 60"/>
          <p:cNvSpPr/>
          <p:nvPr/>
        </p:nvSpPr>
        <p:spPr>
          <a:xfrm>
            <a:off x="2915816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3" name="Овал 62"/>
          <p:cNvSpPr/>
          <p:nvPr/>
        </p:nvSpPr>
        <p:spPr>
          <a:xfrm>
            <a:off x="4860032" y="573325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5" name="Овал 64"/>
          <p:cNvSpPr/>
          <p:nvPr/>
        </p:nvSpPr>
        <p:spPr>
          <a:xfrm>
            <a:off x="5364088" y="450912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8" name="Прямая со стрелкой 67"/>
          <p:cNvCxnSpPr>
            <a:stCxn id="61" idx="7"/>
            <a:endCxn id="65" idx="2"/>
          </p:cNvCxnSpPr>
          <p:nvPr/>
        </p:nvCxnSpPr>
        <p:spPr>
          <a:xfrm flipV="1">
            <a:off x="3530443" y="4869160"/>
            <a:ext cx="1833645" cy="68151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endCxn id="63" idx="1"/>
          </p:cNvCxnSpPr>
          <p:nvPr/>
        </p:nvCxnSpPr>
        <p:spPr>
          <a:xfrm>
            <a:off x="4283968" y="5301208"/>
            <a:ext cx="681517" cy="53750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Заголовок 1"/>
          <p:cNvSpPr txBox="1">
            <a:spLocks/>
          </p:cNvSpPr>
          <p:nvPr/>
        </p:nvSpPr>
        <p:spPr>
          <a:xfrm>
            <a:off x="0" y="1412776"/>
            <a:ext cx="367017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Loop</a:t>
            </a:r>
            <a:endParaRPr lang="ru-RU" sz="2800" dirty="0" smtClean="0"/>
          </a:p>
        </p:txBody>
      </p:sp>
      <p:sp>
        <p:nvSpPr>
          <p:cNvPr id="83" name="Заголовок 1"/>
          <p:cNvSpPr txBox="1">
            <a:spLocks/>
          </p:cNvSpPr>
          <p:nvPr/>
        </p:nvSpPr>
        <p:spPr>
          <a:xfrm>
            <a:off x="4499992" y="1484784"/>
            <a:ext cx="367017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Multigraph</a:t>
            </a:r>
            <a:endParaRPr lang="ru-RU" sz="2800" dirty="0" smtClean="0"/>
          </a:p>
        </p:txBody>
      </p:sp>
      <p:sp>
        <p:nvSpPr>
          <p:cNvPr id="84" name="Заголовок 1"/>
          <p:cNvSpPr txBox="1">
            <a:spLocks/>
          </p:cNvSpPr>
          <p:nvPr/>
        </p:nvSpPr>
        <p:spPr>
          <a:xfrm>
            <a:off x="2195736" y="4149080"/>
            <a:ext cx="367017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??</a:t>
            </a:r>
            <a:r>
              <a:rPr lang="en-US" sz="2800" dirty="0"/>
              <a:t>?</a:t>
            </a:r>
            <a:r>
              <a:rPr lang="en-US" sz="2800" dirty="0" smtClean="0"/>
              <a:t>Quasi-graph</a:t>
            </a:r>
            <a:r>
              <a:rPr lang="ru-RU" sz="2800" dirty="0" smtClean="0"/>
              <a:t>???</a:t>
            </a:r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685800" y="-273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/>
              <a:t>Special cases</a:t>
            </a:r>
            <a:endParaRPr lang="ru-RU" sz="6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1988840"/>
            <a:ext cx="3888432" cy="1944216"/>
          </a:xfrm>
        </p:spPr>
        <p:txBody>
          <a:bodyPr>
            <a:noAutofit/>
          </a:bodyPr>
          <a:lstStyle/>
          <a:p>
            <a:r>
              <a:rPr lang="en-US" sz="8000" b="1" dirty="0" smtClean="0"/>
              <a:t>G(V,E</a:t>
            </a:r>
            <a:r>
              <a:rPr lang="ru-RU" sz="8000" b="1" dirty="0" smtClean="0"/>
              <a:t>,</a:t>
            </a:r>
            <a:r>
              <a:rPr lang="en-US" sz="8000" b="1" dirty="0" smtClean="0"/>
              <a:t>f)</a:t>
            </a:r>
            <a:endParaRPr lang="ru-RU" sz="8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/>
              <a:t>The graph in lectures</a:t>
            </a:r>
            <a:endParaRPr lang="ru-RU" sz="6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1988840"/>
            <a:ext cx="3888432" cy="1944216"/>
          </a:xfrm>
        </p:spPr>
        <p:txBody>
          <a:bodyPr>
            <a:noAutofit/>
          </a:bodyPr>
          <a:lstStyle/>
          <a:p>
            <a:r>
              <a:rPr lang="en-US" sz="8000" b="1" dirty="0" smtClean="0"/>
              <a:t>G(</a:t>
            </a:r>
            <a:r>
              <a:rPr lang="en-US" sz="8000" b="1" dirty="0" err="1" smtClean="0"/>
              <a:t>V,E,f</a:t>
            </a:r>
            <a:r>
              <a:rPr lang="en-US" sz="8000" b="1" dirty="0" smtClean="0"/>
              <a:t>)</a:t>
            </a:r>
            <a:endParaRPr lang="ru-RU" sz="8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 smtClean="0"/>
              <a:t>Graph</a:t>
            </a:r>
            <a:endParaRPr lang="ru-RU" sz="6000" b="1" dirty="0" smtClean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251520" y="3933056"/>
            <a:ext cx="4464496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Set of vertices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627784" y="4913784"/>
            <a:ext cx="4464496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Set of edges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V="1">
            <a:off x="3059832" y="3501008"/>
            <a:ext cx="936104" cy="86409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flipV="1">
            <a:off x="4932040" y="3501008"/>
            <a:ext cx="0" cy="158417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"/>
          <p:cNvSpPr txBox="1">
            <a:spLocks/>
          </p:cNvSpPr>
          <p:nvPr/>
        </p:nvSpPr>
        <p:spPr>
          <a:xfrm>
            <a:off x="4644008" y="3933056"/>
            <a:ext cx="4464496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Function</a:t>
            </a:r>
            <a:endParaRPr lang="ru-RU" sz="3200" dirty="0" smtClean="0"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7" name="Прямая со стрелкой 16"/>
          <p:cNvCxnSpPr/>
          <p:nvPr/>
        </p:nvCxnSpPr>
        <p:spPr>
          <a:xfrm flipH="1" flipV="1">
            <a:off x="5652120" y="3429000"/>
            <a:ext cx="504056" cy="93610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1"/>
            <a:ext cx="9144000" cy="1124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b="1" dirty="0">
                <a:solidFill>
                  <a:srgbClr val="0070C0"/>
                </a:solidFill>
              </a:rPr>
              <a:t>Edges</a:t>
            </a:r>
            <a:endParaRPr lang="ru-RU" sz="6000" b="1" dirty="0" smtClean="0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0" y="980728"/>
            <a:ext cx="9144000" cy="2448272"/>
          </a:xfrm>
        </p:spPr>
        <p:txBody>
          <a:bodyPr>
            <a:noAutofit/>
          </a:bodyPr>
          <a:lstStyle/>
          <a:p>
            <a:pPr lvl="0"/>
            <a:r>
              <a:rPr lang="en-US" sz="8000" b="1" dirty="0" smtClean="0">
                <a:solidFill>
                  <a:srgbClr val="0070C0"/>
                </a:solidFill>
              </a:rPr>
              <a:t>f : E</a:t>
            </a:r>
            <a:r>
              <a:rPr lang="ru-RU" sz="8000" dirty="0" smtClean="0">
                <a:solidFill>
                  <a:srgbClr val="0070C0"/>
                </a:solidFill>
              </a:rPr>
              <a:t> → </a:t>
            </a:r>
            <a:r>
              <a:rPr lang="en-US" sz="8000" b="1" dirty="0" err="1" smtClean="0">
                <a:solidFill>
                  <a:srgbClr val="0070C0"/>
                </a:solidFill>
              </a:rPr>
              <a:t>V</a:t>
            </a:r>
            <a:r>
              <a:rPr lang="en-US" sz="5400" baseline="30000" dirty="0" err="1" smtClean="0">
                <a:solidFill>
                  <a:srgbClr val="0070C0"/>
                </a:solidFill>
              </a:rPr>
              <a:t>x</a:t>
            </a:r>
            <a:r>
              <a:rPr lang="en-US" sz="8000" b="1" dirty="0" err="1" smtClean="0">
                <a:solidFill>
                  <a:srgbClr val="0070C0"/>
                </a:solidFill>
              </a:rPr>
              <a:t>V</a:t>
            </a:r>
            <a:r>
              <a:rPr lang="en-US" sz="8000" b="1" dirty="0" smtClean="0">
                <a:solidFill>
                  <a:srgbClr val="0070C0"/>
                </a:solidFill>
              </a:rPr>
              <a:t/>
            </a:r>
            <a:br>
              <a:rPr lang="en-US" sz="8000" b="1" dirty="0" smtClean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directed </a:t>
            </a:r>
            <a:r>
              <a:rPr lang="en-US" sz="2800" b="1" dirty="0" smtClean="0">
                <a:solidFill>
                  <a:srgbClr val="0070C0"/>
                </a:solidFill>
              </a:rPr>
              <a:t>edges</a:t>
            </a:r>
            <a:endParaRPr lang="ru-RU" sz="4800" b="1" dirty="0"/>
          </a:p>
        </p:txBody>
      </p:sp>
      <p:sp>
        <p:nvSpPr>
          <p:cNvPr id="4" name="Овал 3"/>
          <p:cNvSpPr/>
          <p:nvPr/>
        </p:nvSpPr>
        <p:spPr>
          <a:xfrm>
            <a:off x="6156176" y="33569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3635896" y="3573016"/>
            <a:ext cx="2376264" cy="7200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/>
          <p:cNvSpPr txBox="1">
            <a:spLocks/>
          </p:cNvSpPr>
          <p:nvPr/>
        </p:nvSpPr>
        <p:spPr>
          <a:xfrm>
            <a:off x="6374432" y="34290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2987824" y="3356993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707904" y="3068960"/>
            <a:ext cx="201622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A</a:t>
            </a:r>
            <a:endParaRPr lang="ru-RU" sz="2800" dirty="0" smtClean="0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1907704" y="4221088"/>
            <a:ext cx="6984776" cy="2448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/>
              <a:t>p</a:t>
            </a:r>
            <a:r>
              <a:rPr lang="en-US" sz="2800" baseline="-25000" dirty="0"/>
              <a:t>1</a:t>
            </a:r>
            <a:r>
              <a:rPr lang="en-US" sz="2800" dirty="0"/>
              <a:t>⁰ f(A)=    1  ---</a:t>
            </a:r>
            <a:r>
              <a:rPr lang="ru-RU" sz="2800" dirty="0"/>
              <a:t> </a:t>
            </a:r>
            <a:r>
              <a:rPr lang="en-US" sz="2800" dirty="0">
                <a:solidFill>
                  <a:srgbClr val="7030A0"/>
                </a:solidFill>
              </a:rPr>
              <a:t>edge start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800" dirty="0"/>
              <a:t>p</a:t>
            </a:r>
            <a:r>
              <a:rPr lang="en-US" sz="2800" baseline="-25000" dirty="0"/>
              <a:t>2</a:t>
            </a:r>
            <a:r>
              <a:rPr lang="en-US" sz="2800" dirty="0"/>
              <a:t>⁰ f(A)=    2</a:t>
            </a:r>
            <a:r>
              <a:rPr lang="ru-RU" sz="2800" dirty="0"/>
              <a:t>  -</a:t>
            </a:r>
            <a:r>
              <a:rPr lang="en-US" sz="2800" dirty="0"/>
              <a:t>-- </a:t>
            </a:r>
            <a:r>
              <a:rPr lang="en-US" sz="2800" dirty="0">
                <a:solidFill>
                  <a:srgbClr val="7030A0"/>
                </a:solidFill>
              </a:rPr>
              <a:t>edge end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f(A)=((p</a:t>
            </a:r>
            <a:r>
              <a:rPr lang="en-US" sz="2800" baseline="-25000" dirty="0"/>
              <a:t>1</a:t>
            </a:r>
            <a:r>
              <a:rPr lang="en-US" sz="2800" dirty="0"/>
              <a:t>⁰ f)(A), (p</a:t>
            </a:r>
            <a:r>
              <a:rPr lang="en-US" sz="2800" baseline="-25000" dirty="0"/>
              <a:t>2</a:t>
            </a:r>
            <a:r>
              <a:rPr lang="en-US" sz="2800" dirty="0"/>
              <a:t>⁰ f)(A))=(1,2)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6383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1"/>
            <a:ext cx="9144000" cy="1124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b="1" dirty="0">
                <a:solidFill>
                  <a:srgbClr val="0070C0"/>
                </a:solidFill>
              </a:rPr>
              <a:t>Edges</a:t>
            </a:r>
            <a:endParaRPr lang="ru-RU" sz="6000" b="1" dirty="0" smtClean="0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0" y="980728"/>
            <a:ext cx="9144000" cy="2448272"/>
          </a:xfrm>
        </p:spPr>
        <p:txBody>
          <a:bodyPr>
            <a:noAutofit/>
          </a:bodyPr>
          <a:lstStyle/>
          <a:p>
            <a:pPr lvl="0"/>
            <a:r>
              <a:rPr lang="en-US" sz="8000" b="1" dirty="0" smtClean="0">
                <a:solidFill>
                  <a:srgbClr val="0070C0"/>
                </a:solidFill>
              </a:rPr>
              <a:t>f : E</a:t>
            </a:r>
            <a:r>
              <a:rPr lang="ru-RU" sz="8000" dirty="0" smtClean="0">
                <a:solidFill>
                  <a:srgbClr val="0070C0"/>
                </a:solidFill>
              </a:rPr>
              <a:t> → </a:t>
            </a:r>
            <a:r>
              <a:rPr lang="en-US" sz="8000" b="1" dirty="0" err="1" smtClean="0">
                <a:solidFill>
                  <a:srgbClr val="0070C0"/>
                </a:solidFill>
              </a:rPr>
              <a:t>V</a:t>
            </a:r>
            <a:r>
              <a:rPr lang="en-US" sz="5400" baseline="30000" dirty="0" err="1" smtClean="0">
                <a:solidFill>
                  <a:srgbClr val="0070C0"/>
                </a:solidFill>
              </a:rPr>
              <a:t>x</a:t>
            </a:r>
            <a:r>
              <a:rPr lang="en-US" sz="8000" b="1" dirty="0" err="1" smtClean="0">
                <a:solidFill>
                  <a:srgbClr val="0070C0"/>
                </a:solidFill>
              </a:rPr>
              <a:t>V</a:t>
            </a:r>
            <a:r>
              <a:rPr lang="en-US" sz="8000" b="1" dirty="0" smtClean="0">
                <a:solidFill>
                  <a:srgbClr val="0070C0"/>
                </a:solidFill>
              </a:rPr>
              <a:t/>
            </a:r>
            <a:br>
              <a:rPr lang="en-US" sz="8000" b="1" dirty="0" smtClean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directed </a:t>
            </a:r>
            <a:r>
              <a:rPr lang="en-US" sz="2800" b="1" dirty="0" smtClean="0">
                <a:solidFill>
                  <a:srgbClr val="0070C0"/>
                </a:solidFill>
              </a:rPr>
              <a:t>edges</a:t>
            </a:r>
            <a:endParaRPr lang="ru-RU" sz="4800" b="1" dirty="0"/>
          </a:p>
        </p:txBody>
      </p:sp>
      <p:sp>
        <p:nvSpPr>
          <p:cNvPr id="4" name="Овал 3"/>
          <p:cNvSpPr/>
          <p:nvPr/>
        </p:nvSpPr>
        <p:spPr>
          <a:xfrm>
            <a:off x="6156176" y="33569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3635896" y="3573016"/>
            <a:ext cx="2376264" cy="7200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/>
          <p:cNvSpPr txBox="1">
            <a:spLocks/>
          </p:cNvSpPr>
          <p:nvPr/>
        </p:nvSpPr>
        <p:spPr>
          <a:xfrm>
            <a:off x="6374432" y="34290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2987824" y="3356993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707904" y="3068960"/>
            <a:ext cx="201622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A</a:t>
            </a:r>
            <a:endParaRPr lang="ru-RU" sz="2800" dirty="0" smtClean="0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1907704" y="4221088"/>
            <a:ext cx="6984776" cy="2448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Vertex</a:t>
            </a:r>
            <a:r>
              <a:rPr lang="ru-RU" sz="2800" dirty="0" smtClean="0"/>
              <a:t> </a:t>
            </a:r>
            <a:r>
              <a:rPr lang="en-US" sz="2800" dirty="0" smtClean="0"/>
              <a:t>1  -</a:t>
            </a:r>
            <a:r>
              <a:rPr lang="ru-RU" sz="2800" dirty="0" smtClean="0"/>
              <a:t> </a:t>
            </a:r>
            <a:r>
              <a:rPr lang="en-US" sz="2800" dirty="0">
                <a:solidFill>
                  <a:srgbClr val="7030A0"/>
                </a:solidFill>
              </a:rPr>
              <a:t>edge </a:t>
            </a:r>
            <a:r>
              <a:rPr lang="en-US" sz="2800" dirty="0" smtClean="0">
                <a:solidFill>
                  <a:srgbClr val="7030A0"/>
                </a:solidFill>
              </a:rPr>
              <a:t>start</a:t>
            </a:r>
            <a:r>
              <a:rPr lang="ru-RU" sz="2800" dirty="0" smtClean="0">
                <a:solidFill>
                  <a:srgbClr val="7030A0"/>
                </a:solidFill>
              </a:rPr>
              <a:t> </a:t>
            </a:r>
            <a:r>
              <a:rPr lang="ru-RU" sz="2800" dirty="0" smtClean="0"/>
              <a:t>(</a:t>
            </a:r>
            <a:r>
              <a:rPr lang="ru-RU" sz="2800" dirty="0"/>
              <a:t>1,2</a:t>
            </a:r>
            <a:r>
              <a:rPr lang="ru-RU" sz="2800" dirty="0" smtClean="0"/>
              <a:t>)</a:t>
            </a:r>
            <a:endParaRPr lang="en-US" sz="2800" dirty="0" smtClean="0"/>
          </a:p>
          <a:p>
            <a:pPr marL="514350" indent="-514350">
              <a:spcBef>
                <a:spcPct val="0"/>
              </a:spcBef>
            </a:pPr>
            <a:r>
              <a:rPr lang="en-US" sz="2800" dirty="0"/>
              <a:t>Vertex 2</a:t>
            </a:r>
            <a:r>
              <a:rPr lang="ru-RU" sz="2800" dirty="0" smtClean="0"/>
              <a:t>  </a:t>
            </a:r>
            <a:r>
              <a:rPr lang="en-US" sz="2800" dirty="0" smtClean="0"/>
              <a:t>- </a:t>
            </a:r>
            <a:r>
              <a:rPr lang="en-US" sz="2800" dirty="0">
                <a:solidFill>
                  <a:srgbClr val="7030A0"/>
                </a:solidFill>
              </a:rPr>
              <a:t>edge end</a:t>
            </a:r>
            <a:r>
              <a:rPr lang="ru-RU" sz="2800" dirty="0">
                <a:solidFill>
                  <a:srgbClr val="7030A0"/>
                </a:solidFill>
              </a:rPr>
              <a:t> </a:t>
            </a:r>
            <a:r>
              <a:rPr lang="ru-RU" sz="2800" dirty="0" smtClean="0"/>
              <a:t>(1,2)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Edge</a:t>
            </a:r>
            <a:r>
              <a:rPr lang="ru-RU" sz="2800" dirty="0" smtClean="0"/>
              <a:t> </a:t>
            </a:r>
            <a:r>
              <a:rPr lang="ru-RU" sz="2800" dirty="0"/>
              <a:t>(1,2) </a:t>
            </a:r>
            <a:r>
              <a:rPr lang="en-US" sz="2800" dirty="0"/>
              <a:t>is </a:t>
            </a:r>
            <a:r>
              <a:rPr lang="en-US" sz="2800" dirty="0">
                <a:solidFill>
                  <a:srgbClr val="7030A0"/>
                </a:solidFill>
              </a:rPr>
              <a:t>incident </a:t>
            </a:r>
            <a:r>
              <a:rPr lang="en-US" sz="2800" dirty="0"/>
              <a:t>to vertices </a:t>
            </a:r>
            <a:r>
              <a:rPr lang="ru-RU" sz="2800" dirty="0" smtClean="0"/>
              <a:t>1 </a:t>
            </a:r>
            <a:r>
              <a:rPr lang="en-US" sz="2800" dirty="0" smtClean="0"/>
              <a:t>and</a:t>
            </a:r>
            <a:r>
              <a:rPr lang="ru-RU" sz="2800" dirty="0" smtClean="0"/>
              <a:t> </a:t>
            </a:r>
            <a:r>
              <a:rPr lang="ru-RU" sz="2800" dirty="0"/>
              <a:t>2</a:t>
            </a:r>
            <a:endParaRPr lang="en-US" sz="2800" dirty="0"/>
          </a:p>
          <a:p>
            <a:pPr marL="514350" indent="-514350">
              <a:spcBef>
                <a:spcPct val="0"/>
              </a:spcBef>
            </a:pPr>
            <a:r>
              <a:rPr lang="en-US" sz="2800" dirty="0" smtClean="0"/>
              <a:t>Vertices </a:t>
            </a:r>
            <a:r>
              <a:rPr lang="ru-RU" sz="2800" dirty="0" smtClean="0"/>
              <a:t>1 </a:t>
            </a:r>
            <a:r>
              <a:rPr lang="en-US" sz="2800" dirty="0" smtClean="0"/>
              <a:t>and</a:t>
            </a:r>
            <a:r>
              <a:rPr lang="ru-RU" sz="2800" dirty="0" smtClean="0"/>
              <a:t> </a:t>
            </a:r>
            <a:r>
              <a:rPr lang="ru-RU" sz="2800" dirty="0"/>
              <a:t>2 </a:t>
            </a:r>
            <a:r>
              <a:rPr lang="en-US" sz="2800" dirty="0"/>
              <a:t>is </a:t>
            </a:r>
            <a:r>
              <a:rPr lang="en-US" sz="2800" dirty="0" smtClean="0">
                <a:solidFill>
                  <a:srgbClr val="7030A0"/>
                </a:solidFill>
              </a:rPr>
              <a:t>incident</a:t>
            </a:r>
            <a:r>
              <a:rPr lang="ru-RU" sz="2800" dirty="0" smtClean="0">
                <a:solidFill>
                  <a:srgbClr val="7030A0"/>
                </a:solidFill>
              </a:rPr>
              <a:t> </a:t>
            </a:r>
            <a:r>
              <a:rPr lang="en-US" sz="2800" dirty="0" smtClean="0"/>
              <a:t>to edge</a:t>
            </a:r>
            <a:r>
              <a:rPr lang="ru-RU" sz="2800" dirty="0" smtClean="0"/>
              <a:t> (</a:t>
            </a:r>
            <a:r>
              <a:rPr lang="ru-RU" sz="2800" dirty="0"/>
              <a:t>1,2)</a:t>
            </a:r>
            <a:endParaRPr lang="en-US" sz="2800" dirty="0"/>
          </a:p>
          <a:p>
            <a:pPr marL="514350" lvl="0" indent="-514350">
              <a:spcBef>
                <a:spcPct val="0"/>
              </a:spcBef>
            </a:pPr>
            <a:r>
              <a:rPr lang="en-US" sz="2800" dirty="0"/>
              <a:t>f</a:t>
            </a:r>
            <a:r>
              <a:rPr lang="en-US" sz="2800" dirty="0" smtClean="0"/>
              <a:t>(A)</a:t>
            </a:r>
            <a:r>
              <a:rPr lang="ru-RU" sz="2800" dirty="0" smtClean="0"/>
              <a:t> </a:t>
            </a:r>
            <a:r>
              <a:rPr lang="en-US" sz="2800" dirty="0" smtClean="0"/>
              <a:t>=</a:t>
            </a:r>
            <a:r>
              <a:rPr lang="ru-RU" sz="2800" dirty="0" smtClean="0"/>
              <a:t> </a:t>
            </a:r>
            <a:r>
              <a:rPr lang="en-US" sz="2800" dirty="0" smtClean="0"/>
              <a:t>(1,2)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226786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Овал 43"/>
          <p:cNvSpPr/>
          <p:nvPr/>
        </p:nvSpPr>
        <p:spPr>
          <a:xfrm>
            <a:off x="7524328" y="314096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4355976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3" name="Прямая со стрелкой 22"/>
          <p:cNvCxnSpPr>
            <a:stCxn id="46" idx="5"/>
            <a:endCxn id="44" idx="1"/>
          </p:cNvCxnSpPr>
          <p:nvPr/>
        </p:nvCxnSpPr>
        <p:spPr>
          <a:xfrm>
            <a:off x="4970603" y="2243427"/>
            <a:ext cx="2659178" cy="100299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6" idx="3"/>
            <a:endCxn id="44" idx="3"/>
          </p:cNvCxnSpPr>
          <p:nvPr/>
        </p:nvCxnSpPr>
        <p:spPr>
          <a:xfrm rot="16200000" flipH="1">
            <a:off x="5289521" y="1415335"/>
            <a:ext cx="1512168" cy="3168352"/>
          </a:xfrm>
          <a:prstGeom prst="curvedConnector3">
            <a:avLst>
              <a:gd name="adj1" fmla="val 101624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hape 27"/>
          <p:cNvCxnSpPr>
            <a:stCxn id="46" idx="4"/>
            <a:endCxn id="44" idx="2"/>
          </p:cNvCxnSpPr>
          <p:nvPr/>
        </p:nvCxnSpPr>
        <p:spPr>
          <a:xfrm rot="16200000" flipH="1">
            <a:off x="5544108" y="1520788"/>
            <a:ext cx="1152128" cy="2808312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Заголовок 1"/>
          <p:cNvSpPr txBox="1">
            <a:spLocks/>
          </p:cNvSpPr>
          <p:nvPr/>
        </p:nvSpPr>
        <p:spPr>
          <a:xfrm>
            <a:off x="4499992" y="1484784"/>
            <a:ext cx="367017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Multigraph</a:t>
            </a:r>
            <a:endParaRPr lang="ru-RU" sz="2800" dirty="0" smtClean="0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685800" y="-273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dirty="0"/>
              <a:t>Special cases</a:t>
            </a:r>
            <a:endParaRPr lang="ru-RU" sz="6000" b="1" dirty="0" smtClean="0"/>
          </a:p>
        </p:txBody>
      </p:sp>
    </p:spTree>
    <p:extLst>
      <p:ext uri="{BB962C8B-B14F-4D97-AF65-F5344CB8AC3E}">
        <p14:creationId xmlns:p14="http://schemas.microsoft.com/office/powerpoint/2010/main" val="337295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b="1" dirty="0" smtClean="0">
                <a:solidFill>
                  <a:srgbClr val="0070C0"/>
                </a:solidFill>
              </a:rPr>
              <a:t>Edges</a:t>
            </a:r>
            <a:endParaRPr lang="ru-RU" sz="6000" b="1" dirty="0" smtClean="0"/>
          </a:p>
        </p:txBody>
      </p:sp>
      <p:sp>
        <p:nvSpPr>
          <p:cNvPr id="4" name="Овал 3"/>
          <p:cNvSpPr/>
          <p:nvPr/>
        </p:nvSpPr>
        <p:spPr>
          <a:xfrm>
            <a:off x="5508104" y="429309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123728" y="422108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2987824" y="4509120"/>
            <a:ext cx="2376264" cy="72008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/>
          <p:cNvSpPr txBox="1">
            <a:spLocks/>
          </p:cNvSpPr>
          <p:nvPr/>
        </p:nvSpPr>
        <p:spPr>
          <a:xfrm>
            <a:off x="5726360" y="436510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2339752" y="4293097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059832" y="4005064"/>
            <a:ext cx="2016224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A</a:t>
            </a:r>
            <a:endParaRPr lang="ru-RU" sz="2800" dirty="0" smtClean="0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0" y="5301208"/>
            <a:ext cx="9144000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1600" dirty="0"/>
              <a:t>The vertices </a:t>
            </a:r>
            <a:r>
              <a:rPr lang="en-US" sz="1600" dirty="0" smtClean="0"/>
              <a:t>1</a:t>
            </a:r>
            <a:r>
              <a:rPr lang="en-US" sz="1600" dirty="0"/>
              <a:t> and </a:t>
            </a:r>
            <a:r>
              <a:rPr lang="en-US" sz="1600" i="1" dirty="0"/>
              <a:t>2</a:t>
            </a:r>
            <a:r>
              <a:rPr lang="en-US" sz="1600" dirty="0"/>
              <a:t> of an edge </a:t>
            </a:r>
            <a:r>
              <a:rPr lang="en-US" sz="1600" dirty="0" smtClean="0"/>
              <a:t>{</a:t>
            </a:r>
            <a:r>
              <a:rPr lang="en-US" sz="1600" i="1" dirty="0"/>
              <a:t>1</a:t>
            </a:r>
            <a:r>
              <a:rPr lang="en-US" sz="1600" dirty="0" smtClean="0"/>
              <a:t>,</a:t>
            </a:r>
            <a:r>
              <a:rPr lang="en-US" sz="1600" dirty="0"/>
              <a:t> </a:t>
            </a:r>
            <a:r>
              <a:rPr lang="en-US" sz="1600" dirty="0" smtClean="0"/>
              <a:t>2}</a:t>
            </a:r>
            <a:r>
              <a:rPr lang="en-US" sz="1600" dirty="0"/>
              <a:t> are called the </a:t>
            </a:r>
            <a:r>
              <a:rPr lang="en-US" sz="1600" i="1" dirty="0"/>
              <a:t>endpoints</a:t>
            </a:r>
            <a:r>
              <a:rPr lang="en-US" sz="1600" dirty="0"/>
              <a:t> of the edge</a:t>
            </a:r>
            <a:r>
              <a:rPr lang="en-US" sz="1600" dirty="0" smtClean="0"/>
              <a:t>.</a:t>
            </a:r>
            <a:endParaRPr lang="ru-RU" sz="16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16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1600" dirty="0" smtClean="0"/>
              <a:t>The </a:t>
            </a:r>
            <a:r>
              <a:rPr lang="en-US" sz="1600" dirty="0"/>
              <a:t>edge is said to </a:t>
            </a:r>
            <a:r>
              <a:rPr lang="en-US" sz="1600" i="1" dirty="0"/>
              <a:t>join</a:t>
            </a:r>
            <a:r>
              <a:rPr lang="en-US" sz="1600" dirty="0"/>
              <a:t> </a:t>
            </a:r>
            <a:r>
              <a:rPr lang="ru-RU" sz="1600" dirty="0" smtClean="0"/>
              <a:t>1</a:t>
            </a:r>
            <a:r>
              <a:rPr lang="en-US" sz="1600" dirty="0"/>
              <a:t> and </a:t>
            </a:r>
            <a:r>
              <a:rPr lang="ru-RU" sz="1600" i="1" dirty="0"/>
              <a:t>2</a:t>
            </a:r>
            <a:r>
              <a:rPr lang="en-US" sz="1600" dirty="0"/>
              <a:t> and to be </a:t>
            </a:r>
            <a:r>
              <a:rPr lang="en-US" sz="1600" i="1" dirty="0"/>
              <a:t>incident</a:t>
            </a:r>
            <a:r>
              <a:rPr lang="en-US" sz="1600" dirty="0"/>
              <a:t> on </a:t>
            </a:r>
            <a:r>
              <a:rPr lang="ru-RU" sz="1600" dirty="0" smtClean="0"/>
              <a:t>1</a:t>
            </a:r>
            <a:r>
              <a:rPr lang="en-US" sz="1600" dirty="0"/>
              <a:t> and </a:t>
            </a:r>
            <a:r>
              <a:rPr lang="ru-RU" sz="1600" i="1" dirty="0"/>
              <a:t>2</a:t>
            </a:r>
            <a:r>
              <a:rPr lang="en-US" sz="1600" dirty="0" smtClean="0"/>
              <a:t>.</a:t>
            </a:r>
            <a:endParaRPr lang="ru-RU" sz="16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16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1600" dirty="0" smtClean="0"/>
              <a:t>A </a:t>
            </a:r>
            <a:r>
              <a:rPr lang="en-US" sz="1600" dirty="0"/>
              <a:t>vertex may belong to no edge, in which case it is not joined to any other </a:t>
            </a:r>
            <a:r>
              <a:rPr lang="en-US" sz="1600" dirty="0" smtClean="0"/>
              <a:t>vertex</a:t>
            </a:r>
            <a:r>
              <a:rPr lang="ru-RU" sz="1600" dirty="0" smtClean="0"/>
              <a:t> (</a:t>
            </a:r>
            <a:r>
              <a:rPr lang="en-US" sz="1600" dirty="0"/>
              <a:t>isolated vertex</a:t>
            </a:r>
            <a:r>
              <a:rPr lang="ru-RU" sz="1600" dirty="0" smtClean="0"/>
              <a:t>)</a:t>
            </a:r>
            <a:r>
              <a:rPr lang="en-US" sz="1600" dirty="0" smtClean="0"/>
              <a:t>.</a:t>
            </a:r>
            <a:endParaRPr lang="ru-RU" sz="1600" dirty="0" smtClean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0" y="1340768"/>
            <a:ext cx="9144000" cy="24482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smtClean="0">
                <a:solidFill>
                  <a:srgbClr val="0070C0"/>
                </a:solidFill>
              </a:rPr>
              <a:t>f : E</a:t>
            </a:r>
            <a:r>
              <a:rPr lang="ru-RU" sz="8000" smtClean="0">
                <a:solidFill>
                  <a:srgbClr val="0070C0"/>
                </a:solidFill>
              </a:rPr>
              <a:t> → </a:t>
            </a:r>
            <a:r>
              <a:rPr lang="en-US" sz="8000" b="1" smtClean="0">
                <a:solidFill>
                  <a:srgbClr val="0070C0"/>
                </a:solidFill>
              </a:rPr>
              <a:t>V</a:t>
            </a:r>
            <a:r>
              <a:rPr lang="en-US" sz="5400" baseline="30000" smtClean="0">
                <a:solidFill>
                  <a:srgbClr val="0070C0"/>
                </a:solidFill>
              </a:rPr>
              <a:t>x</a:t>
            </a:r>
            <a:r>
              <a:rPr lang="en-US" sz="8000" b="1" smtClean="0">
                <a:solidFill>
                  <a:srgbClr val="0070C0"/>
                </a:solidFill>
              </a:rPr>
              <a:t>V</a:t>
            </a:r>
            <a:br>
              <a:rPr lang="en-US" sz="8000" b="1" smtClean="0">
                <a:solidFill>
                  <a:srgbClr val="0070C0"/>
                </a:solidFill>
              </a:rPr>
            </a:br>
            <a:r>
              <a:rPr lang="en-US" sz="2800" b="1" smtClean="0">
                <a:solidFill>
                  <a:srgbClr val="0070C0"/>
                </a:solidFill>
              </a:rPr>
              <a:t>directed edges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23943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Овал 43"/>
          <p:cNvSpPr/>
          <p:nvPr/>
        </p:nvSpPr>
        <p:spPr>
          <a:xfrm>
            <a:off x="7524328" y="314096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4355976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3" name="Прямая со стрелкой 22"/>
          <p:cNvCxnSpPr>
            <a:stCxn id="46" idx="5"/>
            <a:endCxn id="44" idx="1"/>
          </p:cNvCxnSpPr>
          <p:nvPr/>
        </p:nvCxnSpPr>
        <p:spPr>
          <a:xfrm>
            <a:off x="4970603" y="2243427"/>
            <a:ext cx="2659178" cy="100299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hape 27"/>
          <p:cNvCxnSpPr>
            <a:stCxn id="46" idx="3"/>
            <a:endCxn id="11" idx="7"/>
          </p:cNvCxnSpPr>
          <p:nvPr/>
        </p:nvCxnSpPr>
        <p:spPr>
          <a:xfrm rot="5400000">
            <a:off x="2937657" y="1468061"/>
            <a:ext cx="748407" cy="2299138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hape 27"/>
          <p:cNvCxnSpPr>
            <a:stCxn id="46" idx="4"/>
            <a:endCxn id="14" idx="0"/>
          </p:cNvCxnSpPr>
          <p:nvPr/>
        </p:nvCxnSpPr>
        <p:spPr>
          <a:xfrm rot="5400000">
            <a:off x="3771769" y="2739339"/>
            <a:ext cx="1334706" cy="553789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Заголовок 1"/>
          <p:cNvSpPr txBox="1">
            <a:spLocks/>
          </p:cNvSpPr>
          <p:nvPr/>
        </p:nvSpPr>
        <p:spPr>
          <a:xfrm>
            <a:off x="809822" y="4758589"/>
            <a:ext cx="763284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The </a:t>
            </a:r>
            <a:r>
              <a:rPr lang="en-US" sz="2800" i="1" dirty="0"/>
              <a:t>order</a:t>
            </a:r>
            <a:r>
              <a:rPr lang="en-US" sz="2800" dirty="0"/>
              <a:t> of a graph is its number of vertices |</a:t>
            </a:r>
            <a:r>
              <a:rPr lang="en-US" sz="2800" i="1" dirty="0"/>
              <a:t>V</a:t>
            </a:r>
            <a:r>
              <a:rPr lang="en-US" sz="2800" dirty="0" smtClean="0"/>
              <a:t>|.</a:t>
            </a:r>
            <a:endParaRPr lang="ru-RU" sz="28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 </a:t>
            </a:r>
            <a:r>
              <a:rPr lang="en-US" sz="2800" dirty="0"/>
              <a:t>The </a:t>
            </a:r>
            <a:r>
              <a:rPr lang="en-US" sz="2800" i="1" dirty="0"/>
              <a:t>size</a:t>
            </a:r>
            <a:r>
              <a:rPr lang="en-US" sz="2800" dirty="0"/>
              <a:t> of a graph is its number of edges |</a:t>
            </a:r>
            <a:r>
              <a:rPr lang="en-US" sz="2800" i="1" dirty="0"/>
              <a:t>E</a:t>
            </a:r>
            <a:r>
              <a:rPr lang="en-US" sz="2800" dirty="0"/>
              <a:t>|</a:t>
            </a:r>
            <a:endParaRPr lang="ru-RU" sz="2800" dirty="0" smtClean="0"/>
          </a:p>
        </p:txBody>
      </p:sp>
      <p:sp>
        <p:nvSpPr>
          <p:cNvPr id="17" name="Заголовок 1"/>
          <p:cNvSpPr txBox="1">
            <a:spLocks/>
          </p:cNvSpPr>
          <p:nvPr/>
        </p:nvSpPr>
        <p:spPr>
          <a:xfrm>
            <a:off x="685800" y="-2738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6000" smtClean="0"/>
              <a:t>Metrics</a:t>
            </a:r>
            <a:endParaRPr lang="ru-RU" sz="6000" b="1" dirty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7668344" y="321297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4499992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1" name="Овал 10"/>
          <p:cNvSpPr/>
          <p:nvPr/>
        </p:nvSpPr>
        <p:spPr>
          <a:xfrm>
            <a:off x="1547664" y="2886381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1691680" y="29583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3</a:t>
            </a:r>
            <a:endParaRPr lang="ru-RU" sz="2800" b="1" dirty="0" smtClean="0"/>
          </a:p>
        </p:txBody>
      </p:sp>
      <p:sp>
        <p:nvSpPr>
          <p:cNvPr id="14" name="Овал 13"/>
          <p:cNvSpPr/>
          <p:nvPr/>
        </p:nvSpPr>
        <p:spPr>
          <a:xfrm>
            <a:off x="3802187" y="368358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3946203" y="375559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4</a:t>
            </a:r>
            <a:endParaRPr lang="ru-RU" sz="2800" b="1" dirty="0" smtClean="0"/>
          </a:p>
        </p:txBody>
      </p:sp>
      <p:cxnSp>
        <p:nvCxnSpPr>
          <p:cNvPr id="19" name="Прямая со стрелкой 18"/>
          <p:cNvCxnSpPr>
            <a:stCxn id="44" idx="2"/>
            <a:endCxn id="14" idx="6"/>
          </p:cNvCxnSpPr>
          <p:nvPr/>
        </p:nvCxnSpPr>
        <p:spPr>
          <a:xfrm flipH="1">
            <a:off x="4522267" y="3501008"/>
            <a:ext cx="3002061" cy="54261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Path</a:t>
            </a:r>
            <a:r>
              <a:rPr lang="ru-RU" dirty="0" smtClean="0"/>
              <a:t>/ </a:t>
            </a:r>
            <a:r>
              <a:rPr lang="en-US" dirty="0" smtClean="0"/>
              <a:t>Chain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Undirected graph (graph)</a:t>
            </a:r>
            <a:endParaRPr lang="ru-RU" sz="2800" dirty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3995936" y="1484784"/>
            <a:ext cx="5148064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A </a:t>
            </a:r>
            <a:r>
              <a:rPr lang="en-US" sz="2800" b="1" dirty="0" smtClean="0"/>
              <a:t>LINK</a:t>
            </a:r>
            <a:r>
              <a:rPr lang="ru-RU" sz="2800" dirty="0" smtClean="0"/>
              <a:t> </a:t>
            </a:r>
            <a:r>
              <a:rPr lang="en-US" sz="2800" dirty="0" smtClean="0"/>
              <a:t>is a set of two vertices.</a:t>
            </a:r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{</a:t>
            </a:r>
            <a:r>
              <a:rPr lang="ru-RU" sz="2800" dirty="0" smtClean="0"/>
              <a:t>1,3</a:t>
            </a:r>
            <a:r>
              <a:rPr lang="en-US" sz="2800" dirty="0" smtClean="0"/>
              <a:t>}</a:t>
            </a:r>
          </a:p>
        </p:txBody>
      </p:sp>
      <p:sp>
        <p:nvSpPr>
          <p:cNvPr id="17" name="Овал 16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339752" y="3461284"/>
            <a:ext cx="6804248" cy="1839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400" dirty="0"/>
              <a:t>Vertices 1 and 2 are called the </a:t>
            </a:r>
            <a:r>
              <a:rPr lang="en-US" sz="2400" dirty="0" smtClean="0"/>
              <a:t>endpoints of link {1,2}</a:t>
            </a:r>
            <a:r>
              <a:rPr lang="ru-RU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Undirected graph (graph)</a:t>
            </a:r>
            <a:endParaRPr lang="ru-RU" sz="2800" dirty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3707904" y="1484784"/>
            <a:ext cx="5436096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CHAIN </a:t>
            </a:r>
            <a:r>
              <a:rPr lang="en-US" sz="2800" dirty="0"/>
              <a:t>between two vertices is a sequence of links where every link has exactly</a:t>
            </a:r>
            <a:r>
              <a:rPr lang="ru-RU" sz="2800" dirty="0"/>
              <a:t> </a:t>
            </a:r>
            <a:r>
              <a:rPr lang="en-US" sz="2800" dirty="0"/>
              <a:t>one vertex in common with the previous </a:t>
            </a:r>
            <a:r>
              <a:rPr lang="en-US" sz="2800" dirty="0" smtClean="0"/>
              <a:t>vertex</a:t>
            </a:r>
            <a:r>
              <a:rPr lang="ru-RU" sz="2800" dirty="0" smtClean="0"/>
              <a:t>…</a:t>
            </a:r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  <a:p>
            <a:endParaRPr lang="ru-RU" sz="2800" dirty="0"/>
          </a:p>
          <a:p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({</a:t>
            </a:r>
            <a:r>
              <a:rPr lang="ru-RU" sz="2800" dirty="0" smtClean="0"/>
              <a:t>1,</a:t>
            </a:r>
            <a:r>
              <a:rPr lang="ru-RU" sz="2800" b="1" dirty="0" smtClean="0">
                <a:solidFill>
                  <a:srgbClr val="92D050"/>
                </a:solidFill>
              </a:rPr>
              <a:t>3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b="1" dirty="0" smtClean="0">
                <a:solidFill>
                  <a:srgbClr val="92D050"/>
                </a:solidFill>
              </a:rPr>
              <a:t>3</a:t>
            </a:r>
            <a:r>
              <a:rPr lang="ru-RU" sz="2800" dirty="0" smtClean="0"/>
              <a:t>,</a:t>
            </a:r>
            <a:r>
              <a:rPr lang="ru-RU" sz="2800" b="1" dirty="0" smtClean="0">
                <a:solidFill>
                  <a:srgbClr val="00B0F0"/>
                </a:solidFill>
              </a:rPr>
              <a:t>2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4,</a:t>
            </a:r>
            <a:r>
              <a:rPr lang="ru-RU" sz="2800" b="1" dirty="0" smtClean="0">
                <a:solidFill>
                  <a:srgbClr val="00B0F0"/>
                </a:solidFill>
              </a:rPr>
              <a:t>2</a:t>
            </a:r>
            <a:r>
              <a:rPr lang="en-US" sz="2800" dirty="0" smtClean="0"/>
              <a:t>})</a:t>
            </a:r>
          </a:p>
        </p:txBody>
      </p:sp>
      <p:sp>
        <p:nvSpPr>
          <p:cNvPr id="33" name="Овал 32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Прямая со стрелкой 40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46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47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48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Undirected graph (graph)</a:t>
            </a:r>
            <a:endParaRPr lang="ru-RU" sz="2800" dirty="0"/>
          </a:p>
        </p:txBody>
      </p:sp>
      <p:sp>
        <p:nvSpPr>
          <p:cNvPr id="33" name="Овал 32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Прямая со стрелкой 40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 flipV="1">
            <a:off x="1475656" y="3861048"/>
            <a:ext cx="936104" cy="50405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46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47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48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3707904" y="1484784"/>
            <a:ext cx="5436096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CHAIN </a:t>
            </a:r>
            <a:r>
              <a:rPr lang="en-US" sz="2800" dirty="0"/>
              <a:t>between two vertices is a sequence of links where every link has exactly</a:t>
            </a:r>
            <a:r>
              <a:rPr lang="ru-RU" sz="2800" dirty="0"/>
              <a:t> </a:t>
            </a:r>
            <a:r>
              <a:rPr lang="en-US" sz="2800" dirty="0"/>
              <a:t>one vertex in common with the previous </a:t>
            </a:r>
            <a:r>
              <a:rPr lang="en-US" sz="2800" dirty="0" smtClean="0"/>
              <a:t>vertex</a:t>
            </a:r>
            <a:r>
              <a:rPr lang="ru-RU" sz="2800" dirty="0" smtClean="0"/>
              <a:t>…</a:t>
            </a:r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ru-RU" sz="2800" dirty="0"/>
          </a:p>
          <a:p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({</a:t>
            </a:r>
            <a:r>
              <a:rPr lang="ru-RU" sz="2800" dirty="0" smtClean="0"/>
              <a:t>1,</a:t>
            </a:r>
            <a:r>
              <a:rPr lang="ru-RU" sz="2800" b="1" dirty="0" smtClean="0">
                <a:solidFill>
                  <a:srgbClr val="FF0000"/>
                </a:solidFill>
              </a:rPr>
              <a:t>3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b="1" dirty="0" smtClean="0">
                <a:solidFill>
                  <a:srgbClr val="FF0000"/>
                </a:solidFill>
              </a:rPr>
              <a:t>3</a:t>
            </a:r>
            <a:r>
              <a:rPr lang="ru-RU" sz="2800" dirty="0" smtClean="0"/>
              <a:t>,2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4,</a:t>
            </a:r>
            <a:r>
              <a:rPr lang="en-US" sz="2800" b="1" dirty="0" smtClean="0">
                <a:solidFill>
                  <a:srgbClr val="FF0000"/>
                </a:solidFill>
              </a:rPr>
              <a:t>3</a:t>
            </a:r>
            <a:r>
              <a:rPr lang="en-US" sz="2800" dirty="0" smtClean="0"/>
              <a:t>})</a:t>
            </a:r>
            <a:endParaRPr lang="ru-RU" sz="2800" dirty="0" smtClean="0"/>
          </a:p>
        </p:txBody>
      </p:sp>
      <p:sp>
        <p:nvSpPr>
          <p:cNvPr id="16" name="Овал 15"/>
          <p:cNvSpPr/>
          <p:nvPr/>
        </p:nvSpPr>
        <p:spPr>
          <a:xfrm>
            <a:off x="2699792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1331640" y="4720362"/>
            <a:ext cx="133065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Заголовок 1"/>
          <p:cNvSpPr txBox="1">
            <a:spLocks/>
          </p:cNvSpPr>
          <p:nvPr/>
        </p:nvSpPr>
        <p:spPr>
          <a:xfrm>
            <a:off x="2843808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5</a:t>
            </a:r>
            <a:endParaRPr lang="ru-RU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3755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Undirected graph (graph)</a:t>
            </a:r>
            <a:endParaRPr lang="ru-RU" sz="2800" dirty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3707904" y="1484784"/>
            <a:ext cx="5436096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CHAIN </a:t>
            </a:r>
            <a:r>
              <a:rPr lang="en-US" sz="2800" dirty="0"/>
              <a:t>between two vertices is a sequence of </a:t>
            </a:r>
            <a:r>
              <a:rPr lang="en-US" sz="2800" dirty="0">
                <a:solidFill>
                  <a:srgbClr val="7030A0"/>
                </a:solidFill>
              </a:rPr>
              <a:t>links</a:t>
            </a:r>
            <a:r>
              <a:rPr lang="en-US" sz="2800" dirty="0"/>
              <a:t> where every </a:t>
            </a:r>
            <a:r>
              <a:rPr lang="en-US" sz="2800" dirty="0">
                <a:solidFill>
                  <a:srgbClr val="7030A0"/>
                </a:solidFill>
              </a:rPr>
              <a:t>link</a:t>
            </a:r>
            <a:r>
              <a:rPr lang="en-US" sz="2800" dirty="0"/>
              <a:t> has exactly</a:t>
            </a:r>
            <a:r>
              <a:rPr lang="ru-RU" sz="2800" dirty="0"/>
              <a:t> </a:t>
            </a:r>
            <a:r>
              <a:rPr lang="en-US" sz="2800" dirty="0"/>
              <a:t>one vertex in common with the previous </a:t>
            </a:r>
            <a:r>
              <a:rPr lang="en-US" sz="2800" dirty="0" smtClean="0"/>
              <a:t>vertex and</a:t>
            </a:r>
            <a:endParaRPr lang="ru-RU" sz="2800" dirty="0" smtClean="0"/>
          </a:p>
          <a:p>
            <a:endParaRPr lang="en-US" sz="2800" dirty="0" smtClean="0"/>
          </a:p>
          <a:p>
            <a:r>
              <a:rPr lang="en-US" sz="2800" dirty="0"/>
              <a:t>the common vertex of </a:t>
            </a:r>
            <a:r>
              <a:rPr lang="en-US" sz="2800" dirty="0">
                <a:solidFill>
                  <a:srgbClr val="7030A0"/>
                </a:solidFill>
              </a:rPr>
              <a:t>link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with</a:t>
            </a:r>
          </a:p>
          <a:p>
            <a:r>
              <a:rPr lang="en-US" sz="2800" dirty="0">
                <a:solidFill>
                  <a:srgbClr val="7030A0"/>
                </a:solidFill>
              </a:rPr>
              <a:t>link</a:t>
            </a:r>
            <a:r>
              <a:rPr lang="en-US" sz="2800" dirty="0"/>
              <a:t> i-1 is different from the</a:t>
            </a:r>
            <a:endParaRPr lang="en-US" sz="2800" dirty="0" smtClean="0"/>
          </a:p>
          <a:p>
            <a:r>
              <a:rPr lang="en-US" sz="2800" dirty="0"/>
              <a:t>common vertex of </a:t>
            </a:r>
            <a:r>
              <a:rPr lang="en-US" sz="2800" dirty="0">
                <a:solidFill>
                  <a:srgbClr val="7030A0"/>
                </a:solidFill>
              </a:rPr>
              <a:t>link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with </a:t>
            </a:r>
            <a:r>
              <a:rPr lang="en-US" sz="2800" dirty="0">
                <a:solidFill>
                  <a:srgbClr val="7030A0"/>
                </a:solidFill>
              </a:rPr>
              <a:t>link</a:t>
            </a:r>
            <a:r>
              <a:rPr lang="en-US" sz="2800" dirty="0"/>
              <a:t> i+1</a:t>
            </a:r>
          </a:p>
          <a:p>
            <a:r>
              <a:rPr lang="en-US" sz="2800" dirty="0"/>
              <a:t>(for all </a:t>
            </a:r>
            <a:r>
              <a:rPr lang="en-US" sz="2800" dirty="0" err="1"/>
              <a:t>i</a:t>
            </a:r>
            <a:r>
              <a:rPr lang="en-US" sz="2800" dirty="0"/>
              <a:t> except the first and last</a:t>
            </a:r>
            <a:endParaRPr lang="en-US" sz="2800" dirty="0" smtClean="0"/>
          </a:p>
          <a:p>
            <a:r>
              <a:rPr lang="en-US" sz="2800" dirty="0"/>
              <a:t>number in the sequence)</a:t>
            </a:r>
          </a:p>
          <a:p>
            <a:endParaRPr lang="en-US" sz="2800" dirty="0" smtClean="0"/>
          </a:p>
          <a:p>
            <a:endParaRPr lang="ru-RU" sz="2800" dirty="0"/>
          </a:p>
          <a:p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({</a:t>
            </a:r>
            <a:r>
              <a:rPr lang="ru-RU" sz="2800" dirty="0" smtClean="0"/>
              <a:t>1,</a:t>
            </a:r>
            <a:r>
              <a:rPr lang="ru-RU" sz="2800" b="1" dirty="0" smtClean="0">
                <a:solidFill>
                  <a:srgbClr val="92D050"/>
                </a:solidFill>
              </a:rPr>
              <a:t>3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b="1" dirty="0" smtClean="0">
                <a:solidFill>
                  <a:srgbClr val="92D050"/>
                </a:solidFill>
              </a:rPr>
              <a:t>3</a:t>
            </a:r>
            <a:r>
              <a:rPr lang="ru-RU" sz="2800" dirty="0" smtClean="0"/>
              <a:t>,</a:t>
            </a:r>
            <a:r>
              <a:rPr lang="ru-RU" sz="2800" b="1" dirty="0" smtClean="0">
                <a:solidFill>
                  <a:srgbClr val="00B0F0"/>
                </a:solidFill>
              </a:rPr>
              <a:t>2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4,</a:t>
            </a:r>
            <a:r>
              <a:rPr lang="ru-RU" sz="2800" b="1" dirty="0" smtClean="0">
                <a:solidFill>
                  <a:srgbClr val="00B0F0"/>
                </a:solidFill>
              </a:rPr>
              <a:t>2</a:t>
            </a:r>
            <a:r>
              <a:rPr lang="en-US" sz="2800" dirty="0" smtClean="0"/>
              <a:t>})</a:t>
            </a:r>
          </a:p>
        </p:txBody>
      </p:sp>
      <p:sp>
        <p:nvSpPr>
          <p:cNvPr id="33" name="Овал 32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Прямая со стрелкой 40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46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47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48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26834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Undirected graph (graph)</a:t>
            </a:r>
            <a:endParaRPr lang="ru-RU" sz="2800" dirty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3707904" y="1484784"/>
            <a:ext cx="5436096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CHAIN </a:t>
            </a:r>
            <a:r>
              <a:rPr lang="en-US" sz="2800" dirty="0"/>
              <a:t>between two vertices is a sequence of </a:t>
            </a:r>
            <a:r>
              <a:rPr lang="en-US" sz="2800" dirty="0" smtClean="0">
                <a:solidFill>
                  <a:srgbClr val="7030A0"/>
                </a:solidFill>
              </a:rPr>
              <a:t>edges</a:t>
            </a:r>
            <a:r>
              <a:rPr lang="en-US" sz="2800" dirty="0" smtClean="0"/>
              <a:t> where </a:t>
            </a:r>
            <a:r>
              <a:rPr lang="en-US" sz="2800" dirty="0"/>
              <a:t>every </a:t>
            </a:r>
            <a:r>
              <a:rPr lang="en-US" sz="2800" dirty="0" smtClean="0">
                <a:solidFill>
                  <a:srgbClr val="7030A0"/>
                </a:solidFill>
              </a:rPr>
              <a:t>edge</a:t>
            </a:r>
            <a:r>
              <a:rPr lang="en-US" sz="2800" dirty="0" smtClean="0"/>
              <a:t> has </a:t>
            </a:r>
            <a:r>
              <a:rPr lang="en-US" sz="2800" dirty="0"/>
              <a:t>exactly</a:t>
            </a:r>
            <a:r>
              <a:rPr lang="ru-RU" sz="2800" dirty="0"/>
              <a:t> </a:t>
            </a:r>
            <a:r>
              <a:rPr lang="en-US" sz="2800" dirty="0"/>
              <a:t>one vertex in common with the previous </a:t>
            </a:r>
            <a:r>
              <a:rPr lang="en-US" sz="2800" dirty="0" smtClean="0"/>
              <a:t>vertex and</a:t>
            </a:r>
            <a:endParaRPr lang="ru-RU" sz="2800" dirty="0" smtClean="0"/>
          </a:p>
          <a:p>
            <a:endParaRPr lang="en-US" sz="2800" dirty="0" smtClean="0"/>
          </a:p>
          <a:p>
            <a:r>
              <a:rPr lang="en-US" sz="2800" dirty="0"/>
              <a:t>the common vertex of </a:t>
            </a:r>
            <a:r>
              <a:rPr lang="en-US" sz="2800" dirty="0" smtClean="0">
                <a:solidFill>
                  <a:srgbClr val="7030A0"/>
                </a:solidFill>
              </a:rPr>
              <a:t>edge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</a:t>
            </a:r>
            <a:r>
              <a:rPr lang="en-US" sz="2800" dirty="0"/>
              <a:t>with</a:t>
            </a:r>
          </a:p>
          <a:p>
            <a:r>
              <a:rPr lang="en-US" sz="2800" dirty="0" smtClean="0">
                <a:solidFill>
                  <a:srgbClr val="7030A0"/>
                </a:solidFill>
              </a:rPr>
              <a:t>edge</a:t>
            </a:r>
            <a:r>
              <a:rPr lang="en-US" sz="2800" dirty="0" smtClean="0"/>
              <a:t> i-1 </a:t>
            </a:r>
            <a:r>
              <a:rPr lang="en-US" sz="2800" dirty="0"/>
              <a:t>is different from the</a:t>
            </a:r>
            <a:endParaRPr lang="en-US" sz="2800" dirty="0" smtClean="0"/>
          </a:p>
          <a:p>
            <a:r>
              <a:rPr lang="en-US" sz="2800" dirty="0"/>
              <a:t>common vertex of </a:t>
            </a:r>
            <a:r>
              <a:rPr lang="en-US" sz="2800" dirty="0" smtClean="0">
                <a:solidFill>
                  <a:srgbClr val="7030A0"/>
                </a:solidFill>
              </a:rPr>
              <a:t>edge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</a:t>
            </a:r>
            <a:r>
              <a:rPr lang="en-US" sz="2800" dirty="0"/>
              <a:t>with </a:t>
            </a:r>
            <a:r>
              <a:rPr lang="en-US" sz="2800" dirty="0" smtClean="0">
                <a:solidFill>
                  <a:srgbClr val="7030A0"/>
                </a:solidFill>
              </a:rPr>
              <a:t>edge</a:t>
            </a:r>
            <a:r>
              <a:rPr lang="en-US" sz="2800" dirty="0" smtClean="0"/>
              <a:t> i+1</a:t>
            </a:r>
            <a:endParaRPr lang="en-US" sz="2800" dirty="0"/>
          </a:p>
          <a:p>
            <a:r>
              <a:rPr lang="en-US" sz="2800" dirty="0"/>
              <a:t>(for all </a:t>
            </a:r>
            <a:r>
              <a:rPr lang="en-US" sz="2800" dirty="0" err="1"/>
              <a:t>i</a:t>
            </a:r>
            <a:r>
              <a:rPr lang="en-US" sz="2800" dirty="0"/>
              <a:t> except the first and last</a:t>
            </a:r>
            <a:endParaRPr lang="en-US" sz="2800" dirty="0" smtClean="0"/>
          </a:p>
          <a:p>
            <a:r>
              <a:rPr lang="en-US" sz="2800" dirty="0"/>
              <a:t>number in the sequence)</a:t>
            </a:r>
          </a:p>
          <a:p>
            <a:endParaRPr lang="en-US" sz="2800" dirty="0" smtClean="0"/>
          </a:p>
          <a:p>
            <a:endParaRPr lang="ru-RU" sz="2800" dirty="0"/>
          </a:p>
          <a:p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({</a:t>
            </a:r>
            <a:r>
              <a:rPr lang="ru-RU" sz="2800" dirty="0" smtClean="0"/>
              <a:t>1,</a:t>
            </a:r>
            <a:r>
              <a:rPr lang="ru-RU" sz="2800" b="1" dirty="0" smtClean="0">
                <a:solidFill>
                  <a:srgbClr val="92D050"/>
                </a:solidFill>
              </a:rPr>
              <a:t>3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b="1" dirty="0" smtClean="0">
                <a:solidFill>
                  <a:srgbClr val="92D050"/>
                </a:solidFill>
              </a:rPr>
              <a:t>3</a:t>
            </a:r>
            <a:r>
              <a:rPr lang="ru-RU" sz="2800" dirty="0" smtClean="0"/>
              <a:t>,</a:t>
            </a:r>
            <a:r>
              <a:rPr lang="ru-RU" sz="2800" b="1" dirty="0" smtClean="0">
                <a:solidFill>
                  <a:srgbClr val="00B0F0"/>
                </a:solidFill>
              </a:rPr>
              <a:t>2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4,</a:t>
            </a:r>
            <a:r>
              <a:rPr lang="ru-RU" sz="2800" b="1" dirty="0" smtClean="0">
                <a:solidFill>
                  <a:srgbClr val="00B0F0"/>
                </a:solidFill>
              </a:rPr>
              <a:t>2</a:t>
            </a:r>
            <a:r>
              <a:rPr lang="en-US" sz="2800" dirty="0" smtClean="0"/>
              <a:t>})</a:t>
            </a:r>
          </a:p>
        </p:txBody>
      </p:sp>
      <p:sp>
        <p:nvSpPr>
          <p:cNvPr id="33" name="Овал 32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Прямая со стрелкой 40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46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47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48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96094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Undirected graph (graph)</a:t>
            </a:r>
            <a:endParaRPr lang="ru-RU" sz="2800" dirty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3707904" y="1484784"/>
            <a:ext cx="5436096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/>
              <a:t>A </a:t>
            </a:r>
            <a:r>
              <a:rPr lang="en-US" sz="2800" b="1" dirty="0" smtClean="0"/>
              <a:t>CYCLE</a:t>
            </a:r>
            <a:r>
              <a:rPr lang="en-US" sz="2800" dirty="0" smtClean="0"/>
              <a:t> is a </a:t>
            </a:r>
            <a:r>
              <a:rPr lang="en-US" sz="2800" dirty="0"/>
              <a:t>closed simple </a:t>
            </a:r>
            <a:r>
              <a:rPr lang="en-US" sz="2800" dirty="0" smtClean="0"/>
              <a:t>chain</a:t>
            </a:r>
            <a:endParaRPr lang="ru-RU" sz="2800" dirty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({</a:t>
            </a:r>
            <a:r>
              <a:rPr lang="ru-RU" sz="2800" dirty="0" smtClean="0"/>
              <a:t>1,3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3,2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2,1</a:t>
            </a:r>
            <a:r>
              <a:rPr lang="en-US" sz="2800" dirty="0" smtClean="0"/>
              <a:t>})</a:t>
            </a:r>
            <a:endParaRPr lang="ru-RU" sz="2800" dirty="0" smtClean="0"/>
          </a:p>
        </p:txBody>
      </p:sp>
      <p:sp>
        <p:nvSpPr>
          <p:cNvPr id="17" name="Овал 16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" name="Прямая со стрелкой 21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2123728" y="3461284"/>
            <a:ext cx="6660232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ru-RU" sz="2800" dirty="0" smtClean="0"/>
              <a:t>	</a:t>
            </a:r>
            <a:r>
              <a:rPr lang="en-US" sz="2800" dirty="0"/>
              <a:t>A </a:t>
            </a:r>
            <a:r>
              <a:rPr lang="en-US" sz="2800" b="1" dirty="0"/>
              <a:t>simple </a:t>
            </a:r>
            <a:r>
              <a:rPr lang="en-US" sz="2800" b="1" dirty="0" smtClean="0"/>
              <a:t>chain </a:t>
            </a:r>
            <a:r>
              <a:rPr lang="en-US" sz="2800" dirty="0" smtClean="0"/>
              <a:t>is </a:t>
            </a:r>
            <a:r>
              <a:rPr lang="en-US" sz="2800" dirty="0"/>
              <a:t>a </a:t>
            </a:r>
            <a:r>
              <a:rPr lang="en-US" sz="2800" dirty="0" smtClean="0"/>
              <a:t>chain containing </a:t>
            </a:r>
            <a:r>
              <a:rPr lang="en-US" sz="2800" dirty="0"/>
              <a:t>each </a:t>
            </a:r>
            <a:r>
              <a:rPr lang="en-US" sz="2800" dirty="0" smtClean="0"/>
              <a:t>link at </a:t>
            </a:r>
            <a:r>
              <a:rPr lang="en-US" sz="2800" dirty="0"/>
              <a:t>most once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Undirected graph (graph)</a:t>
            </a:r>
            <a:endParaRPr lang="ru-RU" sz="28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3275856" y="2780928"/>
            <a:ext cx="5652120" cy="360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Link</a:t>
            </a:r>
            <a:r>
              <a:rPr lang="en-US" sz="2800" dirty="0"/>
              <a:t> e</a:t>
            </a:r>
            <a:r>
              <a:rPr lang="en-US" sz="2800" dirty="0" smtClean="0"/>
              <a:t>xample</a:t>
            </a:r>
            <a:r>
              <a:rPr lang="en-US" sz="2800" dirty="0"/>
              <a:t>:</a:t>
            </a:r>
            <a:r>
              <a:rPr lang="ru-RU" sz="2800" dirty="0" smtClean="0"/>
              <a:t> </a:t>
            </a:r>
            <a:r>
              <a:rPr lang="en-US" sz="2800" dirty="0" smtClean="0"/>
              <a:t>{</a:t>
            </a:r>
            <a:r>
              <a:rPr lang="ru-RU" sz="2800" dirty="0" smtClean="0"/>
              <a:t>1,3</a:t>
            </a:r>
            <a:r>
              <a:rPr lang="en-US" sz="2800" dirty="0" smtClean="0"/>
              <a:t>}</a:t>
            </a:r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Chain</a:t>
            </a:r>
            <a:r>
              <a:rPr lang="ru-RU" sz="2800" dirty="0" smtClean="0"/>
              <a:t>	</a:t>
            </a:r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({</a:t>
            </a:r>
            <a:r>
              <a:rPr lang="ru-RU" sz="2800" dirty="0" smtClean="0"/>
              <a:t>1,3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3,2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2,4</a:t>
            </a:r>
            <a:r>
              <a:rPr lang="en-US" sz="2800" dirty="0" smtClean="0"/>
              <a:t>})</a:t>
            </a:r>
          </a:p>
          <a:p>
            <a:pPr marL="514350" lvl="0" indent="-514350">
              <a:spcBef>
                <a:spcPct val="0"/>
              </a:spcBef>
            </a:pPr>
            <a:endParaRPr lang="ru-RU" sz="2800" dirty="0" smtClean="0"/>
          </a:p>
          <a:p>
            <a:pPr marL="514350" indent="-514350">
              <a:spcBef>
                <a:spcPct val="0"/>
              </a:spcBef>
            </a:pPr>
            <a:r>
              <a:rPr lang="en-US" sz="2800" dirty="0" smtClean="0"/>
              <a:t>Cycle </a:t>
            </a:r>
            <a:r>
              <a:rPr lang="en-US" sz="2800" dirty="0"/>
              <a:t>e</a:t>
            </a:r>
            <a:r>
              <a:rPr lang="en-US" sz="2800" dirty="0" smtClean="0"/>
              <a:t>xample:</a:t>
            </a:r>
            <a:r>
              <a:rPr lang="ru-RU" sz="2800" dirty="0" smtClean="0"/>
              <a:t> </a:t>
            </a:r>
            <a:r>
              <a:rPr lang="en-US" sz="2800" dirty="0"/>
              <a:t>(</a:t>
            </a:r>
            <a:r>
              <a:rPr lang="en-US" sz="2800" dirty="0" smtClean="0"/>
              <a:t>{</a:t>
            </a:r>
            <a:r>
              <a:rPr lang="ru-RU" sz="2800" dirty="0" smtClean="0"/>
              <a:t>1,3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3,2</a:t>
            </a:r>
            <a:r>
              <a:rPr lang="en-US" sz="2800" dirty="0" smtClean="0"/>
              <a:t>}</a:t>
            </a:r>
            <a:r>
              <a:rPr lang="ru-RU" sz="2800" dirty="0" smtClean="0"/>
              <a:t>, </a:t>
            </a:r>
            <a:r>
              <a:rPr lang="en-US" sz="2800" dirty="0" smtClean="0"/>
              <a:t>{</a:t>
            </a:r>
            <a:r>
              <a:rPr lang="ru-RU" sz="2800" dirty="0" smtClean="0"/>
              <a:t>2,1</a:t>
            </a:r>
            <a:r>
              <a:rPr lang="en-US" sz="2800" dirty="0" smtClean="0"/>
              <a:t>})</a:t>
            </a:r>
            <a:endParaRPr lang="ru-RU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Directed </a:t>
            </a:r>
            <a:r>
              <a:rPr lang="en-US" sz="2800" dirty="0" smtClean="0"/>
              <a:t>graph (digraph)</a:t>
            </a:r>
            <a:endParaRPr lang="ru-RU" sz="2800" dirty="0"/>
          </a:p>
        </p:txBody>
      </p:sp>
      <p:sp>
        <p:nvSpPr>
          <p:cNvPr id="17" name="Овал 16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9" name="Прямая со стрелкой 18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3995936" y="1484784"/>
            <a:ext cx="5148064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A</a:t>
            </a:r>
            <a:r>
              <a:rPr lang="en-US" sz="2800" dirty="0"/>
              <a:t>n</a:t>
            </a:r>
            <a:r>
              <a:rPr lang="en-US" sz="2800" dirty="0" smtClean="0"/>
              <a:t> </a:t>
            </a:r>
            <a:r>
              <a:rPr lang="en-US" sz="2800" b="1" dirty="0" smtClean="0"/>
              <a:t>ARC</a:t>
            </a:r>
            <a:r>
              <a:rPr lang="ru-RU" sz="2800" dirty="0" smtClean="0"/>
              <a:t> </a:t>
            </a:r>
            <a:r>
              <a:rPr lang="en-US" sz="2800" dirty="0" smtClean="0"/>
              <a:t>is an ordered set of two vertices.</a:t>
            </a:r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ru-RU" sz="2800" dirty="0"/>
              <a:t>(</a:t>
            </a:r>
            <a:r>
              <a:rPr lang="ru-RU" sz="2800" dirty="0" smtClean="0"/>
              <a:t>1,3)</a:t>
            </a:r>
            <a:endParaRPr lang="en-US" sz="2800" dirty="0" smtClean="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2339752" y="3461284"/>
            <a:ext cx="6804248" cy="1839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400" dirty="0"/>
              <a:t>Vertices 1 and 2 are called the </a:t>
            </a:r>
            <a:r>
              <a:rPr lang="en-US" sz="2400" dirty="0" smtClean="0"/>
              <a:t>endpoints of arc </a:t>
            </a:r>
            <a:r>
              <a:rPr lang="en-US" sz="2400" dirty="0"/>
              <a:t>(1,2</a:t>
            </a:r>
            <a:r>
              <a:rPr lang="en-US" sz="2400" dirty="0" smtClean="0"/>
              <a:t>)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514350" lvl="0" indent="-514350">
              <a:spcBef>
                <a:spcPct val="0"/>
              </a:spcBef>
            </a:pPr>
            <a:endParaRPr lang="en-US" sz="2400" dirty="0"/>
          </a:p>
          <a:p>
            <a:pPr marL="514350" lvl="0" indent="-514350">
              <a:spcBef>
                <a:spcPct val="0"/>
              </a:spcBef>
            </a:pPr>
            <a:r>
              <a:rPr lang="en-US" sz="2400" dirty="0"/>
              <a:t>Vertex 1 is called the start of the arc, and vertex 2 is called the </a:t>
            </a:r>
            <a:r>
              <a:rPr lang="en-US" sz="2400" dirty="0" smtClean="0"/>
              <a:t>end</a:t>
            </a:r>
            <a:r>
              <a:rPr lang="ru-RU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Directed graph (digraph)</a:t>
            </a:r>
            <a:endParaRPr lang="ru-RU" sz="2800" dirty="0"/>
          </a:p>
        </p:txBody>
      </p:sp>
      <p:sp>
        <p:nvSpPr>
          <p:cNvPr id="33" name="Овал 32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Овал 35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Овал 36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Прямая со стрелкой 40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46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47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48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3995936" y="1484784"/>
            <a:ext cx="5148064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A </a:t>
            </a:r>
            <a:r>
              <a:rPr lang="en-US" sz="2800" b="1" dirty="0" smtClean="0"/>
              <a:t>PATH</a:t>
            </a:r>
            <a:r>
              <a:rPr lang="en-US" sz="2800" dirty="0" smtClean="0"/>
              <a:t> is a sequence </a:t>
            </a:r>
            <a:r>
              <a:rPr lang="en-US" sz="2800" dirty="0"/>
              <a:t>of arcs </a:t>
            </a:r>
            <a:r>
              <a:rPr lang="en-US" sz="2800" dirty="0" smtClean="0"/>
              <a:t>such</a:t>
            </a:r>
            <a:endParaRPr lang="en-US" sz="2800" dirty="0" smtClean="0">
              <a:solidFill>
                <a:srgbClr val="FF0000"/>
              </a:solidFill>
            </a:endParaRPr>
          </a:p>
          <a:p>
            <a:pPr marL="514350" lvl="0" indent="-514350">
              <a:spcBef>
                <a:spcPct val="0"/>
              </a:spcBef>
            </a:pPr>
            <a:r>
              <a:rPr lang="en-US" sz="2800" dirty="0"/>
              <a:t>that for any two consecutive arcs</a:t>
            </a: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r>
              <a:rPr lang="en-US" sz="2800" dirty="0"/>
              <a:t>it is satisfied that the end of the</a:t>
            </a: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/>
              <a:t>previous arc is the beginning of</a:t>
            </a:r>
            <a:endParaRPr lang="en-US" sz="2800" b="1" dirty="0" smtClean="0"/>
          </a:p>
          <a:p>
            <a:pPr marL="514350" indent="-514350">
              <a:spcBef>
                <a:spcPct val="0"/>
              </a:spcBef>
            </a:pPr>
            <a:r>
              <a:rPr lang="en-US" sz="2800" dirty="0"/>
              <a:t>the next.</a:t>
            </a:r>
            <a:endParaRPr lang="ru-RU" sz="2800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Example:</a:t>
            </a:r>
            <a:r>
              <a:rPr lang="ru-RU" sz="2800" dirty="0" smtClean="0"/>
              <a:t> </a:t>
            </a:r>
            <a:r>
              <a:rPr lang="en-US" sz="2800" dirty="0" smtClean="0"/>
              <a:t>(</a:t>
            </a:r>
            <a:r>
              <a:rPr lang="ru-RU" sz="2800" dirty="0" smtClean="0"/>
              <a:t>(</a:t>
            </a:r>
            <a:r>
              <a:rPr lang="ru-RU" sz="2800" dirty="0"/>
              <a:t>1,3), (3,2), (2,4</a:t>
            </a:r>
            <a:r>
              <a:rPr lang="ru-RU" sz="2800" dirty="0" smtClean="0"/>
              <a:t>)</a:t>
            </a:r>
            <a:r>
              <a:rPr lang="en-US" sz="28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Directed graph (digraph)</a:t>
            </a:r>
            <a:endParaRPr lang="ru-RU" sz="2800" dirty="0"/>
          </a:p>
        </p:txBody>
      </p:sp>
      <p:sp>
        <p:nvSpPr>
          <p:cNvPr id="17" name="Овал 16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" name="Прямая со стрелкой 21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2051720" y="4941168"/>
            <a:ext cx="6660232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ru-RU" sz="2800" dirty="0" smtClean="0"/>
              <a:t>	</a:t>
            </a:r>
            <a:r>
              <a:rPr lang="en-US" sz="2800" dirty="0"/>
              <a:t>A </a:t>
            </a:r>
            <a:r>
              <a:rPr lang="en-US" sz="2800" b="1" dirty="0"/>
              <a:t>simple path</a:t>
            </a:r>
            <a:r>
              <a:rPr lang="en-US" sz="2800" dirty="0"/>
              <a:t> is a path containing each </a:t>
            </a:r>
            <a:r>
              <a:rPr lang="en-US" sz="2800" dirty="0" smtClean="0"/>
              <a:t>arc at </a:t>
            </a:r>
            <a:r>
              <a:rPr lang="en-US" sz="2800" dirty="0"/>
              <a:t>most once</a:t>
            </a:r>
            <a:r>
              <a:rPr lang="ru-RU" sz="2800" dirty="0" smtClean="0"/>
              <a:t>.</a:t>
            </a:r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3995936" y="1484784"/>
            <a:ext cx="5148064" cy="5373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/>
              <a:t>A </a:t>
            </a:r>
            <a:r>
              <a:rPr lang="en-US" sz="2800" b="1" dirty="0" smtClean="0"/>
              <a:t>CIRCUIT</a:t>
            </a:r>
            <a:r>
              <a:rPr lang="en-US" sz="2800" dirty="0" smtClean="0"/>
              <a:t> is </a:t>
            </a:r>
            <a:r>
              <a:rPr lang="en-US" sz="2800" dirty="0"/>
              <a:t>a closed simple path</a:t>
            </a:r>
            <a:r>
              <a:rPr lang="en-US" sz="2800" dirty="0" smtClean="0"/>
              <a:t>.</a:t>
            </a:r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endParaRPr lang="en-US" sz="2800" b="1" dirty="0"/>
          </a:p>
          <a:p>
            <a:pPr marL="514350" lvl="0" indent="-514350">
              <a:spcBef>
                <a:spcPct val="0"/>
              </a:spcBef>
            </a:pPr>
            <a:endParaRPr lang="en-US" sz="2800" b="1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Example:</a:t>
            </a:r>
            <a:r>
              <a:rPr lang="ru-RU" sz="2800" dirty="0" smtClean="0"/>
              <a:t> (</a:t>
            </a:r>
            <a:r>
              <a:rPr lang="ru-RU" sz="2800" dirty="0"/>
              <a:t>(1,3), (3,2), (2,1))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Directed graph (digraph)</a:t>
            </a:r>
            <a:endParaRPr lang="ru-RU" sz="28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3275856" y="4149080"/>
            <a:ext cx="5652120" cy="223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Arc</a:t>
            </a:r>
            <a:r>
              <a:rPr lang="ru-RU" sz="2800" dirty="0" smtClean="0"/>
              <a:t>	</a:t>
            </a:r>
            <a:r>
              <a:rPr lang="en-US" sz="2800" dirty="0" smtClean="0"/>
              <a:t>example</a:t>
            </a:r>
            <a:r>
              <a:rPr lang="en-US" sz="2800" dirty="0"/>
              <a:t>:</a:t>
            </a:r>
            <a:r>
              <a:rPr lang="ru-RU" sz="2800" dirty="0" smtClean="0"/>
              <a:t> (1,3)</a:t>
            </a: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Path example</a:t>
            </a:r>
            <a:r>
              <a:rPr lang="en-US" sz="2800" dirty="0"/>
              <a:t>:</a:t>
            </a:r>
            <a:r>
              <a:rPr lang="ru-RU" sz="2800" dirty="0" smtClean="0"/>
              <a:t> </a:t>
            </a:r>
            <a:r>
              <a:rPr lang="en-US" sz="2800" dirty="0" smtClean="0"/>
              <a:t>(</a:t>
            </a:r>
            <a:r>
              <a:rPr lang="ru-RU" sz="2800" dirty="0" smtClean="0"/>
              <a:t>(1,3), (3,2), (2,4))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Circuit example:</a:t>
            </a:r>
            <a:r>
              <a:rPr lang="ru-RU" sz="2800" dirty="0" smtClean="0"/>
              <a:t> </a:t>
            </a:r>
            <a:r>
              <a:rPr lang="en-US" sz="2800" dirty="0" smtClean="0"/>
              <a:t>(</a:t>
            </a:r>
            <a:r>
              <a:rPr lang="ru-RU" sz="2800" dirty="0" smtClean="0"/>
              <a:t>(1,3), (3,2), (2,1))</a:t>
            </a:r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Directed </a:t>
            </a:r>
            <a:r>
              <a:rPr lang="en-US" sz="2800" dirty="0"/>
              <a:t>graph </a:t>
            </a:r>
            <a:r>
              <a:rPr lang="en-US" sz="2800" dirty="0" smtClean="0"/>
              <a:t>(digraph</a:t>
            </a:r>
            <a:r>
              <a:rPr lang="en-US" sz="2800" dirty="0"/>
              <a:t>)</a:t>
            </a:r>
            <a:endParaRPr lang="ru-RU" sz="28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259632" y="2348880"/>
            <a:ext cx="1296144" cy="18722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3995936" y="1484784"/>
            <a:ext cx="3995936" cy="3744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There is the cycle</a:t>
            </a:r>
          </a:p>
          <a:p>
            <a:pPr marL="514350" lvl="0" indent="-514350" algn="ctr">
              <a:spcBef>
                <a:spcPct val="0"/>
              </a:spcBef>
            </a:pPr>
            <a:endParaRPr lang="ru-RU" sz="28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There is no circuit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2481262"/>
            <a:ext cx="52101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4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Vertex </a:t>
            </a:r>
            <a:r>
              <a:rPr lang="en-US" dirty="0" smtClean="0"/>
              <a:t>degree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55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27384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V</a:t>
            </a:r>
            <a:r>
              <a:rPr lang="en-US" sz="2800" dirty="0" smtClean="0"/>
              <a:t>ertex </a:t>
            </a:r>
            <a:r>
              <a:rPr lang="en-US" sz="2800" dirty="0"/>
              <a:t>degree</a:t>
            </a:r>
            <a:endParaRPr lang="ru-RU" sz="2800" b="1" dirty="0" smtClean="0"/>
          </a:p>
        </p:txBody>
      </p:sp>
      <p:sp>
        <p:nvSpPr>
          <p:cNvPr id="4" name="Овал 3"/>
          <p:cNvSpPr/>
          <p:nvPr/>
        </p:nvSpPr>
        <p:spPr>
          <a:xfrm>
            <a:off x="111561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4380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267744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190770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3131840" y="2492896"/>
            <a:ext cx="0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277180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1"/>
          <p:cNvSpPr txBox="1">
            <a:spLocks/>
          </p:cNvSpPr>
          <p:nvPr/>
        </p:nvSpPr>
        <p:spPr>
          <a:xfrm>
            <a:off x="133387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299005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98782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411760" y="551723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8" name="Овал 27"/>
          <p:cNvSpPr/>
          <p:nvPr/>
        </p:nvSpPr>
        <p:spPr>
          <a:xfrm>
            <a:off x="1043608" y="35730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261864" y="3645025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3635896" y="1196752"/>
            <a:ext cx="5508104" cy="566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The degree of a vertex </a:t>
            </a:r>
            <a:r>
              <a:rPr lang="en-US" sz="2800" dirty="0" smtClean="0"/>
              <a:t>is</a:t>
            </a:r>
            <a:endParaRPr lang="ru-RU" sz="28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the </a:t>
            </a:r>
            <a:r>
              <a:rPr lang="en-US" sz="2800" dirty="0"/>
              <a:t>number of incident </a:t>
            </a:r>
            <a:r>
              <a:rPr lang="en-US" sz="2800" dirty="0" smtClean="0"/>
              <a:t>edges.</a:t>
            </a: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62828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27384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V</a:t>
            </a:r>
            <a:r>
              <a:rPr lang="en-US" sz="2800" dirty="0" smtClean="0"/>
              <a:t>ertex </a:t>
            </a:r>
            <a:r>
              <a:rPr lang="en-US" sz="2800" dirty="0"/>
              <a:t>degree</a:t>
            </a:r>
            <a:endParaRPr lang="ru-RU" sz="2800" b="1" dirty="0" smtClean="0"/>
          </a:p>
        </p:txBody>
      </p:sp>
      <p:sp>
        <p:nvSpPr>
          <p:cNvPr id="4" name="Овал 3"/>
          <p:cNvSpPr/>
          <p:nvPr/>
        </p:nvSpPr>
        <p:spPr>
          <a:xfrm>
            <a:off x="111561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4380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267744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190770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3131840" y="2492896"/>
            <a:ext cx="0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277180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1"/>
          <p:cNvSpPr txBox="1">
            <a:spLocks/>
          </p:cNvSpPr>
          <p:nvPr/>
        </p:nvSpPr>
        <p:spPr>
          <a:xfrm>
            <a:off x="133387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299005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98782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411760" y="551723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8" name="Овал 27"/>
          <p:cNvSpPr/>
          <p:nvPr/>
        </p:nvSpPr>
        <p:spPr>
          <a:xfrm>
            <a:off x="1043608" y="35730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261864" y="3645025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3635896" y="1196752"/>
            <a:ext cx="5508104" cy="566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The degree of a </a:t>
            </a:r>
            <a:r>
              <a:rPr lang="en-US" sz="2800" dirty="0" smtClean="0"/>
              <a:t>vertex</a:t>
            </a:r>
            <a:r>
              <a:rPr lang="ru-RU" sz="2800" dirty="0" smtClean="0"/>
              <a:t> </a:t>
            </a:r>
            <a:r>
              <a:rPr lang="en-US" sz="2800" dirty="0" smtClean="0"/>
              <a:t>is</a:t>
            </a:r>
            <a:endParaRPr lang="ru-RU" sz="28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the number</a:t>
            </a:r>
            <a:r>
              <a:rPr lang="ru-RU" sz="2800" dirty="0" smtClean="0"/>
              <a:t> </a:t>
            </a:r>
            <a:r>
              <a:rPr lang="en-US" sz="2800" dirty="0" smtClean="0"/>
              <a:t>of </a:t>
            </a:r>
            <a:r>
              <a:rPr lang="en-US" sz="2800" dirty="0"/>
              <a:t>incident </a:t>
            </a:r>
            <a:r>
              <a:rPr lang="en-US" sz="2800" dirty="0" smtClean="0"/>
              <a:t>edges.</a:t>
            </a: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endParaRPr lang="en-US" sz="2800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434015" y="2906138"/>
            <a:ext cx="3995936" cy="2592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Degree of vertex 1 </a:t>
            </a:r>
            <a:r>
              <a:rPr lang="ru-RU" sz="2800" dirty="0" smtClean="0"/>
              <a:t>= 1</a:t>
            </a:r>
          </a:p>
          <a:p>
            <a:pPr marL="514350" indent="-514350" algn="ctr">
              <a:spcBef>
                <a:spcPct val="0"/>
              </a:spcBef>
            </a:pPr>
            <a:r>
              <a:rPr lang="en-US" sz="2800" dirty="0"/>
              <a:t>Degree of vertex </a:t>
            </a:r>
            <a:r>
              <a:rPr lang="ru-RU" sz="2800" dirty="0" smtClean="0"/>
              <a:t>2 = 2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Degree of vertex </a:t>
            </a:r>
            <a:r>
              <a:rPr lang="ru-RU" sz="2800" dirty="0" smtClean="0"/>
              <a:t>3 = 0</a:t>
            </a: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Degree of vertex </a:t>
            </a:r>
            <a:r>
              <a:rPr lang="ru-RU" sz="2800" dirty="0" smtClean="0"/>
              <a:t>4 = 2</a:t>
            </a: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Degree of vertex </a:t>
            </a:r>
            <a:r>
              <a:rPr lang="ru-RU" sz="2800" dirty="0" smtClean="0"/>
              <a:t>5 = 1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6298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27384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V</a:t>
            </a:r>
            <a:r>
              <a:rPr lang="en-US" sz="2800" dirty="0" smtClean="0"/>
              <a:t>ertex </a:t>
            </a:r>
            <a:r>
              <a:rPr lang="en-US" sz="2800" dirty="0"/>
              <a:t>degree</a:t>
            </a:r>
            <a:endParaRPr lang="ru-RU" sz="2800" b="1" dirty="0" smtClean="0"/>
          </a:p>
        </p:txBody>
      </p:sp>
      <p:sp>
        <p:nvSpPr>
          <p:cNvPr id="4" name="Овал 3"/>
          <p:cNvSpPr/>
          <p:nvPr/>
        </p:nvSpPr>
        <p:spPr>
          <a:xfrm>
            <a:off x="111561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4380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267744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190770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3131840" y="2492896"/>
            <a:ext cx="0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277180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1"/>
          <p:cNvSpPr txBox="1">
            <a:spLocks/>
          </p:cNvSpPr>
          <p:nvPr/>
        </p:nvSpPr>
        <p:spPr>
          <a:xfrm>
            <a:off x="133387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299005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98782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411760" y="551723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8" name="Овал 27"/>
          <p:cNvSpPr/>
          <p:nvPr/>
        </p:nvSpPr>
        <p:spPr>
          <a:xfrm>
            <a:off x="1043608" y="35730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261864" y="3645025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3635896" y="1196752"/>
            <a:ext cx="5508104" cy="566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endParaRPr lang="ru-RU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800" dirty="0"/>
          </a:p>
          <a:p>
            <a:pPr marL="514350" lvl="0" indent="-514350" algn="ctr">
              <a:spcBef>
                <a:spcPct val="0"/>
              </a:spcBef>
            </a:pPr>
            <a:endParaRPr lang="en-US" sz="2800" dirty="0" smtClean="0"/>
          </a:p>
          <a:p>
            <a:pPr marL="514350" lvl="0" indent="-514350">
              <a:spcBef>
                <a:spcPct val="0"/>
              </a:spcBef>
            </a:pPr>
            <a:r>
              <a:rPr lang="en-US" sz="2800" dirty="0" smtClean="0"/>
              <a:t>Example: vertex 3</a:t>
            </a:r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4120833" y="2286531"/>
            <a:ext cx="4538229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400" b="1" dirty="0" smtClean="0"/>
              <a:t>ISOLATED vertex </a:t>
            </a:r>
            <a:r>
              <a:rPr lang="en-US" sz="2400" dirty="0" smtClean="0"/>
              <a:t>is a vertex </a:t>
            </a:r>
            <a:r>
              <a:rPr lang="en-US" sz="2400" dirty="0"/>
              <a:t>whose degree is </a:t>
            </a:r>
            <a:r>
              <a:rPr lang="en-US" sz="2400" dirty="0" smtClean="0"/>
              <a:t>zero.</a:t>
            </a:r>
          </a:p>
        </p:txBody>
      </p:sp>
    </p:spTree>
    <p:extLst>
      <p:ext uri="{BB962C8B-B14F-4D97-AF65-F5344CB8AC3E}">
        <p14:creationId xmlns:p14="http://schemas.microsoft.com/office/powerpoint/2010/main" val="393707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924945"/>
            <a:ext cx="9144000" cy="1224136"/>
          </a:xfrm>
        </p:spPr>
        <p:txBody>
          <a:bodyPr/>
          <a:lstStyle/>
          <a:p>
            <a:pPr marL="0" lvl="0" indent="0" algn="ctr">
              <a:spcBef>
                <a:spcPct val="0"/>
              </a:spcBef>
              <a:buNone/>
            </a:pPr>
            <a:r>
              <a:rPr lang="en-US" dirty="0"/>
              <a:t>Sum of degrees of all vertices = 2 * number of edges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69647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924944"/>
            <a:ext cx="9144000" cy="1800199"/>
          </a:xfrm>
        </p:spPr>
        <p:txBody>
          <a:bodyPr>
            <a:normAutofit fontScale="92500" lnSpcReduction="10000"/>
          </a:bodyPr>
          <a:lstStyle/>
          <a:p>
            <a:pPr marL="0" lvl="0" indent="0" algn="ctr">
              <a:spcBef>
                <a:spcPct val="0"/>
              </a:spcBef>
              <a:buNone/>
            </a:pPr>
            <a:r>
              <a:rPr lang="en-US" dirty="0"/>
              <a:t>There are 15 telephones in the town of Little</a:t>
            </a:r>
            <a:r>
              <a:rPr lang="en-US" dirty="0" smtClean="0"/>
              <a:t>.</a:t>
            </a:r>
            <a:endParaRPr lang="ru-RU" dirty="0" smtClean="0"/>
          </a:p>
          <a:p>
            <a:pPr marL="0" lvl="0" indent="0" algn="ctr">
              <a:spcBef>
                <a:spcPct val="0"/>
              </a:spcBef>
              <a:buNone/>
            </a:pPr>
            <a:endParaRPr lang="ru-RU" dirty="0" smtClean="0"/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dirty="0" smtClean="0"/>
              <a:t>Can </a:t>
            </a:r>
            <a:r>
              <a:rPr lang="en-US" dirty="0"/>
              <a:t>they be wired together so that each is connected to exactly 5 others?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263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representations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4319464" y="3068960"/>
            <a:ext cx="482453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  <a:buFontTx/>
              <a:buChar char="-"/>
            </a:pPr>
            <a:r>
              <a:rPr lang="en-US" sz="2800" dirty="0" smtClean="0"/>
              <a:t>geometric graph</a:t>
            </a:r>
            <a:r>
              <a:rPr lang="ru-RU" sz="2800" dirty="0" smtClean="0"/>
              <a:t> (</a:t>
            </a:r>
            <a:r>
              <a:rPr lang="en-US" sz="2800" dirty="0" smtClean="0"/>
              <a:t>diagrammatic form</a:t>
            </a:r>
            <a:r>
              <a:rPr lang="ru-RU" sz="28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5004048" y="2708920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5004048" y="2708920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9" name="Заголовок 1"/>
          <p:cNvSpPr txBox="1">
            <a:spLocks/>
          </p:cNvSpPr>
          <p:nvPr/>
        </p:nvSpPr>
        <p:spPr>
          <a:xfrm>
            <a:off x="4419600" y="4941168"/>
            <a:ext cx="425685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/>
              <a:t>Adjacency matrix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5004048" y="2708920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ru-RU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9" name="Заголовок 1"/>
          <p:cNvSpPr txBox="1">
            <a:spLocks/>
          </p:cNvSpPr>
          <p:nvPr/>
        </p:nvSpPr>
        <p:spPr>
          <a:xfrm>
            <a:off x="4419600" y="4941168"/>
            <a:ext cx="425685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/>
              <a:t>Adjacency matrix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771800" y="4941168"/>
            <a:ext cx="63722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/>
              <a:t>Adjacency list</a:t>
            </a:r>
            <a:endParaRPr lang="ru-RU" sz="2800" b="1" dirty="0" smtClean="0"/>
          </a:p>
        </p:txBody>
      </p:sp>
      <p:sp>
        <p:nvSpPr>
          <p:cNvPr id="35" name="Заголовок 1"/>
          <p:cNvSpPr txBox="1">
            <a:spLocks/>
          </p:cNvSpPr>
          <p:nvPr/>
        </p:nvSpPr>
        <p:spPr>
          <a:xfrm>
            <a:off x="4499992" y="2852936"/>
            <a:ext cx="4256856" cy="2520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1:	3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2:	1, 4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3:	2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4:	5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5: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771800" y="4941168"/>
            <a:ext cx="63722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/>
              <a:t>Adjacency list</a:t>
            </a:r>
            <a:endParaRPr lang="ru-RU" sz="2800" b="1" dirty="0" smtClean="0"/>
          </a:p>
        </p:txBody>
      </p:sp>
      <p:sp>
        <p:nvSpPr>
          <p:cNvPr id="35" name="Заголовок 1"/>
          <p:cNvSpPr txBox="1">
            <a:spLocks/>
          </p:cNvSpPr>
          <p:nvPr/>
        </p:nvSpPr>
        <p:spPr>
          <a:xfrm>
            <a:off x="4499992" y="2852936"/>
            <a:ext cx="4256856" cy="2520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1:	</a:t>
            </a:r>
            <a:r>
              <a:rPr lang="en-US" sz="2800" b="1" dirty="0" smtClean="0"/>
              <a:t>2, 3</a:t>
            </a:r>
            <a:endParaRPr lang="ru-RU" sz="2800" b="1" dirty="0" smtClean="0"/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2:	1, </a:t>
            </a:r>
            <a:r>
              <a:rPr lang="en-US" sz="2800" b="1" dirty="0" smtClean="0"/>
              <a:t>3, 4</a:t>
            </a:r>
            <a:endParaRPr lang="ru-RU" sz="2800" b="1" dirty="0" smtClean="0"/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3:	</a:t>
            </a:r>
            <a:r>
              <a:rPr lang="en-US" sz="2800" b="1" dirty="0" smtClean="0"/>
              <a:t>1, </a:t>
            </a:r>
            <a:r>
              <a:rPr lang="ru-RU" sz="2800" b="1" dirty="0" smtClean="0"/>
              <a:t>2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4:	</a:t>
            </a:r>
            <a:r>
              <a:rPr lang="en-US" sz="2800" b="1" dirty="0" smtClean="0"/>
              <a:t>2, </a:t>
            </a:r>
            <a:r>
              <a:rPr lang="ru-RU" sz="2800" b="1" dirty="0" smtClean="0"/>
              <a:t>5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5:</a:t>
            </a:r>
            <a:r>
              <a:rPr lang="en-US" sz="2800" b="1" dirty="0" smtClean="0"/>
              <a:t>   4</a:t>
            </a:r>
            <a:endParaRPr lang="ru-RU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253991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4419600" y="4941168"/>
            <a:ext cx="425685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/>
              <a:t>Arcs list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3347864" y="3212976"/>
            <a:ext cx="579613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3600" b="1" dirty="0">
                <a:solidFill>
                  <a:srgbClr val="0070C0"/>
                </a:solidFill>
              </a:rPr>
              <a:t>(</a:t>
            </a:r>
            <a:r>
              <a:rPr lang="ru-RU" sz="3600" b="1" dirty="0" smtClean="0">
                <a:solidFill>
                  <a:srgbClr val="0070C0"/>
                </a:solidFill>
              </a:rPr>
              <a:t>(1,3), (3,2), (2,1), (2,4), (4,5)</a:t>
            </a:r>
            <a:r>
              <a:rPr lang="en-US" sz="3600" b="1" dirty="0" smtClean="0">
                <a:solidFill>
                  <a:srgbClr val="0070C0"/>
                </a:solidFill>
              </a:rPr>
              <a:t>)</a:t>
            </a:r>
            <a:endParaRPr lang="ru-RU" sz="3600" b="1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4419600" y="4941168"/>
            <a:ext cx="425685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 smtClean="0"/>
              <a:t>Links </a:t>
            </a:r>
            <a:r>
              <a:rPr lang="en-US" sz="2800" b="1" dirty="0"/>
              <a:t>list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3203848" y="3212976"/>
            <a:ext cx="59401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3600" b="1" dirty="0" smtClean="0">
                <a:solidFill>
                  <a:srgbClr val="0070C0"/>
                </a:solidFill>
              </a:rPr>
              <a:t>(</a:t>
            </a:r>
            <a:r>
              <a:rPr lang="en-US" sz="3600" b="1" dirty="0">
                <a:solidFill>
                  <a:srgbClr val="0070C0"/>
                </a:solidFill>
              </a:rPr>
              <a:t>{</a:t>
            </a:r>
            <a:r>
              <a:rPr lang="ru-RU" sz="3600" b="1" dirty="0" smtClean="0">
                <a:solidFill>
                  <a:srgbClr val="0070C0"/>
                </a:solidFill>
              </a:rPr>
              <a:t>1,3</a:t>
            </a:r>
            <a:r>
              <a:rPr lang="en-US" sz="3600" b="1" dirty="0" smtClean="0">
                <a:solidFill>
                  <a:srgbClr val="0070C0"/>
                </a:solidFill>
              </a:rPr>
              <a:t>}</a:t>
            </a:r>
            <a:r>
              <a:rPr lang="ru-RU" sz="3600" b="1" dirty="0" smtClean="0">
                <a:solidFill>
                  <a:srgbClr val="0070C0"/>
                </a:solidFill>
              </a:rPr>
              <a:t>, </a:t>
            </a:r>
            <a:r>
              <a:rPr lang="en-US" sz="3600" b="1" dirty="0" smtClean="0">
                <a:solidFill>
                  <a:srgbClr val="0070C0"/>
                </a:solidFill>
              </a:rPr>
              <a:t>{</a:t>
            </a:r>
            <a:r>
              <a:rPr lang="ru-RU" sz="3600" b="1" dirty="0" smtClean="0">
                <a:solidFill>
                  <a:srgbClr val="0070C0"/>
                </a:solidFill>
              </a:rPr>
              <a:t>3,2</a:t>
            </a:r>
            <a:r>
              <a:rPr lang="en-US" sz="3600" b="1" dirty="0" smtClean="0">
                <a:solidFill>
                  <a:srgbClr val="0070C0"/>
                </a:solidFill>
              </a:rPr>
              <a:t>}</a:t>
            </a:r>
            <a:r>
              <a:rPr lang="ru-RU" sz="3600" b="1" dirty="0" smtClean="0">
                <a:solidFill>
                  <a:srgbClr val="0070C0"/>
                </a:solidFill>
              </a:rPr>
              <a:t>, </a:t>
            </a:r>
            <a:r>
              <a:rPr lang="en-US" sz="3600" b="1" dirty="0">
                <a:solidFill>
                  <a:srgbClr val="0070C0"/>
                </a:solidFill>
              </a:rPr>
              <a:t>{</a:t>
            </a:r>
            <a:r>
              <a:rPr lang="ru-RU" sz="3600" b="1" dirty="0" smtClean="0">
                <a:solidFill>
                  <a:srgbClr val="0070C0"/>
                </a:solidFill>
              </a:rPr>
              <a:t>2,1</a:t>
            </a:r>
            <a:r>
              <a:rPr lang="en-US" sz="3600" b="1" dirty="0" smtClean="0">
                <a:solidFill>
                  <a:srgbClr val="0070C0"/>
                </a:solidFill>
              </a:rPr>
              <a:t>}</a:t>
            </a:r>
            <a:r>
              <a:rPr lang="ru-RU" sz="3600" b="1" dirty="0" smtClean="0">
                <a:solidFill>
                  <a:srgbClr val="0070C0"/>
                </a:solidFill>
              </a:rPr>
              <a:t>, </a:t>
            </a:r>
            <a:r>
              <a:rPr lang="en-US" sz="3600" b="1" dirty="0" smtClean="0">
                <a:solidFill>
                  <a:srgbClr val="0070C0"/>
                </a:solidFill>
              </a:rPr>
              <a:t>{</a:t>
            </a:r>
            <a:r>
              <a:rPr lang="ru-RU" sz="3600" b="1" dirty="0" smtClean="0">
                <a:solidFill>
                  <a:srgbClr val="0070C0"/>
                </a:solidFill>
              </a:rPr>
              <a:t>2,4</a:t>
            </a:r>
            <a:r>
              <a:rPr lang="en-US" sz="3600" b="1" dirty="0" smtClean="0">
                <a:solidFill>
                  <a:srgbClr val="0070C0"/>
                </a:solidFill>
              </a:rPr>
              <a:t>}</a:t>
            </a:r>
            <a:r>
              <a:rPr lang="ru-RU" sz="3600" b="1" dirty="0" smtClean="0">
                <a:solidFill>
                  <a:srgbClr val="0070C0"/>
                </a:solidFill>
              </a:rPr>
              <a:t>, </a:t>
            </a:r>
            <a:r>
              <a:rPr lang="en-US" sz="3600" b="1" dirty="0" smtClean="0">
                <a:solidFill>
                  <a:srgbClr val="0070C0"/>
                </a:solidFill>
              </a:rPr>
              <a:t>{</a:t>
            </a:r>
            <a:r>
              <a:rPr lang="ru-RU" sz="3600" b="1" dirty="0" smtClean="0">
                <a:solidFill>
                  <a:srgbClr val="0070C0"/>
                </a:solidFill>
              </a:rPr>
              <a:t>4,5</a:t>
            </a:r>
            <a:r>
              <a:rPr lang="en-US" sz="3600" b="1" dirty="0" smtClean="0">
                <a:solidFill>
                  <a:srgbClr val="0070C0"/>
                </a:solidFill>
              </a:rPr>
              <a:t>})</a:t>
            </a:r>
            <a:endParaRPr lang="ru-RU" sz="3600" b="1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39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1835696" y="16288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1547664" y="299695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539552" y="30689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2987824" y="234888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2627784" y="436510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35" name="Заголовок 1"/>
          <p:cNvSpPr txBox="1">
            <a:spLocks/>
          </p:cNvSpPr>
          <p:nvPr/>
        </p:nvSpPr>
        <p:spPr>
          <a:xfrm>
            <a:off x="4319464" y="3068960"/>
            <a:ext cx="482453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ru-RU" sz="2800" dirty="0" smtClean="0"/>
              <a:t>-      </a:t>
            </a:r>
            <a:r>
              <a:rPr lang="en-US" sz="2800" b="1" dirty="0"/>
              <a:t>weighted </a:t>
            </a:r>
            <a:r>
              <a:rPr lang="en-US" sz="2800" b="1" dirty="0" smtClean="0"/>
              <a:t>graph</a:t>
            </a:r>
            <a:endParaRPr lang="ru-RU" sz="28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5004048" y="2708920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9" name="Заголовок 1"/>
          <p:cNvSpPr txBox="1">
            <a:spLocks/>
          </p:cNvSpPr>
          <p:nvPr/>
        </p:nvSpPr>
        <p:spPr>
          <a:xfrm>
            <a:off x="4419600" y="4941168"/>
            <a:ext cx="4256856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 algn="ctr">
              <a:spcBef>
                <a:spcPct val="0"/>
              </a:spcBef>
            </a:pPr>
            <a:r>
              <a:rPr lang="en-US" sz="2800" b="1" dirty="0"/>
              <a:t>Distance matrix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800" b="1" dirty="0" smtClean="0"/>
              <a:t>(Matrix </a:t>
            </a:r>
            <a:r>
              <a:rPr lang="en-US" sz="2800" b="1" dirty="0"/>
              <a:t>of </a:t>
            </a:r>
            <a:r>
              <a:rPr lang="en-US" sz="2800" b="1" dirty="0" smtClean="0"/>
              <a:t>weights)</a:t>
            </a:r>
            <a:endParaRPr lang="ru-RU" sz="2800" b="1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1835696" y="16288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1547664" y="299695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539552" y="30689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2987824" y="234888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2627784" y="436510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771800" y="4941168"/>
            <a:ext cx="63722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/>
              <a:t>The adjacency list of a weighted graph</a:t>
            </a:r>
            <a:endParaRPr lang="ru-RU" sz="2800" b="1" dirty="0" smtClean="0"/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1835696" y="16288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1547664" y="299695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25" name="Заголовок 1"/>
          <p:cNvSpPr txBox="1">
            <a:spLocks/>
          </p:cNvSpPr>
          <p:nvPr/>
        </p:nvSpPr>
        <p:spPr>
          <a:xfrm>
            <a:off x="539552" y="30689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2987824" y="234888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2627784" y="436510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35" name="Заголовок 1"/>
          <p:cNvSpPr txBox="1">
            <a:spLocks/>
          </p:cNvSpPr>
          <p:nvPr/>
        </p:nvSpPr>
        <p:spPr>
          <a:xfrm>
            <a:off x="4419600" y="2780928"/>
            <a:ext cx="4256856" cy="2520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1:	(3,2)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2:	(1,1), (4,1)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3:	(2,3)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4:	(5,2)</a:t>
            </a:r>
          </a:p>
          <a:p>
            <a:pPr marL="514350" lvl="0" indent="-514350">
              <a:spcBef>
                <a:spcPct val="0"/>
              </a:spcBef>
            </a:pPr>
            <a:r>
              <a:rPr lang="ru-RU" sz="2800" b="1" dirty="0" smtClean="0"/>
              <a:t>5: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Graph representations</a:t>
            </a:r>
            <a:endParaRPr lang="ru-RU" sz="2800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3707904" y="4941168"/>
            <a:ext cx="49685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/>
              <a:t>The </a:t>
            </a:r>
            <a:r>
              <a:rPr lang="en-US" sz="2800" b="1" dirty="0" smtClean="0"/>
              <a:t>arc list </a:t>
            </a:r>
            <a:r>
              <a:rPr lang="en-US" sz="2800" b="1" dirty="0"/>
              <a:t>of a weighted graph</a:t>
            </a:r>
            <a:endParaRPr lang="ru-RU" sz="2800" b="1" dirty="0"/>
          </a:p>
          <a:p>
            <a:pPr marL="514350" lvl="0" indent="-514350" algn="ctr">
              <a:spcBef>
                <a:spcPct val="0"/>
              </a:spcBef>
            </a:pP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3563888" y="3212976"/>
            <a:ext cx="558011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3600" b="1" dirty="0" smtClean="0">
                <a:solidFill>
                  <a:srgbClr val="0070C0"/>
                </a:solidFill>
              </a:rPr>
              <a:t>(1,3,2), (3,2,3), (2,1,1), (2,4,1), (4,5,2)</a:t>
            </a:r>
          </a:p>
        </p:txBody>
      </p:sp>
      <p:sp>
        <p:nvSpPr>
          <p:cNvPr id="21" name="Овал 20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Овал 32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V="1">
            <a:off x="1259632" y="2564904"/>
            <a:ext cx="1224136" cy="151216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>
            <a:off x="2843808" y="2492896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>
            <a:off x="241176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41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42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44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45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47" name="Заголовок 1"/>
          <p:cNvSpPr txBox="1">
            <a:spLocks/>
          </p:cNvSpPr>
          <p:nvPr/>
        </p:nvSpPr>
        <p:spPr>
          <a:xfrm>
            <a:off x="1835696" y="16288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49" name="Заголовок 1"/>
          <p:cNvSpPr txBox="1">
            <a:spLocks/>
          </p:cNvSpPr>
          <p:nvPr/>
        </p:nvSpPr>
        <p:spPr>
          <a:xfrm>
            <a:off x="1547664" y="299695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50" name="Заголовок 1"/>
          <p:cNvSpPr txBox="1">
            <a:spLocks/>
          </p:cNvSpPr>
          <p:nvPr/>
        </p:nvSpPr>
        <p:spPr>
          <a:xfrm>
            <a:off x="539552" y="30689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51" name="Заголовок 1"/>
          <p:cNvSpPr txBox="1">
            <a:spLocks/>
          </p:cNvSpPr>
          <p:nvPr/>
        </p:nvSpPr>
        <p:spPr>
          <a:xfrm>
            <a:off x="2987824" y="234888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52" name="Заголовок 1"/>
          <p:cNvSpPr txBox="1">
            <a:spLocks/>
          </p:cNvSpPr>
          <p:nvPr/>
        </p:nvSpPr>
        <p:spPr>
          <a:xfrm>
            <a:off x="2627784" y="436510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CONNECTIVITY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Connectivity components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259632" y="2348880"/>
            <a:ext cx="1296144" cy="18722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7" name="Овал 16"/>
          <p:cNvSpPr/>
          <p:nvPr/>
        </p:nvSpPr>
        <p:spPr>
          <a:xfrm>
            <a:off x="2411760" y="486916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627784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Овал 18"/>
          <p:cNvSpPr/>
          <p:nvPr/>
        </p:nvSpPr>
        <p:spPr>
          <a:xfrm>
            <a:off x="4644008" y="486916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860032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3" name="Овал 22"/>
          <p:cNvSpPr/>
          <p:nvPr/>
        </p:nvSpPr>
        <p:spPr>
          <a:xfrm>
            <a:off x="3419872" y="5877272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3635896" y="594928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2987824" y="4221088"/>
            <a:ext cx="576064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4139952" y="5517232"/>
            <a:ext cx="576064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 flipV="1">
            <a:off x="3131840" y="5517232"/>
            <a:ext cx="393485" cy="393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>
            <a:off x="4796408" y="3212976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Заголовок 1"/>
          <p:cNvSpPr txBox="1">
            <a:spLocks/>
          </p:cNvSpPr>
          <p:nvPr/>
        </p:nvSpPr>
        <p:spPr>
          <a:xfrm>
            <a:off x="5012432" y="3284985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sp>
        <p:nvSpPr>
          <p:cNvPr id="49" name="Овал 48"/>
          <p:cNvSpPr/>
          <p:nvPr/>
        </p:nvSpPr>
        <p:spPr>
          <a:xfrm>
            <a:off x="3635896" y="378904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Заголовок 1"/>
          <p:cNvSpPr txBox="1">
            <a:spLocks/>
          </p:cNvSpPr>
          <p:nvPr/>
        </p:nvSpPr>
        <p:spPr>
          <a:xfrm>
            <a:off x="3851920" y="38610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52" name="Прямая со стрелкой 51"/>
          <p:cNvCxnSpPr/>
          <p:nvPr/>
        </p:nvCxnSpPr>
        <p:spPr>
          <a:xfrm flipH="1" flipV="1">
            <a:off x="4355977" y="4365104"/>
            <a:ext cx="288031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Овал 36"/>
          <p:cNvSpPr/>
          <p:nvPr/>
        </p:nvSpPr>
        <p:spPr>
          <a:xfrm>
            <a:off x="6804248" y="5157192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Заголовок 1"/>
          <p:cNvSpPr txBox="1">
            <a:spLocks/>
          </p:cNvSpPr>
          <p:nvPr/>
        </p:nvSpPr>
        <p:spPr>
          <a:xfrm>
            <a:off x="7020272" y="522920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9</a:t>
            </a:r>
          </a:p>
        </p:txBody>
      </p:sp>
      <p:cxnSp>
        <p:nvCxnSpPr>
          <p:cNvPr id="41" name="Прямая со стрелкой 40"/>
          <p:cNvCxnSpPr/>
          <p:nvPr/>
        </p:nvCxnSpPr>
        <p:spPr>
          <a:xfrm>
            <a:off x="5508104" y="5301208"/>
            <a:ext cx="1224136" cy="14401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Заголовок 1"/>
          <p:cNvSpPr txBox="1">
            <a:spLocks/>
          </p:cNvSpPr>
          <p:nvPr/>
        </p:nvSpPr>
        <p:spPr>
          <a:xfrm>
            <a:off x="3995936" y="1484784"/>
            <a:ext cx="3995936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 smtClean="0">
                <a:solidFill>
                  <a:srgbClr val="00B050"/>
                </a:solidFill>
              </a:rPr>
              <a:t>How many components are there?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Connectivity components</a:t>
            </a:r>
            <a:endParaRPr lang="ru-RU" sz="2800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259632" y="2348880"/>
            <a:ext cx="1296144" cy="18722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7" name="Овал 16"/>
          <p:cNvSpPr/>
          <p:nvPr/>
        </p:nvSpPr>
        <p:spPr>
          <a:xfrm>
            <a:off x="2411760" y="486916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627784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Овал 18"/>
          <p:cNvSpPr/>
          <p:nvPr/>
        </p:nvSpPr>
        <p:spPr>
          <a:xfrm>
            <a:off x="4644008" y="486916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860032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3" name="Овал 22"/>
          <p:cNvSpPr/>
          <p:nvPr/>
        </p:nvSpPr>
        <p:spPr>
          <a:xfrm>
            <a:off x="3419872" y="5877272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3635896" y="594928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cxnSp>
        <p:nvCxnSpPr>
          <p:cNvPr id="31" name="Прямая со стрелкой 30"/>
          <p:cNvCxnSpPr/>
          <p:nvPr/>
        </p:nvCxnSpPr>
        <p:spPr>
          <a:xfrm flipV="1">
            <a:off x="2987824" y="4221088"/>
            <a:ext cx="576064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4139952" y="5517232"/>
            <a:ext cx="576064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 flipV="1">
            <a:off x="3131840" y="5517232"/>
            <a:ext cx="393485" cy="393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>
            <a:off x="4796408" y="3212976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Заголовок 1"/>
          <p:cNvSpPr txBox="1">
            <a:spLocks/>
          </p:cNvSpPr>
          <p:nvPr/>
        </p:nvSpPr>
        <p:spPr>
          <a:xfrm>
            <a:off x="5012432" y="3284985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sp>
        <p:nvSpPr>
          <p:cNvPr id="45" name="Заголовок 1"/>
          <p:cNvSpPr txBox="1">
            <a:spLocks/>
          </p:cNvSpPr>
          <p:nvPr/>
        </p:nvSpPr>
        <p:spPr>
          <a:xfrm>
            <a:off x="3995936" y="1484784"/>
            <a:ext cx="3995936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Number of components: </a:t>
            </a:r>
            <a:r>
              <a:rPr lang="ru-RU" sz="2800" dirty="0" smtClean="0"/>
              <a:t>3</a:t>
            </a:r>
            <a:endParaRPr lang="en-US" sz="2800" dirty="0" smtClean="0"/>
          </a:p>
        </p:txBody>
      </p:sp>
      <p:sp>
        <p:nvSpPr>
          <p:cNvPr id="49" name="Овал 48"/>
          <p:cNvSpPr/>
          <p:nvPr/>
        </p:nvSpPr>
        <p:spPr>
          <a:xfrm>
            <a:off x="3635896" y="378904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Заголовок 1"/>
          <p:cNvSpPr txBox="1">
            <a:spLocks/>
          </p:cNvSpPr>
          <p:nvPr/>
        </p:nvSpPr>
        <p:spPr>
          <a:xfrm>
            <a:off x="3851920" y="38610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52" name="Прямая со стрелкой 51"/>
          <p:cNvCxnSpPr/>
          <p:nvPr/>
        </p:nvCxnSpPr>
        <p:spPr>
          <a:xfrm flipH="1" flipV="1">
            <a:off x="4355977" y="4365104"/>
            <a:ext cx="288031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/>
          <p:cNvSpPr/>
          <p:nvPr/>
        </p:nvSpPr>
        <p:spPr>
          <a:xfrm>
            <a:off x="6804248" y="5157192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Заголовок 1"/>
          <p:cNvSpPr txBox="1">
            <a:spLocks/>
          </p:cNvSpPr>
          <p:nvPr/>
        </p:nvSpPr>
        <p:spPr>
          <a:xfrm>
            <a:off x="7020272" y="522920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9</a:t>
            </a: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508104" y="5301208"/>
            <a:ext cx="1224136" cy="14401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Strong connectivity components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187624" y="2348880"/>
            <a:ext cx="1296144" cy="172819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7" name="Овал 16"/>
          <p:cNvSpPr/>
          <p:nvPr/>
        </p:nvSpPr>
        <p:spPr>
          <a:xfrm>
            <a:off x="2411760" y="486916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627784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Овал 18"/>
          <p:cNvSpPr/>
          <p:nvPr/>
        </p:nvSpPr>
        <p:spPr>
          <a:xfrm>
            <a:off x="4644008" y="486916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860032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3" name="Овал 22"/>
          <p:cNvSpPr/>
          <p:nvPr/>
        </p:nvSpPr>
        <p:spPr>
          <a:xfrm>
            <a:off x="3419872" y="5877272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3635896" y="594928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1403648" y="4653136"/>
            <a:ext cx="72008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3275856" y="5157192"/>
            <a:ext cx="1224136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4139952" y="5517232"/>
            <a:ext cx="576064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 flipV="1">
            <a:off x="3131840" y="5517232"/>
            <a:ext cx="393485" cy="393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Заголовок 1"/>
          <p:cNvSpPr txBox="1">
            <a:spLocks/>
          </p:cNvSpPr>
          <p:nvPr/>
        </p:nvSpPr>
        <p:spPr>
          <a:xfrm>
            <a:off x="3995936" y="1484784"/>
            <a:ext cx="4968552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 algn="ctr">
              <a:spcBef>
                <a:spcPct val="0"/>
              </a:spcBef>
            </a:pPr>
            <a:r>
              <a:rPr lang="en-US" sz="2800" b="1" dirty="0" smtClean="0">
                <a:solidFill>
                  <a:srgbClr val="00B050"/>
                </a:solidFill>
              </a:rPr>
              <a:t>How many strong </a:t>
            </a:r>
            <a:r>
              <a:rPr lang="en-US" sz="2800" b="1" dirty="0">
                <a:solidFill>
                  <a:srgbClr val="00B050"/>
                </a:solidFill>
              </a:rPr>
              <a:t>connectivity </a:t>
            </a:r>
            <a:r>
              <a:rPr lang="en-US" sz="2800" b="1" dirty="0" smtClean="0">
                <a:solidFill>
                  <a:srgbClr val="00B050"/>
                </a:solidFill>
              </a:rPr>
              <a:t>components?</a:t>
            </a:r>
          </a:p>
        </p:txBody>
      </p:sp>
      <p:sp>
        <p:nvSpPr>
          <p:cNvPr id="33" name="Овал 32"/>
          <p:cNvSpPr/>
          <p:nvPr/>
        </p:nvSpPr>
        <p:spPr>
          <a:xfrm>
            <a:off x="6804248" y="4797152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7020272" y="486916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40" name="Прямая со стрелкой 39"/>
          <p:cNvCxnSpPr/>
          <p:nvPr/>
        </p:nvCxnSpPr>
        <p:spPr>
          <a:xfrm>
            <a:off x="5436096" y="5085184"/>
            <a:ext cx="1224136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rgbClr val="0070C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Strong connectivity components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187624" y="2348880"/>
            <a:ext cx="1296144" cy="172819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7" name="Овал 16"/>
          <p:cNvSpPr/>
          <p:nvPr/>
        </p:nvSpPr>
        <p:spPr>
          <a:xfrm>
            <a:off x="2411760" y="4869160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627784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Овал 18"/>
          <p:cNvSpPr/>
          <p:nvPr/>
        </p:nvSpPr>
        <p:spPr>
          <a:xfrm>
            <a:off x="4644008" y="4869160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860032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3" name="Овал 22"/>
          <p:cNvSpPr/>
          <p:nvPr/>
        </p:nvSpPr>
        <p:spPr>
          <a:xfrm>
            <a:off x="3419872" y="5877272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3635896" y="594928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1403648" y="4653136"/>
            <a:ext cx="72008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3275856" y="5157192"/>
            <a:ext cx="1224136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4139952" y="5517232"/>
            <a:ext cx="576064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 flipV="1">
            <a:off x="3131840" y="5517232"/>
            <a:ext cx="393485" cy="393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Заголовок 1"/>
          <p:cNvSpPr txBox="1">
            <a:spLocks/>
          </p:cNvSpPr>
          <p:nvPr/>
        </p:nvSpPr>
        <p:spPr>
          <a:xfrm>
            <a:off x="3995936" y="1484784"/>
            <a:ext cx="4968552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 algn="ctr">
              <a:spcBef>
                <a:spcPct val="0"/>
              </a:spcBef>
            </a:pPr>
            <a:r>
              <a:rPr lang="en-US" sz="2800" dirty="0"/>
              <a:t>Number of </a:t>
            </a:r>
            <a:r>
              <a:rPr lang="en-US" sz="2800" dirty="0" smtClean="0"/>
              <a:t>strong </a:t>
            </a:r>
            <a:r>
              <a:rPr lang="en-US" sz="2800" dirty="0"/>
              <a:t>connectivity </a:t>
            </a:r>
            <a:r>
              <a:rPr lang="en-US" sz="2800" dirty="0" smtClean="0"/>
              <a:t>components: </a:t>
            </a:r>
            <a:r>
              <a:rPr lang="ru-RU" sz="2800" dirty="0" smtClean="0"/>
              <a:t>5</a:t>
            </a:r>
            <a:endParaRPr lang="en-US" sz="2800" dirty="0" smtClean="0"/>
          </a:p>
        </p:txBody>
      </p:sp>
      <p:sp>
        <p:nvSpPr>
          <p:cNvPr id="33" name="Овал 32"/>
          <p:cNvSpPr/>
          <p:nvPr/>
        </p:nvSpPr>
        <p:spPr>
          <a:xfrm>
            <a:off x="6804248" y="4797152"/>
            <a:ext cx="720080" cy="720080"/>
          </a:xfrm>
          <a:prstGeom prst="ellipse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7020272" y="486916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40" name="Прямая со стрелкой 39"/>
          <p:cNvCxnSpPr/>
          <p:nvPr/>
        </p:nvCxnSpPr>
        <p:spPr>
          <a:xfrm>
            <a:off x="5436096" y="5085184"/>
            <a:ext cx="1224136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5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вал 25"/>
          <p:cNvSpPr/>
          <p:nvPr/>
        </p:nvSpPr>
        <p:spPr>
          <a:xfrm>
            <a:off x="2123728" y="3861048"/>
            <a:ext cx="3384376" cy="292494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rgbClr val="0070C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 smtClean="0"/>
              <a:t>Condensation</a:t>
            </a:r>
            <a:endParaRPr lang="ru-RU" sz="2800" dirty="0" smtClean="0">
              <a:solidFill>
                <a:srgbClr val="FF0000"/>
              </a:solidFill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187624" y="2348880"/>
            <a:ext cx="1296144" cy="172819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7" name="Овал 16"/>
          <p:cNvSpPr/>
          <p:nvPr/>
        </p:nvSpPr>
        <p:spPr>
          <a:xfrm>
            <a:off x="2411760" y="4869160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627784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Овал 18"/>
          <p:cNvSpPr/>
          <p:nvPr/>
        </p:nvSpPr>
        <p:spPr>
          <a:xfrm>
            <a:off x="4644008" y="4869160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860032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3" name="Овал 22"/>
          <p:cNvSpPr/>
          <p:nvPr/>
        </p:nvSpPr>
        <p:spPr>
          <a:xfrm>
            <a:off x="3419872" y="5877272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3635896" y="594928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1403648" y="4653136"/>
            <a:ext cx="72008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3275856" y="5157192"/>
            <a:ext cx="1224136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4139952" y="5517232"/>
            <a:ext cx="576064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 flipV="1">
            <a:off x="3131840" y="5517232"/>
            <a:ext cx="393485" cy="393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6804248" y="4797152"/>
            <a:ext cx="720080" cy="720080"/>
          </a:xfrm>
          <a:prstGeom prst="ellipse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7020272" y="486916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40" name="Прямая со стрелкой 39"/>
          <p:cNvCxnSpPr/>
          <p:nvPr/>
        </p:nvCxnSpPr>
        <p:spPr>
          <a:xfrm>
            <a:off x="5580112" y="5085184"/>
            <a:ext cx="1080120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Заголовок 1"/>
          <p:cNvSpPr txBox="1">
            <a:spLocks/>
          </p:cNvSpPr>
          <p:nvPr/>
        </p:nvSpPr>
        <p:spPr>
          <a:xfrm>
            <a:off x="3419872" y="4077072"/>
            <a:ext cx="93610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456</a:t>
            </a:r>
            <a:endParaRPr lang="ru-RU" sz="2800" b="1" dirty="0" smtClean="0"/>
          </a:p>
        </p:txBody>
      </p:sp>
      <p:sp>
        <p:nvSpPr>
          <p:cNvPr id="35" name="Заголовок 1"/>
          <p:cNvSpPr txBox="1">
            <a:spLocks/>
          </p:cNvSpPr>
          <p:nvPr/>
        </p:nvSpPr>
        <p:spPr>
          <a:xfrm>
            <a:off x="3250014" y="1484784"/>
            <a:ext cx="5818530" cy="26420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 smtClean="0"/>
              <a:t>The </a:t>
            </a:r>
            <a:r>
              <a:rPr lang="en-US" sz="2000" b="1" dirty="0" smtClean="0"/>
              <a:t>CONDENSATION</a:t>
            </a:r>
            <a:r>
              <a:rPr lang="en-US" sz="2000" dirty="0" smtClean="0"/>
              <a:t> of a directed graph </a:t>
            </a:r>
            <a:r>
              <a:rPr lang="en-US" sz="2000" i="1" dirty="0" smtClean="0"/>
              <a:t>G</a:t>
            </a:r>
            <a:r>
              <a:rPr lang="en-US" sz="2000" dirty="0" smtClean="0"/>
              <a:t> is a directed </a:t>
            </a:r>
            <a:r>
              <a:rPr lang="en-US" sz="2000" b="1" dirty="0" smtClean="0">
                <a:solidFill>
                  <a:srgbClr val="FF0000"/>
                </a:solidFill>
              </a:rPr>
              <a:t>acyclic</a:t>
            </a:r>
            <a:r>
              <a:rPr lang="en-US" sz="2000" dirty="0" smtClean="0"/>
              <a:t> graph with one vertex for each strongly connected component of </a:t>
            </a:r>
            <a:r>
              <a:rPr lang="en-US" sz="2000" i="1" dirty="0" smtClean="0"/>
              <a:t>G</a:t>
            </a:r>
            <a:r>
              <a:rPr lang="en-US" sz="2000" dirty="0" smtClean="0"/>
              <a:t>, and an edge connecting pairs of components that contain the two endpoints of at least one edge in </a:t>
            </a:r>
            <a:r>
              <a:rPr lang="en-US" sz="2000" i="1" dirty="0" smtClean="0"/>
              <a:t>G</a:t>
            </a:r>
            <a:r>
              <a:rPr lang="en-US" sz="2000" dirty="0" smtClean="0"/>
              <a:t>.</a:t>
            </a:r>
            <a:endParaRPr lang="ru-RU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345235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b="1" dirty="0" smtClean="0"/>
              <a:t>Condensation has no circuit</a:t>
            </a:r>
            <a:endParaRPr lang="ru-RU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13334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Овал 25"/>
          <p:cNvSpPr/>
          <p:nvPr/>
        </p:nvSpPr>
        <p:spPr>
          <a:xfrm>
            <a:off x="2123728" y="3861048"/>
            <a:ext cx="3384376" cy="2924944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rgbClr val="FF0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rgbClr val="92D05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rgbClr val="0070C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b="1" dirty="0" smtClean="0"/>
              <a:t>Condensation </a:t>
            </a:r>
            <a:r>
              <a:rPr lang="en-US" sz="2800" b="1" dirty="0"/>
              <a:t>has no circuit</a:t>
            </a:r>
            <a:endParaRPr lang="ru-RU" sz="2800" b="1" dirty="0" smtClean="0">
              <a:solidFill>
                <a:srgbClr val="FF0000"/>
              </a:solidFill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971600" y="2852936"/>
            <a:ext cx="72008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H="1">
            <a:off x="1187624" y="2348880"/>
            <a:ext cx="1296144" cy="172819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17" name="Овал 16"/>
          <p:cNvSpPr/>
          <p:nvPr/>
        </p:nvSpPr>
        <p:spPr>
          <a:xfrm>
            <a:off x="2411760" y="4869160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627784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Овал 18"/>
          <p:cNvSpPr/>
          <p:nvPr/>
        </p:nvSpPr>
        <p:spPr>
          <a:xfrm>
            <a:off x="4644008" y="4869160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Заголовок 1"/>
          <p:cNvSpPr txBox="1">
            <a:spLocks/>
          </p:cNvSpPr>
          <p:nvPr/>
        </p:nvSpPr>
        <p:spPr>
          <a:xfrm>
            <a:off x="4860032" y="494116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3" name="Овал 22"/>
          <p:cNvSpPr/>
          <p:nvPr/>
        </p:nvSpPr>
        <p:spPr>
          <a:xfrm>
            <a:off x="3419872" y="5877272"/>
            <a:ext cx="720080" cy="72008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Заголовок 1"/>
          <p:cNvSpPr txBox="1">
            <a:spLocks/>
          </p:cNvSpPr>
          <p:nvPr/>
        </p:nvSpPr>
        <p:spPr>
          <a:xfrm>
            <a:off x="3635896" y="594928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1403648" y="4653136"/>
            <a:ext cx="720080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3275856" y="5157192"/>
            <a:ext cx="1224136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4139952" y="5517232"/>
            <a:ext cx="576064" cy="3600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 flipV="1">
            <a:off x="3131840" y="5517232"/>
            <a:ext cx="393485" cy="3934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6804248" y="4797152"/>
            <a:ext cx="720080" cy="720080"/>
          </a:xfrm>
          <a:prstGeom prst="ellipse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7020272" y="486916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40" name="Прямая со стрелкой 39"/>
          <p:cNvCxnSpPr>
            <a:stCxn id="19" idx="6"/>
          </p:cNvCxnSpPr>
          <p:nvPr/>
        </p:nvCxnSpPr>
        <p:spPr>
          <a:xfrm flipV="1">
            <a:off x="5364088" y="5157192"/>
            <a:ext cx="1296144" cy="720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Заголовок 1"/>
          <p:cNvSpPr txBox="1">
            <a:spLocks/>
          </p:cNvSpPr>
          <p:nvPr/>
        </p:nvSpPr>
        <p:spPr>
          <a:xfrm>
            <a:off x="3419872" y="4077072"/>
            <a:ext cx="93610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456</a:t>
            </a:r>
            <a:endParaRPr lang="ru-RU" sz="2800" b="1" dirty="0" smtClean="0"/>
          </a:p>
        </p:txBody>
      </p:sp>
      <p:cxnSp>
        <p:nvCxnSpPr>
          <p:cNvPr id="35" name="Прямая со стрелкой 34"/>
          <p:cNvCxnSpPr>
            <a:endCxn id="23" idx="6"/>
          </p:cNvCxnSpPr>
          <p:nvPr/>
        </p:nvCxnSpPr>
        <p:spPr>
          <a:xfrm flipH="1">
            <a:off x="4139952" y="5589240"/>
            <a:ext cx="2664296" cy="6480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 flipH="1" flipV="1">
            <a:off x="5508104" y="5517232"/>
            <a:ext cx="936104" cy="9361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flipH="1">
            <a:off x="5508104" y="5373216"/>
            <a:ext cx="648072" cy="9361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924944"/>
            <a:ext cx="9144000" cy="2664296"/>
          </a:xfrm>
        </p:spPr>
        <p:txBody>
          <a:bodyPr>
            <a:normAutofit fontScale="85000" lnSpcReduction="20000"/>
          </a:bodyPr>
          <a:lstStyle/>
          <a:p>
            <a:pPr marL="0" lvl="0" indent="0" algn="ctr">
              <a:spcBef>
                <a:spcPct val="0"/>
              </a:spcBef>
              <a:buNone/>
            </a:pPr>
            <a:r>
              <a:rPr lang="en-US" dirty="0"/>
              <a:t>In some kingdom, cities are connected by airlines</a:t>
            </a:r>
            <a:r>
              <a:rPr lang="en-US" dirty="0" smtClean="0"/>
              <a:t>.</a:t>
            </a:r>
            <a:endParaRPr lang="ru-RU" dirty="0" smtClean="0"/>
          </a:p>
          <a:p>
            <a:pPr marL="0" lvl="0" indent="0" algn="ctr">
              <a:spcBef>
                <a:spcPct val="0"/>
              </a:spcBef>
              <a:buNone/>
            </a:pPr>
            <a:endParaRPr lang="ru-RU" dirty="0"/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dirty="0" smtClean="0"/>
              <a:t>There </a:t>
            </a:r>
            <a:r>
              <a:rPr lang="en-US" dirty="0"/>
              <a:t>are 101 airlines from the capital, 1 airline from </a:t>
            </a:r>
            <a:r>
              <a:rPr lang="en-US" dirty="0" err="1"/>
              <a:t>Dalny</a:t>
            </a:r>
            <a:r>
              <a:rPr lang="en-US" dirty="0"/>
              <a:t>, and 20 airlines from all other cities</a:t>
            </a:r>
            <a:r>
              <a:rPr lang="en-US" dirty="0" smtClean="0"/>
              <a:t>.</a:t>
            </a:r>
            <a:endParaRPr lang="ru-RU" dirty="0" smtClean="0"/>
          </a:p>
          <a:p>
            <a:pPr marL="0" lvl="0" indent="0" algn="ctr">
              <a:spcBef>
                <a:spcPct val="0"/>
              </a:spcBef>
              <a:buNone/>
            </a:pPr>
            <a:endParaRPr lang="ru-RU" dirty="0"/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dirty="0" smtClean="0"/>
              <a:t>Prove </a:t>
            </a:r>
            <a:r>
              <a:rPr lang="en-US" dirty="0"/>
              <a:t>that it is possible to get by plane from the capital to the </a:t>
            </a:r>
            <a:r>
              <a:rPr lang="en-US" dirty="0" smtClean="0"/>
              <a:t>city of </a:t>
            </a:r>
            <a:r>
              <a:rPr lang="en-US" dirty="0" err="1"/>
              <a:t>Dalny</a:t>
            </a:r>
            <a:r>
              <a:rPr lang="en-US" dirty="0"/>
              <a:t> </a:t>
            </a:r>
            <a:r>
              <a:rPr lang="en-US" dirty="0" smtClean="0"/>
              <a:t>(possibly </a:t>
            </a:r>
            <a:r>
              <a:rPr lang="en-US" dirty="0"/>
              <a:t>with transplants).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96723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Tree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1115616" y="15567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771800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843808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899592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2123728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Tree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907704" y="1628800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619672" y="1916832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3131840" y="1988840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627784" y="3645024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1333872" y="162880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990056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115616" y="378904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987824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2267744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5" name="Овал 24"/>
          <p:cNvSpPr/>
          <p:nvPr/>
        </p:nvSpPr>
        <p:spPr>
          <a:xfrm>
            <a:off x="4788024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4067944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 flipH="1">
            <a:off x="4644008" y="3645024"/>
            <a:ext cx="360040" cy="136815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Заголовок 1"/>
          <p:cNvSpPr txBox="1">
            <a:spLocks/>
          </p:cNvSpPr>
          <p:nvPr/>
        </p:nvSpPr>
        <p:spPr>
          <a:xfrm>
            <a:off x="4932040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4211960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3635896" y="1772816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Заголовок 1"/>
          <p:cNvSpPr txBox="1">
            <a:spLocks/>
          </p:cNvSpPr>
          <p:nvPr/>
        </p:nvSpPr>
        <p:spPr>
          <a:xfrm>
            <a:off x="4860032" y="4265712"/>
            <a:ext cx="423042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A </a:t>
            </a:r>
            <a:r>
              <a:rPr lang="en-US" sz="2800" b="1" dirty="0" smtClean="0"/>
              <a:t>TREE</a:t>
            </a:r>
            <a:r>
              <a:rPr lang="en-US" sz="2800" dirty="0"/>
              <a:t> is an </a:t>
            </a:r>
            <a:r>
              <a:rPr lang="en-US" sz="2800" b="1" dirty="0">
                <a:solidFill>
                  <a:srgbClr val="FF0000"/>
                </a:solidFill>
              </a:rPr>
              <a:t>undirected</a:t>
            </a:r>
            <a:r>
              <a:rPr lang="en-US" sz="2800" dirty="0"/>
              <a:t> graph that is both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connected </a:t>
            </a:r>
            <a:r>
              <a:rPr lang="en-US" sz="2800" dirty="0"/>
              <a:t>and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acyclic</a:t>
            </a:r>
            <a:endParaRPr lang="ru-RU" sz="28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1115616" y="15567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771800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843808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899592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2123728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Tree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907704" y="1628800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619672" y="1916832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3131840" y="1988840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627784" y="3645024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1333872" y="162880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990056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115616" y="378904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987824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2267744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5" name="Овал 24"/>
          <p:cNvSpPr/>
          <p:nvPr/>
        </p:nvSpPr>
        <p:spPr>
          <a:xfrm>
            <a:off x="4788024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4067944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 flipH="1">
            <a:off x="4644008" y="3645024"/>
            <a:ext cx="360040" cy="136815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Заголовок 1"/>
          <p:cNvSpPr txBox="1">
            <a:spLocks/>
          </p:cNvSpPr>
          <p:nvPr/>
        </p:nvSpPr>
        <p:spPr>
          <a:xfrm>
            <a:off x="4932040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4211960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3635896" y="1772816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Заголовок 1"/>
          <p:cNvSpPr txBox="1">
            <a:spLocks/>
          </p:cNvSpPr>
          <p:nvPr/>
        </p:nvSpPr>
        <p:spPr>
          <a:xfrm>
            <a:off x="4860032" y="4265712"/>
            <a:ext cx="423042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A </a:t>
            </a:r>
            <a:r>
              <a:rPr lang="en-US" sz="2800" b="1" dirty="0" smtClean="0"/>
              <a:t>TREE</a:t>
            </a:r>
            <a:r>
              <a:rPr lang="en-US" sz="2800" dirty="0"/>
              <a:t> is </a:t>
            </a:r>
            <a:r>
              <a:rPr lang="en-US" sz="2800" dirty="0" smtClean="0"/>
              <a:t>a</a:t>
            </a:r>
            <a:r>
              <a:rPr lang="ru-RU" sz="2800" dirty="0" smtClean="0"/>
              <a:t> </a:t>
            </a:r>
            <a:r>
              <a:rPr lang="en-US" sz="2800" dirty="0" smtClean="0"/>
              <a:t>graph </a:t>
            </a:r>
            <a:r>
              <a:rPr lang="en-US" sz="2800" dirty="0"/>
              <a:t>that is both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connected </a:t>
            </a:r>
            <a:r>
              <a:rPr lang="en-US" sz="2800" dirty="0"/>
              <a:t>and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acyclic</a:t>
            </a:r>
            <a:endParaRPr lang="ru-RU" sz="28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93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1115616" y="15567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771800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843808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899592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2123728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Tree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907704" y="1628800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619672" y="1916832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3131840" y="1988840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627784" y="3645024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1333872" y="162880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990056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115616" y="378904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987824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2267744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5" name="Овал 24"/>
          <p:cNvSpPr/>
          <p:nvPr/>
        </p:nvSpPr>
        <p:spPr>
          <a:xfrm>
            <a:off x="4788024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4067944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 flipH="1">
            <a:off x="4644008" y="3645024"/>
            <a:ext cx="360040" cy="136815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Заголовок 1"/>
          <p:cNvSpPr txBox="1">
            <a:spLocks/>
          </p:cNvSpPr>
          <p:nvPr/>
        </p:nvSpPr>
        <p:spPr>
          <a:xfrm>
            <a:off x="4932040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4211960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3635896" y="1772816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 flipV="1">
            <a:off x="1115616" y="4581128"/>
            <a:ext cx="216024" cy="1152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 flipV="1">
            <a:off x="971600" y="2492896"/>
            <a:ext cx="288032" cy="3096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 flipV="1">
            <a:off x="1331640" y="5589240"/>
            <a:ext cx="648072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/>
          <p:nvPr/>
        </p:nvCxnSpPr>
        <p:spPr>
          <a:xfrm flipV="1">
            <a:off x="1403648" y="5661248"/>
            <a:ext cx="252028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Заголовок 1"/>
          <p:cNvSpPr txBox="1">
            <a:spLocks/>
          </p:cNvSpPr>
          <p:nvPr/>
        </p:nvSpPr>
        <p:spPr>
          <a:xfrm>
            <a:off x="0" y="5373216"/>
            <a:ext cx="1872208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Leafs</a:t>
            </a:r>
            <a:endParaRPr lang="ru-RU" sz="2800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4355976" y="1520788"/>
            <a:ext cx="4538229" cy="1368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400" b="1" dirty="0" smtClean="0"/>
              <a:t>LEAF </a:t>
            </a:r>
            <a:r>
              <a:rPr lang="en-US" sz="2400" dirty="0" smtClean="0"/>
              <a:t>is a vertex </a:t>
            </a:r>
            <a:r>
              <a:rPr lang="en-US" sz="2400" dirty="0"/>
              <a:t>whose degree is </a:t>
            </a:r>
            <a:r>
              <a:rPr lang="en-US" sz="2400" dirty="0" smtClean="0"/>
              <a:t>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414908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Forest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2060848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2348880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771800" y="2420888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267744" y="4077072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422108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5" name="Овал 24"/>
          <p:cNvSpPr/>
          <p:nvPr/>
        </p:nvSpPr>
        <p:spPr>
          <a:xfrm>
            <a:off x="4427984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3707904" y="55172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 flipH="1">
            <a:off x="4283968" y="4077072"/>
            <a:ext cx="360040" cy="136815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Заголовок 1"/>
          <p:cNvSpPr txBox="1">
            <a:spLocks/>
          </p:cNvSpPr>
          <p:nvPr/>
        </p:nvSpPr>
        <p:spPr>
          <a:xfrm>
            <a:off x="4572000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3851920" y="558924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3275856" y="2204864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вал 33"/>
          <p:cNvSpPr/>
          <p:nvPr/>
        </p:nvSpPr>
        <p:spPr>
          <a:xfrm>
            <a:off x="6948264" y="15567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Овал 34"/>
          <p:cNvSpPr/>
          <p:nvPr/>
        </p:nvSpPr>
        <p:spPr>
          <a:xfrm>
            <a:off x="6228184" y="37890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0" name="Прямая со стрелкой 39"/>
          <p:cNvCxnSpPr/>
          <p:nvPr/>
        </p:nvCxnSpPr>
        <p:spPr>
          <a:xfrm flipH="1">
            <a:off x="6804248" y="2348880"/>
            <a:ext cx="360040" cy="136815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Заголовок 1"/>
          <p:cNvSpPr txBox="1">
            <a:spLocks/>
          </p:cNvSpPr>
          <p:nvPr/>
        </p:nvSpPr>
        <p:spPr>
          <a:xfrm>
            <a:off x="7092280" y="16288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sp>
        <p:nvSpPr>
          <p:cNvPr id="42" name="Заголовок 1"/>
          <p:cNvSpPr txBox="1">
            <a:spLocks/>
          </p:cNvSpPr>
          <p:nvPr/>
        </p:nvSpPr>
        <p:spPr>
          <a:xfrm>
            <a:off x="6372200" y="386104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9</a:t>
            </a:r>
            <a:endParaRPr lang="ru-RU" sz="2800" b="1" dirty="0" smtClean="0"/>
          </a:p>
        </p:txBody>
      </p:sp>
      <p:sp>
        <p:nvSpPr>
          <p:cNvPr id="44" name="Заголовок 1"/>
          <p:cNvSpPr txBox="1">
            <a:spLocks/>
          </p:cNvSpPr>
          <p:nvPr/>
        </p:nvSpPr>
        <p:spPr>
          <a:xfrm>
            <a:off x="4689036" y="4833156"/>
            <a:ext cx="423042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A </a:t>
            </a:r>
            <a:r>
              <a:rPr lang="en-US" sz="2800" b="1" dirty="0" smtClean="0"/>
              <a:t>FOREST</a:t>
            </a:r>
            <a:r>
              <a:rPr lang="en-US" sz="2800" dirty="0"/>
              <a:t> is an undirected graph </a:t>
            </a:r>
            <a:r>
              <a:rPr lang="en-US" sz="2800" dirty="0" smtClean="0"/>
              <a:t>that is 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acyclic</a:t>
            </a:r>
            <a:endParaRPr lang="ru-RU" sz="28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3187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dirty="0"/>
              <a:t>There is always a leaf in a </a:t>
            </a:r>
            <a:r>
              <a:rPr lang="en-US" dirty="0" smtClean="0"/>
              <a:t>tree</a:t>
            </a:r>
            <a:r>
              <a:rPr lang="ru-RU" dirty="0" smtClean="0"/>
              <a:t> </a:t>
            </a:r>
            <a:r>
              <a:rPr lang="en-US" dirty="0" smtClean="0"/>
              <a:t>with more than one vertex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19623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 the opposite.</a:t>
            </a:r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3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 the </a:t>
            </a:r>
            <a:r>
              <a:rPr lang="en-US" sz="2000" dirty="0" smtClean="0"/>
              <a:t>opposite, i.e</a:t>
            </a:r>
            <a:r>
              <a:rPr lang="en-US" sz="2000" dirty="0"/>
              <a:t>., there are no sheets.</a:t>
            </a:r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70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1209932" y="400709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7" name="Прямая со стрелкой 16"/>
          <p:cNvCxnSpPr/>
          <p:nvPr/>
        </p:nvCxnSpPr>
        <p:spPr>
          <a:xfrm flipH="1">
            <a:off x="1919460" y="3603609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3555455" y="5587045"/>
            <a:ext cx="2079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Degree of vertex </a:t>
            </a:r>
            <a:r>
              <a:rPr lang="en-US" dirty="0" smtClean="0"/>
              <a:t>= 3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484277" y="5592449"/>
            <a:ext cx="2079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Degree of vertex </a:t>
            </a:r>
            <a:r>
              <a:rPr lang="en-US" dirty="0" smtClean="0"/>
              <a:t>= 2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3995936" y="4045609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>
            <a:off x="4788024" y="4607149"/>
            <a:ext cx="846846" cy="139377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 flipH="1">
            <a:off x="4705464" y="364212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H="1">
            <a:off x="4847909" y="4171964"/>
            <a:ext cx="791709" cy="1524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>
            <a:off x="2052099" y="4068688"/>
            <a:ext cx="791709" cy="15240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Прямоугольник 40"/>
          <p:cNvSpPr/>
          <p:nvPr/>
        </p:nvSpPr>
        <p:spPr>
          <a:xfrm>
            <a:off x="6136287" y="5587045"/>
            <a:ext cx="2079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Degree of vertex </a:t>
            </a:r>
            <a:r>
              <a:rPr lang="en-US" dirty="0" smtClean="0"/>
              <a:t>&gt; 2</a:t>
            </a:r>
            <a:endParaRPr lang="ru-RU" dirty="0"/>
          </a:p>
        </p:txBody>
      </p:sp>
      <p:sp>
        <p:nvSpPr>
          <p:cNvPr id="42" name="Овал 41"/>
          <p:cNvSpPr/>
          <p:nvPr/>
        </p:nvSpPr>
        <p:spPr>
          <a:xfrm>
            <a:off x="6576768" y="4045609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3" name="Прямая со стрелкой 42"/>
          <p:cNvCxnSpPr/>
          <p:nvPr/>
        </p:nvCxnSpPr>
        <p:spPr>
          <a:xfrm>
            <a:off x="7368856" y="4607149"/>
            <a:ext cx="846846" cy="139377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 flipH="1">
            <a:off x="7286296" y="364212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7620597" y="4045609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535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2722100" y="436713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3431628" y="3963649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>
            <a:off x="4860032" y="4165391"/>
            <a:ext cx="72008" cy="561783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4211960" y="33569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4572000" y="4854323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3431628" y="5066156"/>
            <a:ext cx="1068364" cy="148207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7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2915816" y="5403677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 smtClean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 smtClean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 smtClean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2915816" y="5403677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2127568" y="592201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3736744" y="5763717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2. Take any vertex adjacent to it.</a:t>
            </a:r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 smtClean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 smtClean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 smtClean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2915816" y="5403677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2127568" y="592201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>
            <a:off x="4672848" y="5425399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2" name="Прямая со стрелкой 11"/>
          <p:cNvCxnSpPr/>
          <p:nvPr/>
        </p:nvCxnSpPr>
        <p:spPr>
          <a:xfrm flipH="1">
            <a:off x="3736744" y="5763717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65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2. Take any vertex adjacent to it.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3) If the vertex turns out to be marked, the cycle has been found. Exit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2915816" y="5403677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2127568" y="592201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672848" y="5425399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3736744" y="5763717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Дуга 1"/>
          <p:cNvSpPr/>
          <p:nvPr/>
        </p:nvSpPr>
        <p:spPr>
          <a:xfrm rot="8100959">
            <a:off x="3476664" y="4992402"/>
            <a:ext cx="1440160" cy="1368152"/>
          </a:xfrm>
          <a:prstGeom prst="arc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82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2. Take any vertex adjacent to it.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3) If the vertex turns out to be marked, the cycle has been found. Exit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4) The degree of this vertex is also &gt;= 2, </a:t>
            </a:r>
            <a:endParaRPr lang="ru-RU" sz="2000" dirty="0" smtClean="0"/>
          </a:p>
          <a:p>
            <a:pPr marL="514350" lvl="0" indent="-514350">
              <a:spcBef>
                <a:spcPct val="0"/>
              </a:spcBef>
            </a:pPr>
            <a:endParaRPr lang="ru-RU" sz="2000" dirty="0" smtClean="0"/>
          </a:p>
          <a:p>
            <a:pPr marL="514350" lvl="0" indent="-514350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915816" y="5403677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127568" y="592201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4672848" y="5425399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3736744" y="5763717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5464936" y="5741995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76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2. Take any vertex adjacent to it.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3) If the vertex turns out to be marked, the cycle has been found. Exit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4) The degree of this vertex is also &gt;= 2, so it has at least one more adjacent vertex. Take it and mark it as added to the cycle under construction</a:t>
            </a:r>
            <a:r>
              <a:rPr lang="en-US" sz="2000" dirty="0" smtClean="0"/>
              <a:t>.</a:t>
            </a:r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915816" y="5403677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127568" y="592201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4672848" y="5425399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3736744" y="5763717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5464936" y="5741995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6401040" y="5381955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07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2. Take any vertex adjacent to it.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3) If the vertex turns out to be marked, the cycle has been found. Exit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4) The degree of this vertex is also &gt;= 2, so it has at least one more adjacent vertex. Take it and mark it as added to the cycle under construction. Let's go to step 2.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915816" y="5403677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2127568" y="5922014"/>
            <a:ext cx="716240" cy="403485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/>
          <p:cNvSpPr/>
          <p:nvPr/>
        </p:nvSpPr>
        <p:spPr>
          <a:xfrm>
            <a:off x="4672848" y="5425399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flipH="1">
            <a:off x="3736744" y="5763717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5464936" y="5741995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6401040" y="5381955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flipH="1">
            <a:off x="7221968" y="5720273"/>
            <a:ext cx="835256" cy="2172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7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2. Take any vertex adjacent to it.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3) If the vertex turns out to be marked, the cycle has been found. Exit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4) The degree of this vertex is also &gt;= 2, so it has at least one more adjacent vertex. Take it and mark it as added to the cycle under construction. Let's go to step 2.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Since the number of vertices is finite, at some step the marked vertex will be chosen, which means that a cycle will be found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58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 contrary proof</a:t>
            </a:r>
            <a:endParaRPr lang="ru-RU" sz="2800" b="1" dirty="0"/>
          </a:p>
        </p:txBody>
      </p:sp>
      <p:sp>
        <p:nvSpPr>
          <p:cNvPr id="23" name="Заголовок 1"/>
          <p:cNvSpPr txBox="1">
            <a:spLocks/>
          </p:cNvSpPr>
          <p:nvPr/>
        </p:nvSpPr>
        <p:spPr>
          <a:xfrm>
            <a:off x="0" y="1556792"/>
            <a:ext cx="9144000" cy="5301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Suppose there is no leaf.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Then the degree of each vertex is greater than or equal to 2.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show that such graph exactly has a cycle.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Let us apply a constructive approach. </a:t>
            </a:r>
            <a:r>
              <a:rPr lang="en-US" sz="2000" dirty="0" smtClean="0"/>
              <a:t>Let us </a:t>
            </a:r>
            <a:r>
              <a:rPr lang="en-US" sz="2000" dirty="0"/>
              <a:t>construct it.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1) Take an arbitrary vertex. Mark it as added to the cycle under construction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2) Its degree &gt;= 2. Take any vertex adjacent to it.</a:t>
            </a:r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3) If the vertex turns out to be marked, the cycle has been found. Exit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>
              <a:spcBef>
                <a:spcPct val="0"/>
              </a:spcBef>
            </a:pPr>
            <a:r>
              <a:rPr lang="en-US" sz="2000" dirty="0"/>
              <a:t>4) The degree of this vertex is also &gt;= 2, so it has at least one more adjacent vertex. Take it and mark it as added to the cycle under construction. Let's go to step 2.</a:t>
            </a: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Since the number of vertices is finite, at some step the marked vertex will be chosen, which means that a cycle will be found</a:t>
            </a:r>
            <a:r>
              <a:rPr lang="en-US" sz="2000" dirty="0" smtClean="0"/>
              <a:t>.</a:t>
            </a:r>
            <a:endParaRPr lang="en-US" sz="2000" dirty="0"/>
          </a:p>
          <a:p>
            <a:pPr marL="514350" lvl="0" indent="-514350" algn="ctr">
              <a:spcBef>
                <a:spcPct val="0"/>
              </a:spcBef>
            </a:pPr>
            <a:endParaRPr lang="en-US" sz="2000" dirty="0" smtClean="0"/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/>
              <a:t>Contradiction!</a:t>
            </a:r>
          </a:p>
          <a:p>
            <a:pPr marL="514350" lvl="0" indent="-514350" algn="ctr">
              <a:spcBef>
                <a:spcPct val="0"/>
              </a:spcBef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 there is a sheet in the loop</a:t>
            </a:r>
            <a:endParaRPr lang="ru-RU" sz="2000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34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3187"/>
          </a:xfrm>
        </p:spPr>
        <p:txBody>
          <a:bodyPr/>
          <a:lstStyle/>
          <a:p>
            <a:pPr marL="0" lvl="0" indent="0" algn="ctr">
              <a:spcBef>
                <a:spcPct val="0"/>
              </a:spcBef>
              <a:buNone/>
            </a:pPr>
            <a:r>
              <a:rPr lang="en-US" dirty="0"/>
              <a:t>There is </a:t>
            </a:r>
            <a:r>
              <a:rPr lang="en-US" dirty="0" smtClean="0"/>
              <a:t>   </a:t>
            </a:r>
            <a:r>
              <a:rPr lang="en-US" b="1" dirty="0" smtClean="0"/>
              <a:t>|</a:t>
            </a:r>
            <a:r>
              <a:rPr lang="en-US" b="1" dirty="0"/>
              <a:t>E| </a:t>
            </a:r>
            <a:r>
              <a:rPr lang="ru-RU" b="1" dirty="0"/>
              <a:t>=</a:t>
            </a:r>
            <a:r>
              <a:rPr lang="en-US" b="1" dirty="0"/>
              <a:t> |V</a:t>
            </a:r>
            <a:r>
              <a:rPr lang="en-US" b="1" dirty="0" smtClean="0"/>
              <a:t>|- 1</a:t>
            </a:r>
            <a:r>
              <a:rPr lang="en-US" dirty="0" smtClean="0"/>
              <a:t>    in any tree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79993829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1115616" y="15567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771800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843808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899592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2123728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There is    </a:t>
            </a:r>
            <a:r>
              <a:rPr lang="en-US" sz="2800" b="1" dirty="0"/>
              <a:t>|E| </a:t>
            </a:r>
            <a:r>
              <a:rPr lang="ru-RU" sz="2800" b="1" dirty="0"/>
              <a:t>=</a:t>
            </a:r>
            <a:r>
              <a:rPr lang="en-US" sz="2800" b="1" dirty="0"/>
              <a:t> |V|- 1</a:t>
            </a:r>
            <a:r>
              <a:rPr lang="en-US" sz="2800" dirty="0"/>
              <a:t>    in any tree</a:t>
            </a:r>
            <a:endParaRPr lang="ru-RU" sz="2800" b="1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907704" y="1628800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619672" y="1916832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3131840" y="1988840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627784" y="3645024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1333872" y="162880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990056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115616" y="378904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987824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2267744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5" name="Овал 24"/>
          <p:cNvSpPr/>
          <p:nvPr/>
        </p:nvSpPr>
        <p:spPr>
          <a:xfrm>
            <a:off x="4788024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4067944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 flipH="1">
            <a:off x="4644008" y="3645024"/>
            <a:ext cx="360040" cy="136815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Заголовок 1"/>
          <p:cNvSpPr txBox="1">
            <a:spLocks/>
          </p:cNvSpPr>
          <p:nvPr/>
        </p:nvSpPr>
        <p:spPr>
          <a:xfrm>
            <a:off x="4932040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4211960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3635896" y="1772816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1115616" y="15567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771800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843808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899592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2123728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dirty="0"/>
              <a:t>There is    </a:t>
            </a:r>
            <a:r>
              <a:rPr lang="en-US" sz="2800" b="1" dirty="0"/>
              <a:t>|E| </a:t>
            </a:r>
            <a:r>
              <a:rPr lang="ru-RU" sz="2800" b="1" dirty="0"/>
              <a:t>=</a:t>
            </a:r>
            <a:r>
              <a:rPr lang="en-US" sz="2800" b="1" dirty="0"/>
              <a:t> |V|- 1</a:t>
            </a:r>
            <a:r>
              <a:rPr lang="en-US" sz="2800" dirty="0"/>
              <a:t>    in any tree</a:t>
            </a:r>
            <a:endParaRPr lang="ru-RU" sz="2800" b="1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907704" y="1628800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619672" y="1916832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3131840" y="1988840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627784" y="3645024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1333872" y="162880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990056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115616" y="378904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987824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2267744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5" name="Овал 24"/>
          <p:cNvSpPr/>
          <p:nvPr/>
        </p:nvSpPr>
        <p:spPr>
          <a:xfrm>
            <a:off x="4788024" y="285293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4067944" y="50851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 flipH="1">
            <a:off x="4644008" y="3645024"/>
            <a:ext cx="360040" cy="136815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Заголовок 1"/>
          <p:cNvSpPr txBox="1">
            <a:spLocks/>
          </p:cNvSpPr>
          <p:nvPr/>
        </p:nvSpPr>
        <p:spPr>
          <a:xfrm>
            <a:off x="4932040" y="292494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4211960" y="51571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3635896" y="1772816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1835696" y="980728"/>
            <a:ext cx="504056" cy="12241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 flipH="1">
            <a:off x="755576" y="1124744"/>
            <a:ext cx="1656184" cy="136815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Заголовок 1"/>
          <p:cNvSpPr txBox="1">
            <a:spLocks/>
          </p:cNvSpPr>
          <p:nvPr/>
        </p:nvSpPr>
        <p:spPr>
          <a:xfrm>
            <a:off x="5004048" y="4077072"/>
            <a:ext cx="4139952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514350" indent="-514350" algn="ctr">
              <a:spcBef>
                <a:spcPct val="0"/>
              </a:spcBef>
            </a:pPr>
            <a:r>
              <a:rPr lang="en-US" sz="2800" dirty="0"/>
              <a:t>After discarding a leaf from a graph that has more than 2 vertices, the graph remains a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924944"/>
            <a:ext cx="9144000" cy="2448272"/>
          </a:xfrm>
        </p:spPr>
        <p:txBody>
          <a:bodyPr>
            <a:normAutofit fontScale="92500" lnSpcReduction="20000"/>
          </a:bodyPr>
          <a:lstStyle/>
          <a:p>
            <a:pPr marL="0" lvl="0" indent="0" algn="ctr">
              <a:spcBef>
                <a:spcPct val="0"/>
              </a:spcBef>
              <a:buNone/>
            </a:pPr>
            <a:r>
              <a:rPr lang="en-US" dirty="0"/>
              <a:t>There are 101 cities in the country of </a:t>
            </a:r>
            <a:r>
              <a:rPr lang="en-US" dirty="0" err="1"/>
              <a:t>Drevlyandia</a:t>
            </a:r>
            <a:r>
              <a:rPr lang="en-US" dirty="0"/>
              <a:t>, and some of them are connected by roads</a:t>
            </a:r>
            <a:r>
              <a:rPr lang="en-US" dirty="0" smtClean="0"/>
              <a:t>.</a:t>
            </a:r>
            <a:endParaRPr lang="ru-RU" dirty="0" smtClean="0"/>
          </a:p>
          <a:p>
            <a:pPr marL="0" lvl="0" indent="0" algn="ctr">
              <a:spcBef>
                <a:spcPct val="0"/>
              </a:spcBef>
              <a:buNone/>
            </a:pPr>
            <a:endParaRPr lang="ru-RU" dirty="0" smtClean="0"/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dirty="0" smtClean="0"/>
              <a:t>Any </a:t>
            </a:r>
            <a:r>
              <a:rPr lang="en-US" dirty="0"/>
              <a:t>two cities are connected by exactly one </a:t>
            </a:r>
            <a:r>
              <a:rPr lang="en-US" dirty="0" smtClean="0"/>
              <a:t>road.</a:t>
            </a:r>
            <a:endParaRPr lang="ru-RU" dirty="0" smtClean="0"/>
          </a:p>
          <a:p>
            <a:pPr marL="0" lvl="0" indent="0" algn="ctr">
              <a:spcBef>
                <a:spcPct val="0"/>
              </a:spcBef>
              <a:buNone/>
            </a:pPr>
            <a:endParaRPr lang="ru-RU" dirty="0"/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dirty="0" smtClean="0"/>
              <a:t>How </a:t>
            </a:r>
            <a:r>
              <a:rPr lang="en-US" dirty="0"/>
              <a:t>many roads are there in this country?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116581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Isomorphism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27384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Isomorphism</a:t>
            </a:r>
            <a:endParaRPr lang="ru-RU" sz="2800" b="1" dirty="0" smtClean="0"/>
          </a:p>
        </p:txBody>
      </p:sp>
      <p:sp>
        <p:nvSpPr>
          <p:cNvPr id="4" name="Овал 3"/>
          <p:cNvSpPr/>
          <p:nvPr/>
        </p:nvSpPr>
        <p:spPr>
          <a:xfrm>
            <a:off x="111561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284380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267744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190770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3131840" y="2492896"/>
            <a:ext cx="0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277180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1"/>
          <p:cNvSpPr txBox="1">
            <a:spLocks/>
          </p:cNvSpPr>
          <p:nvPr/>
        </p:nvSpPr>
        <p:spPr>
          <a:xfrm>
            <a:off x="133387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299005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298782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411760" y="551723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8" name="Овал 27"/>
          <p:cNvSpPr/>
          <p:nvPr/>
        </p:nvSpPr>
        <p:spPr>
          <a:xfrm>
            <a:off x="1043608" y="35730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1261864" y="3645025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20" name="Овал 19"/>
          <p:cNvSpPr/>
          <p:nvPr/>
        </p:nvSpPr>
        <p:spPr>
          <a:xfrm>
            <a:off x="579613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45232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752432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6948264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4" name="Прямая со стрелкой 23"/>
          <p:cNvCxnSpPr/>
          <p:nvPr/>
        </p:nvCxnSpPr>
        <p:spPr>
          <a:xfrm flipH="1">
            <a:off x="658822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V="1">
            <a:off x="7812360" y="2492896"/>
            <a:ext cx="0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7452320" y="4077072"/>
            <a:ext cx="288032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Заголовок 1"/>
          <p:cNvSpPr txBox="1">
            <a:spLocks/>
          </p:cNvSpPr>
          <p:nvPr/>
        </p:nvSpPr>
        <p:spPr>
          <a:xfrm>
            <a:off x="5796136" y="2060849"/>
            <a:ext cx="57606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13</a:t>
            </a:r>
            <a:endParaRPr lang="ru-RU" sz="2800" b="1" dirty="0" smtClean="0"/>
          </a:p>
        </p:txBody>
      </p:sp>
      <p:sp>
        <p:nvSpPr>
          <p:cNvPr id="32" name="Заголовок 1"/>
          <p:cNvSpPr txBox="1">
            <a:spLocks/>
          </p:cNvSpPr>
          <p:nvPr/>
        </p:nvSpPr>
        <p:spPr>
          <a:xfrm>
            <a:off x="7452320" y="1700808"/>
            <a:ext cx="57606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14</a:t>
            </a:r>
            <a:endParaRPr lang="ru-RU" sz="2800" b="1" dirty="0" smtClean="0"/>
          </a:p>
        </p:txBody>
      </p:sp>
      <p:sp>
        <p:nvSpPr>
          <p:cNvPr id="33" name="Заголовок 1"/>
          <p:cNvSpPr txBox="1">
            <a:spLocks/>
          </p:cNvSpPr>
          <p:nvPr/>
        </p:nvSpPr>
        <p:spPr>
          <a:xfrm>
            <a:off x="7668344" y="3356992"/>
            <a:ext cx="57606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12</a:t>
            </a:r>
            <a:endParaRPr lang="ru-RU" sz="2800" b="1" dirty="0" smtClean="0"/>
          </a:p>
        </p:txBody>
      </p:sp>
      <p:sp>
        <p:nvSpPr>
          <p:cNvPr id="34" name="Заголовок 1"/>
          <p:cNvSpPr txBox="1">
            <a:spLocks/>
          </p:cNvSpPr>
          <p:nvPr/>
        </p:nvSpPr>
        <p:spPr>
          <a:xfrm>
            <a:off x="7092280" y="5517232"/>
            <a:ext cx="504056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11</a:t>
            </a:r>
            <a:endParaRPr lang="ru-RU" sz="2800" b="1" dirty="0" smtClean="0"/>
          </a:p>
        </p:txBody>
      </p:sp>
      <p:sp>
        <p:nvSpPr>
          <p:cNvPr id="35" name="Овал 34"/>
          <p:cNvSpPr/>
          <p:nvPr/>
        </p:nvSpPr>
        <p:spPr>
          <a:xfrm>
            <a:off x="5724128" y="357301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Заголовок 1"/>
          <p:cNvSpPr txBox="1">
            <a:spLocks/>
          </p:cNvSpPr>
          <p:nvPr/>
        </p:nvSpPr>
        <p:spPr>
          <a:xfrm>
            <a:off x="5796136" y="3645025"/>
            <a:ext cx="501824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27384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Isomorphism</a:t>
            </a:r>
            <a:endParaRPr lang="ru-RU" sz="2800" b="1" dirty="0" smtClean="0"/>
          </a:p>
        </p:txBody>
      </p:sp>
      <p:sp>
        <p:nvSpPr>
          <p:cNvPr id="4" name="Овал 3"/>
          <p:cNvSpPr/>
          <p:nvPr/>
        </p:nvSpPr>
        <p:spPr>
          <a:xfrm>
            <a:off x="111561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345353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267744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190770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3347864" y="2420888"/>
            <a:ext cx="360040" cy="7920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1040101" y="2708920"/>
            <a:ext cx="289201" cy="93610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1"/>
          <p:cNvSpPr txBox="1">
            <a:spLocks/>
          </p:cNvSpPr>
          <p:nvPr/>
        </p:nvSpPr>
        <p:spPr>
          <a:xfrm>
            <a:off x="1333872" y="206084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2990056" y="170080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3597554" y="335699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2411760" y="551723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8" name="Овал 27"/>
          <p:cNvSpPr/>
          <p:nvPr/>
        </p:nvSpPr>
        <p:spPr>
          <a:xfrm>
            <a:off x="537214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470" y="3789041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cxnSp>
        <p:nvCxnSpPr>
          <p:cNvPr id="37" name="Прямая со стрелкой 36"/>
          <p:cNvCxnSpPr/>
          <p:nvPr/>
        </p:nvCxnSpPr>
        <p:spPr>
          <a:xfrm>
            <a:off x="1257294" y="4365104"/>
            <a:ext cx="938442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 flipV="1">
            <a:off x="2915816" y="4149080"/>
            <a:ext cx="792088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V="1">
            <a:off x="1411401" y="3789041"/>
            <a:ext cx="1978454" cy="21602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>
            <a:off x="5545444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7201628" y="126876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8100392" y="519998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6537654" y="24568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7" name="Прямая со стрелкой 46"/>
          <p:cNvCxnSpPr/>
          <p:nvPr/>
        </p:nvCxnSpPr>
        <p:spPr>
          <a:xfrm flipH="1">
            <a:off x="6337532" y="170080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flipH="1" flipV="1">
            <a:off x="7777692" y="2060848"/>
            <a:ext cx="645620" cy="284431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 flipH="1">
            <a:off x="5502725" y="2528900"/>
            <a:ext cx="329415" cy="291632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Заголовок 1"/>
          <p:cNvSpPr txBox="1">
            <a:spLocks/>
          </p:cNvSpPr>
          <p:nvPr/>
        </p:nvSpPr>
        <p:spPr>
          <a:xfrm>
            <a:off x="5763700" y="1700809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/>
              <a:t>3</a:t>
            </a:r>
            <a:endParaRPr lang="ru-RU" sz="2800" dirty="0" smtClean="0"/>
          </a:p>
        </p:txBody>
      </p:sp>
      <p:sp>
        <p:nvSpPr>
          <p:cNvPr id="51" name="Заголовок 1"/>
          <p:cNvSpPr txBox="1">
            <a:spLocks/>
          </p:cNvSpPr>
          <p:nvPr/>
        </p:nvSpPr>
        <p:spPr>
          <a:xfrm>
            <a:off x="7419884" y="1340768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52" name="Заголовок 1"/>
          <p:cNvSpPr txBox="1">
            <a:spLocks/>
          </p:cNvSpPr>
          <p:nvPr/>
        </p:nvSpPr>
        <p:spPr>
          <a:xfrm>
            <a:off x="8244408" y="527199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/>
              <a:t>5</a:t>
            </a:r>
            <a:endParaRPr lang="ru-RU" sz="2800" b="1" dirty="0" smtClean="0"/>
          </a:p>
        </p:txBody>
      </p:sp>
      <p:sp>
        <p:nvSpPr>
          <p:cNvPr id="53" name="Заголовок 1"/>
          <p:cNvSpPr txBox="1">
            <a:spLocks/>
          </p:cNvSpPr>
          <p:nvPr/>
        </p:nvSpPr>
        <p:spPr>
          <a:xfrm>
            <a:off x="6681670" y="252890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54" name="Овал 53"/>
          <p:cNvSpPr/>
          <p:nvPr/>
        </p:nvSpPr>
        <p:spPr>
          <a:xfrm>
            <a:off x="5184068" y="563203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Заголовок 1"/>
          <p:cNvSpPr txBox="1">
            <a:spLocks/>
          </p:cNvSpPr>
          <p:nvPr/>
        </p:nvSpPr>
        <p:spPr>
          <a:xfrm>
            <a:off x="5402324" y="5704043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cxnSp>
        <p:nvCxnSpPr>
          <p:cNvPr id="56" name="Прямая со стрелкой 55"/>
          <p:cNvCxnSpPr/>
          <p:nvPr/>
        </p:nvCxnSpPr>
        <p:spPr>
          <a:xfrm flipV="1">
            <a:off x="5904148" y="3212976"/>
            <a:ext cx="737414" cy="23470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/>
          <p:nvPr/>
        </p:nvCxnSpPr>
        <p:spPr>
          <a:xfrm>
            <a:off x="7257734" y="3176972"/>
            <a:ext cx="879998" cy="19802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 flipV="1">
            <a:off x="6058255" y="5704043"/>
            <a:ext cx="1978454" cy="21602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95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-27384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Isomorphism</a:t>
            </a:r>
            <a:endParaRPr lang="ru-RU" sz="2800" b="1" dirty="0" smtClean="0"/>
          </a:p>
        </p:txBody>
      </p:sp>
      <p:sp>
        <p:nvSpPr>
          <p:cNvPr id="4" name="Овал 3"/>
          <p:cNvSpPr/>
          <p:nvPr/>
        </p:nvSpPr>
        <p:spPr>
          <a:xfrm>
            <a:off x="1115616" y="198884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2771800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3453538" y="32849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267744" y="54452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1907704" y="206084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3347864" y="2420888"/>
            <a:ext cx="360040" cy="7920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1040101" y="2708920"/>
            <a:ext cx="289201" cy="93610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/>
          <p:cNvSpPr/>
          <p:nvPr/>
        </p:nvSpPr>
        <p:spPr>
          <a:xfrm>
            <a:off x="537214" y="371703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7" name="Прямая со стрелкой 36"/>
          <p:cNvCxnSpPr/>
          <p:nvPr/>
        </p:nvCxnSpPr>
        <p:spPr>
          <a:xfrm>
            <a:off x="1257294" y="4365104"/>
            <a:ext cx="938442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 flipV="1">
            <a:off x="2915816" y="4149080"/>
            <a:ext cx="792088" cy="12961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V="1">
            <a:off x="1411401" y="3789041"/>
            <a:ext cx="1978454" cy="21602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Овал 42"/>
          <p:cNvSpPr/>
          <p:nvPr/>
        </p:nvSpPr>
        <p:spPr>
          <a:xfrm>
            <a:off x="5545444" y="162880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Овал 43"/>
          <p:cNvSpPr/>
          <p:nvPr/>
        </p:nvSpPr>
        <p:spPr>
          <a:xfrm>
            <a:off x="7201628" y="1268760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8100392" y="519998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6537654" y="245689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7" name="Прямая со стрелкой 46"/>
          <p:cNvCxnSpPr/>
          <p:nvPr/>
        </p:nvCxnSpPr>
        <p:spPr>
          <a:xfrm flipH="1">
            <a:off x="6337532" y="1700808"/>
            <a:ext cx="792088" cy="28803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 flipH="1" flipV="1">
            <a:off x="7777692" y="2060848"/>
            <a:ext cx="645620" cy="284431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 flipH="1">
            <a:off x="5502725" y="2528900"/>
            <a:ext cx="329415" cy="291632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Овал 53"/>
          <p:cNvSpPr/>
          <p:nvPr/>
        </p:nvSpPr>
        <p:spPr>
          <a:xfrm>
            <a:off x="5184068" y="563203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6" name="Прямая со стрелкой 55"/>
          <p:cNvCxnSpPr/>
          <p:nvPr/>
        </p:nvCxnSpPr>
        <p:spPr>
          <a:xfrm flipV="1">
            <a:off x="5904148" y="3212976"/>
            <a:ext cx="737414" cy="23470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/>
          <p:nvPr/>
        </p:nvCxnSpPr>
        <p:spPr>
          <a:xfrm>
            <a:off x="7257734" y="3176972"/>
            <a:ext cx="879998" cy="19802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 flipV="1">
            <a:off x="6058255" y="5704043"/>
            <a:ext cx="1978454" cy="21602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21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Eulerian </a:t>
            </a:r>
            <a:r>
              <a:rPr lang="en-US" dirty="0" smtClean="0"/>
              <a:t>path/cycle/graph</a:t>
            </a: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755576" y="14847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2411760" y="112474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Овал 42"/>
          <p:cNvSpPr/>
          <p:nvPr/>
        </p:nvSpPr>
        <p:spPr>
          <a:xfrm>
            <a:off x="2483768" y="278092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539552" y="36450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Овал 47"/>
          <p:cNvSpPr/>
          <p:nvPr/>
        </p:nvSpPr>
        <p:spPr>
          <a:xfrm>
            <a:off x="1763688" y="501317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Eulerian path</a:t>
            </a:r>
            <a:endParaRPr lang="ru-RU" sz="2800" dirty="0" smtClean="0"/>
          </a:p>
        </p:txBody>
      </p:sp>
      <p:cxnSp>
        <p:nvCxnSpPr>
          <p:cNvPr id="16" name="Прямая со стрелкой 15"/>
          <p:cNvCxnSpPr/>
          <p:nvPr/>
        </p:nvCxnSpPr>
        <p:spPr>
          <a:xfrm flipH="1">
            <a:off x="1547664" y="1556792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1259632" y="1844824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2771800" y="1916832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2267744" y="3573016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Заголовок 1"/>
          <p:cNvSpPr txBox="1">
            <a:spLocks/>
          </p:cNvSpPr>
          <p:nvPr/>
        </p:nvSpPr>
        <p:spPr>
          <a:xfrm>
            <a:off x="973832" y="1556793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28" name="Заголовок 1"/>
          <p:cNvSpPr txBox="1">
            <a:spLocks/>
          </p:cNvSpPr>
          <p:nvPr/>
        </p:nvSpPr>
        <p:spPr>
          <a:xfrm>
            <a:off x="2630016" y="119675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29" name="Заголовок 1"/>
          <p:cNvSpPr txBox="1">
            <a:spLocks/>
          </p:cNvSpPr>
          <p:nvPr/>
        </p:nvSpPr>
        <p:spPr>
          <a:xfrm>
            <a:off x="755576" y="3717033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30" name="Заголовок 1"/>
          <p:cNvSpPr txBox="1">
            <a:spLocks/>
          </p:cNvSpPr>
          <p:nvPr/>
        </p:nvSpPr>
        <p:spPr>
          <a:xfrm>
            <a:off x="2627784" y="285293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31" name="Заголовок 1"/>
          <p:cNvSpPr txBox="1">
            <a:spLocks/>
          </p:cNvSpPr>
          <p:nvPr/>
        </p:nvSpPr>
        <p:spPr>
          <a:xfrm>
            <a:off x="1907704" y="508518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25" name="Овал 24"/>
          <p:cNvSpPr/>
          <p:nvPr/>
        </p:nvSpPr>
        <p:spPr>
          <a:xfrm>
            <a:off x="4427984" y="278092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Овал 31"/>
          <p:cNvSpPr/>
          <p:nvPr/>
        </p:nvSpPr>
        <p:spPr>
          <a:xfrm>
            <a:off x="3707904" y="501317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Заголовок 1"/>
          <p:cNvSpPr txBox="1">
            <a:spLocks/>
          </p:cNvSpPr>
          <p:nvPr/>
        </p:nvSpPr>
        <p:spPr>
          <a:xfrm>
            <a:off x="4572000" y="285293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37" name="Заголовок 1"/>
          <p:cNvSpPr txBox="1">
            <a:spLocks/>
          </p:cNvSpPr>
          <p:nvPr/>
        </p:nvSpPr>
        <p:spPr>
          <a:xfrm>
            <a:off x="3851920" y="508518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3203848" y="1700808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 flipH="1">
            <a:off x="971600" y="2348880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/>
          <p:nvPr/>
        </p:nvCxnSpPr>
        <p:spPr>
          <a:xfrm flipH="1">
            <a:off x="2699792" y="5229200"/>
            <a:ext cx="792088" cy="7200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вал 33"/>
          <p:cNvSpPr/>
          <p:nvPr/>
        </p:nvSpPr>
        <p:spPr>
          <a:xfrm>
            <a:off x="5508104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Заголовок 1"/>
          <p:cNvSpPr txBox="1">
            <a:spLocks/>
          </p:cNvSpPr>
          <p:nvPr/>
        </p:nvSpPr>
        <p:spPr>
          <a:xfrm>
            <a:off x="5652120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cxnSp>
        <p:nvCxnSpPr>
          <p:cNvPr id="40" name="Прямая со стрелкой 39"/>
          <p:cNvCxnSpPr/>
          <p:nvPr/>
        </p:nvCxnSpPr>
        <p:spPr>
          <a:xfrm>
            <a:off x="3275856" y="1412776"/>
            <a:ext cx="2160240" cy="7200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 flipV="1">
            <a:off x="5076056" y="1916832"/>
            <a:ext cx="360040" cy="72008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Заголовок 1"/>
          <p:cNvSpPr txBox="1">
            <a:spLocks/>
          </p:cNvSpPr>
          <p:nvPr/>
        </p:nvSpPr>
        <p:spPr>
          <a:xfrm>
            <a:off x="3843536" y="3583823"/>
            <a:ext cx="530046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 smtClean="0"/>
              <a:t>An </a:t>
            </a:r>
            <a:r>
              <a:rPr lang="en-US" sz="2800" b="1" dirty="0" smtClean="0"/>
              <a:t>Eulerian </a:t>
            </a:r>
            <a:r>
              <a:rPr lang="en-US" sz="2800" b="1" dirty="0"/>
              <a:t>path</a:t>
            </a:r>
            <a:r>
              <a:rPr lang="en-US" sz="2800" dirty="0"/>
              <a:t> is </a:t>
            </a:r>
            <a:r>
              <a:rPr lang="en-US" sz="2800" dirty="0" smtClean="0"/>
              <a:t>a path </a:t>
            </a:r>
            <a:r>
              <a:rPr lang="en-US" sz="2800" dirty="0"/>
              <a:t>containing all </a:t>
            </a:r>
            <a:r>
              <a:rPr lang="en-US" sz="2800" dirty="0" smtClean="0"/>
              <a:t>edges</a:t>
            </a:r>
            <a:r>
              <a:rPr lang="ru-RU" sz="2800" dirty="0" smtClean="0"/>
              <a:t> </a:t>
            </a:r>
            <a:r>
              <a:rPr lang="en-US" sz="2800" dirty="0" smtClean="0"/>
              <a:t>of a graph</a:t>
            </a:r>
            <a:endParaRPr lang="ru-RU" sz="2800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850308" y="6352925"/>
            <a:ext cx="8293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dirty="0"/>
              <a:t>Example: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 smtClean="0"/>
              <a:t>(</a:t>
            </a:r>
            <a:r>
              <a:rPr lang="en-US" dirty="0" smtClean="0"/>
              <a:t>2</a:t>
            </a:r>
            <a:r>
              <a:rPr lang="ru-RU" dirty="0" smtClean="0"/>
              <a:t>,3</a:t>
            </a:r>
            <a:r>
              <a:rPr lang="ru-RU" dirty="0"/>
              <a:t>), (</a:t>
            </a:r>
            <a:r>
              <a:rPr lang="ru-RU" dirty="0" smtClean="0"/>
              <a:t>3,</a:t>
            </a:r>
            <a:r>
              <a:rPr lang="en-US" dirty="0" smtClean="0"/>
              <a:t>1</a:t>
            </a:r>
            <a:r>
              <a:rPr lang="ru-RU" dirty="0" smtClean="0"/>
              <a:t>), (</a:t>
            </a:r>
            <a:r>
              <a:rPr lang="en-US" dirty="0" smtClean="0"/>
              <a:t>1</a:t>
            </a:r>
            <a:r>
              <a:rPr lang="ru-RU" dirty="0" smtClean="0"/>
              <a:t>,</a:t>
            </a:r>
            <a:r>
              <a:rPr lang="en-US" dirty="0" smtClean="0"/>
              <a:t>2</a:t>
            </a:r>
            <a:r>
              <a:rPr lang="ru-RU" dirty="0" smtClean="0"/>
              <a:t>)</a:t>
            </a:r>
            <a:r>
              <a:rPr lang="en-US" dirty="0" smtClean="0"/>
              <a:t>, </a:t>
            </a:r>
            <a:r>
              <a:rPr lang="ru-RU" dirty="0" smtClean="0"/>
              <a:t>(2,8), (8,6), (6,2), (2,4), (4,5), (5,7)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Eulerian </a:t>
            </a:r>
            <a:r>
              <a:rPr lang="en-US" sz="2800" dirty="0" smtClean="0"/>
              <a:t>cycle</a:t>
            </a:r>
            <a:endParaRPr lang="ru-RU" sz="2800" dirty="0" smtClean="0"/>
          </a:p>
        </p:txBody>
      </p:sp>
      <p:sp>
        <p:nvSpPr>
          <p:cNvPr id="51" name="Заголовок 1"/>
          <p:cNvSpPr txBox="1">
            <a:spLocks/>
          </p:cNvSpPr>
          <p:nvPr/>
        </p:nvSpPr>
        <p:spPr>
          <a:xfrm>
            <a:off x="3664024" y="3773061"/>
            <a:ext cx="530046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An </a:t>
            </a:r>
            <a:r>
              <a:rPr lang="en-US" sz="2800" b="1" dirty="0"/>
              <a:t>Eulerian </a:t>
            </a:r>
            <a:r>
              <a:rPr lang="en-US" sz="2800" b="1" dirty="0" smtClean="0"/>
              <a:t>cycle</a:t>
            </a:r>
            <a:r>
              <a:rPr lang="en-US" sz="2800" dirty="0" smtClean="0"/>
              <a:t> is </a:t>
            </a:r>
            <a:r>
              <a:rPr lang="en-US" sz="2800" dirty="0"/>
              <a:t>a </a:t>
            </a:r>
            <a:r>
              <a:rPr lang="en-US" sz="2800" dirty="0" smtClean="0"/>
              <a:t>cycle containing </a:t>
            </a:r>
            <a:r>
              <a:rPr lang="en-US" sz="2800" dirty="0"/>
              <a:t>all edges</a:t>
            </a:r>
            <a:r>
              <a:rPr lang="ru-RU" sz="2800" dirty="0"/>
              <a:t> </a:t>
            </a:r>
            <a:r>
              <a:rPr lang="en-US" sz="2800" dirty="0"/>
              <a:t>of a graph</a:t>
            </a:r>
            <a:endParaRPr lang="ru-RU" sz="2800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850308" y="6352925"/>
            <a:ext cx="8293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0"/>
              </a:spcBef>
            </a:pPr>
            <a:r>
              <a:rPr lang="en-US" dirty="0"/>
              <a:t>Example: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 smtClean="0"/>
              <a:t>(</a:t>
            </a:r>
            <a:r>
              <a:rPr lang="en-US" dirty="0" smtClean="0"/>
              <a:t>2</a:t>
            </a:r>
            <a:r>
              <a:rPr lang="ru-RU" dirty="0" smtClean="0"/>
              <a:t>,3</a:t>
            </a:r>
            <a:r>
              <a:rPr lang="ru-RU" dirty="0"/>
              <a:t>), (</a:t>
            </a:r>
            <a:r>
              <a:rPr lang="ru-RU" dirty="0" smtClean="0"/>
              <a:t>3,</a:t>
            </a:r>
            <a:r>
              <a:rPr lang="en-US" dirty="0" smtClean="0"/>
              <a:t>1</a:t>
            </a:r>
            <a:r>
              <a:rPr lang="ru-RU" dirty="0" smtClean="0"/>
              <a:t>), (</a:t>
            </a:r>
            <a:r>
              <a:rPr lang="en-US" dirty="0" smtClean="0"/>
              <a:t>1</a:t>
            </a:r>
            <a:r>
              <a:rPr lang="ru-RU" dirty="0" smtClean="0"/>
              <a:t>,</a:t>
            </a:r>
            <a:r>
              <a:rPr lang="en-US" dirty="0" smtClean="0"/>
              <a:t>2</a:t>
            </a:r>
            <a:r>
              <a:rPr lang="ru-RU" dirty="0" smtClean="0"/>
              <a:t>)</a:t>
            </a:r>
            <a:r>
              <a:rPr lang="en-US" dirty="0" smtClean="0"/>
              <a:t>, </a:t>
            </a:r>
            <a:r>
              <a:rPr lang="ru-RU" dirty="0" smtClean="0"/>
              <a:t>(2,8), (8,6), (6,2), (2,4), (4,5), (5,7), (7,2)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2" name="Овал 41"/>
          <p:cNvSpPr/>
          <p:nvPr/>
        </p:nvSpPr>
        <p:spPr>
          <a:xfrm>
            <a:off x="755576" y="148478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Овал 44"/>
          <p:cNvSpPr/>
          <p:nvPr/>
        </p:nvSpPr>
        <p:spPr>
          <a:xfrm>
            <a:off x="2411760" y="112474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9" name="Овал 48"/>
          <p:cNvSpPr/>
          <p:nvPr/>
        </p:nvSpPr>
        <p:spPr>
          <a:xfrm>
            <a:off x="2483768" y="278092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Овал 49"/>
          <p:cNvSpPr/>
          <p:nvPr/>
        </p:nvSpPr>
        <p:spPr>
          <a:xfrm>
            <a:off x="539552" y="3645024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2" name="Овал 51"/>
          <p:cNvSpPr/>
          <p:nvPr/>
        </p:nvSpPr>
        <p:spPr>
          <a:xfrm>
            <a:off x="1763688" y="501317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3" name="Прямая со стрелкой 52"/>
          <p:cNvCxnSpPr/>
          <p:nvPr/>
        </p:nvCxnSpPr>
        <p:spPr>
          <a:xfrm flipH="1">
            <a:off x="1547664" y="1556792"/>
            <a:ext cx="792088" cy="28803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 flipV="1">
            <a:off x="1259632" y="1844824"/>
            <a:ext cx="1224136" cy="172819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>
            <a:off x="2771800" y="1916832"/>
            <a:ext cx="0" cy="79208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/>
          <p:nvPr/>
        </p:nvCxnSpPr>
        <p:spPr>
          <a:xfrm flipH="1">
            <a:off x="2267744" y="3573016"/>
            <a:ext cx="432048" cy="1296144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Заголовок 1"/>
          <p:cNvSpPr txBox="1">
            <a:spLocks/>
          </p:cNvSpPr>
          <p:nvPr/>
        </p:nvSpPr>
        <p:spPr>
          <a:xfrm>
            <a:off x="973832" y="1556793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1</a:t>
            </a:r>
            <a:endParaRPr lang="ru-RU" sz="2800" b="1" dirty="0" smtClean="0"/>
          </a:p>
        </p:txBody>
      </p:sp>
      <p:sp>
        <p:nvSpPr>
          <p:cNvPr id="59" name="Заголовок 1"/>
          <p:cNvSpPr txBox="1">
            <a:spLocks/>
          </p:cNvSpPr>
          <p:nvPr/>
        </p:nvSpPr>
        <p:spPr>
          <a:xfrm>
            <a:off x="2630016" y="1196752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2</a:t>
            </a:r>
            <a:endParaRPr lang="ru-RU" sz="2800" b="1" dirty="0" smtClean="0"/>
          </a:p>
        </p:txBody>
      </p:sp>
      <p:sp>
        <p:nvSpPr>
          <p:cNvPr id="60" name="Заголовок 1"/>
          <p:cNvSpPr txBox="1">
            <a:spLocks/>
          </p:cNvSpPr>
          <p:nvPr/>
        </p:nvSpPr>
        <p:spPr>
          <a:xfrm>
            <a:off x="755576" y="3717033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3</a:t>
            </a:r>
            <a:endParaRPr lang="ru-RU" sz="2800" b="1" dirty="0" smtClean="0"/>
          </a:p>
        </p:txBody>
      </p:sp>
      <p:sp>
        <p:nvSpPr>
          <p:cNvPr id="61" name="Заголовок 1"/>
          <p:cNvSpPr txBox="1">
            <a:spLocks/>
          </p:cNvSpPr>
          <p:nvPr/>
        </p:nvSpPr>
        <p:spPr>
          <a:xfrm>
            <a:off x="2627784" y="285293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4</a:t>
            </a:r>
            <a:endParaRPr lang="ru-RU" sz="2800" b="1" dirty="0" smtClean="0"/>
          </a:p>
        </p:txBody>
      </p:sp>
      <p:sp>
        <p:nvSpPr>
          <p:cNvPr id="62" name="Заголовок 1"/>
          <p:cNvSpPr txBox="1">
            <a:spLocks/>
          </p:cNvSpPr>
          <p:nvPr/>
        </p:nvSpPr>
        <p:spPr>
          <a:xfrm>
            <a:off x="1907704" y="508518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5</a:t>
            </a:r>
            <a:endParaRPr lang="ru-RU" sz="2800" b="1" dirty="0" smtClean="0"/>
          </a:p>
        </p:txBody>
      </p:sp>
      <p:sp>
        <p:nvSpPr>
          <p:cNvPr id="63" name="Овал 62"/>
          <p:cNvSpPr/>
          <p:nvPr/>
        </p:nvSpPr>
        <p:spPr>
          <a:xfrm>
            <a:off x="4427984" y="2780928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4" name="Овал 63"/>
          <p:cNvSpPr/>
          <p:nvPr/>
        </p:nvSpPr>
        <p:spPr>
          <a:xfrm>
            <a:off x="3707904" y="5013176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5" name="Заголовок 1"/>
          <p:cNvSpPr txBox="1">
            <a:spLocks/>
          </p:cNvSpPr>
          <p:nvPr/>
        </p:nvSpPr>
        <p:spPr>
          <a:xfrm>
            <a:off x="4572000" y="2852936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6</a:t>
            </a:r>
            <a:endParaRPr lang="ru-RU" sz="2800" b="1" dirty="0" smtClean="0"/>
          </a:p>
        </p:txBody>
      </p:sp>
      <p:sp>
        <p:nvSpPr>
          <p:cNvPr id="66" name="Заголовок 1"/>
          <p:cNvSpPr txBox="1">
            <a:spLocks/>
          </p:cNvSpPr>
          <p:nvPr/>
        </p:nvSpPr>
        <p:spPr>
          <a:xfrm>
            <a:off x="3851920" y="5085184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7</a:t>
            </a:r>
            <a:endParaRPr lang="ru-RU" sz="2800" b="1" dirty="0" smtClean="0"/>
          </a:p>
        </p:txBody>
      </p:sp>
      <p:cxnSp>
        <p:nvCxnSpPr>
          <p:cNvPr id="67" name="Прямая со стрелкой 66"/>
          <p:cNvCxnSpPr/>
          <p:nvPr/>
        </p:nvCxnSpPr>
        <p:spPr>
          <a:xfrm>
            <a:off x="3203848" y="1700808"/>
            <a:ext cx="115212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/>
          <p:nvPr/>
        </p:nvCxnSpPr>
        <p:spPr>
          <a:xfrm flipH="1">
            <a:off x="971600" y="2348880"/>
            <a:ext cx="72008" cy="108012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/>
          <p:nvPr/>
        </p:nvCxnSpPr>
        <p:spPr>
          <a:xfrm flipH="1">
            <a:off x="2699792" y="5229200"/>
            <a:ext cx="792088" cy="7200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Овал 69"/>
          <p:cNvSpPr/>
          <p:nvPr/>
        </p:nvSpPr>
        <p:spPr>
          <a:xfrm>
            <a:off x="5508104" y="1196752"/>
            <a:ext cx="720080" cy="7200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Заголовок 1"/>
          <p:cNvSpPr txBox="1">
            <a:spLocks/>
          </p:cNvSpPr>
          <p:nvPr/>
        </p:nvSpPr>
        <p:spPr>
          <a:xfrm>
            <a:off x="5652120" y="1268760"/>
            <a:ext cx="357808" cy="576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8</a:t>
            </a:r>
            <a:endParaRPr lang="ru-RU" sz="2800" b="1" dirty="0" smtClean="0"/>
          </a:p>
        </p:txBody>
      </p:sp>
      <p:cxnSp>
        <p:nvCxnSpPr>
          <p:cNvPr id="72" name="Прямая со стрелкой 71"/>
          <p:cNvCxnSpPr/>
          <p:nvPr/>
        </p:nvCxnSpPr>
        <p:spPr>
          <a:xfrm>
            <a:off x="3275856" y="1412776"/>
            <a:ext cx="2160240" cy="7200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/>
          <p:nvPr/>
        </p:nvCxnSpPr>
        <p:spPr>
          <a:xfrm flipV="1">
            <a:off x="5076056" y="1916832"/>
            <a:ext cx="360040" cy="72008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>
            <a:off x="3095836" y="1931033"/>
            <a:ext cx="756084" cy="30537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/>
          <p:cNvSpPr txBox="1">
            <a:spLocks/>
          </p:cNvSpPr>
          <p:nvPr/>
        </p:nvSpPr>
        <p:spPr>
          <a:xfrm>
            <a:off x="0" y="0"/>
            <a:ext cx="9144000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Eulerian cycle</a:t>
            </a:r>
            <a:endParaRPr lang="ru-RU" sz="2800" dirty="0" smtClean="0"/>
          </a:p>
        </p:txBody>
      </p:sp>
      <p:sp>
        <p:nvSpPr>
          <p:cNvPr id="51" name="Заголовок 1"/>
          <p:cNvSpPr txBox="1">
            <a:spLocks/>
          </p:cNvSpPr>
          <p:nvPr/>
        </p:nvSpPr>
        <p:spPr>
          <a:xfrm>
            <a:off x="3843536" y="3948778"/>
            <a:ext cx="5300464" cy="108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An Eulerian cycle is a </a:t>
            </a:r>
            <a:r>
              <a:rPr lang="en-US" sz="2800" dirty="0" smtClean="0"/>
              <a:t>cycle </a:t>
            </a:r>
            <a:r>
              <a:rPr lang="en-US" sz="2800" dirty="0"/>
              <a:t>containing all edges</a:t>
            </a:r>
            <a:r>
              <a:rPr lang="ru-RU" sz="2800" dirty="0"/>
              <a:t> </a:t>
            </a:r>
            <a:r>
              <a:rPr lang="en-US" sz="2800" dirty="0"/>
              <a:t>of a graph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412776"/>
            <a:ext cx="7772400" cy="338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Let G(V,E) be a connected </a:t>
            </a:r>
            <a:r>
              <a:rPr lang="en-US" sz="2000" dirty="0" smtClean="0"/>
              <a:t>undirected graph</a:t>
            </a:r>
            <a:r>
              <a:rPr lang="en-US" sz="2000" dirty="0"/>
              <a:t>, then the following conditions are </a:t>
            </a:r>
            <a:r>
              <a:rPr lang="en-US" sz="2000" dirty="0" smtClean="0"/>
              <a:t>equivalent</a:t>
            </a:r>
            <a:r>
              <a:rPr lang="ru-RU" sz="2000" dirty="0" smtClean="0"/>
              <a:t>:</a:t>
            </a:r>
          </a:p>
          <a:p>
            <a:endParaRPr lang="ru-RU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G is</a:t>
            </a:r>
            <a:r>
              <a:rPr lang="ru-RU" sz="2000" dirty="0" smtClean="0"/>
              <a:t> </a:t>
            </a:r>
            <a:r>
              <a:rPr lang="en-US" sz="2000" dirty="0" smtClean="0"/>
              <a:t>an </a:t>
            </a:r>
            <a:r>
              <a:rPr lang="en-US" sz="2000" dirty="0"/>
              <a:t>Eulerian </a:t>
            </a:r>
            <a:r>
              <a:rPr lang="en-US" sz="2000" dirty="0" smtClean="0"/>
              <a:t>graph</a:t>
            </a:r>
            <a:endParaRPr lang="ru-RU" sz="2000" dirty="0" smtClean="0"/>
          </a:p>
          <a:p>
            <a:pPr marL="457200" indent="-457200">
              <a:buAutoNum type="arabicPeriod"/>
            </a:pPr>
            <a:endParaRPr lang="ru-RU" sz="2000" b="1" dirty="0" smtClean="0"/>
          </a:p>
          <a:p>
            <a:pPr marL="457200" indent="-457200">
              <a:buAutoNum type="arabicPeriod"/>
            </a:pPr>
            <a:r>
              <a:rPr lang="en-US" sz="2000" dirty="0"/>
              <a:t>Degrees of all vertices are even</a:t>
            </a:r>
            <a:endParaRPr lang="ru-RU" sz="2000" dirty="0" smtClean="0"/>
          </a:p>
          <a:p>
            <a:pPr marL="457200" indent="-457200">
              <a:buAutoNum type="arabicPeriod"/>
            </a:pPr>
            <a:endParaRPr lang="ru-RU" sz="2000" b="1" dirty="0" smtClean="0"/>
          </a:p>
          <a:p>
            <a:pPr marL="457200" indent="-457200">
              <a:buAutoNum type="arabicPeriod"/>
            </a:pPr>
            <a:r>
              <a:rPr lang="en-US" sz="2000" dirty="0"/>
              <a:t>The set of edges is divided into non-intersecting simple cycles</a:t>
            </a:r>
            <a:endParaRPr lang="ru-RU" sz="2000" dirty="0" smtClean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Theorem</a:t>
            </a: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38200" y="5805264"/>
            <a:ext cx="77724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dirty="0" smtClean="0"/>
              <a:t>*Existence </a:t>
            </a:r>
            <a:r>
              <a:rPr lang="en-US" sz="2000" dirty="0"/>
              <a:t>of an Eulerian cycle</a:t>
            </a: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107504" y="1268760"/>
            <a:ext cx="345638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en-US" sz="2800" dirty="0" smtClean="0"/>
              <a:t>G is an </a:t>
            </a:r>
            <a:r>
              <a:rPr lang="en-US" sz="2800" dirty="0"/>
              <a:t>Eulerian graph</a:t>
            </a:r>
            <a:r>
              <a:rPr lang="ru-RU" sz="2800" dirty="0" smtClean="0"/>
              <a:t> 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427984" y="1268760"/>
            <a:ext cx="471601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/>
            <a:r>
              <a:rPr lang="en-US" sz="2800" dirty="0"/>
              <a:t>Degrees of all vertices are even</a:t>
            </a:r>
            <a:endParaRPr lang="ru-RU" sz="2800" dirty="0" smtClean="0"/>
          </a:p>
        </p:txBody>
      </p:sp>
      <p:sp>
        <p:nvSpPr>
          <p:cNvPr id="5" name="Стрелка вправо 4"/>
          <p:cNvSpPr/>
          <p:nvPr/>
        </p:nvSpPr>
        <p:spPr>
          <a:xfrm>
            <a:off x="3635896" y="1628800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757808" y="2564904"/>
            <a:ext cx="259005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en-US" sz="2800" dirty="0" smtClean="0"/>
              <a:t>Ǝ</a:t>
            </a:r>
            <a:r>
              <a:rPr lang="ru-RU" sz="2800" dirty="0" smtClean="0"/>
              <a:t> </a:t>
            </a:r>
            <a:r>
              <a:rPr lang="en-US" sz="2800" dirty="0"/>
              <a:t>Eulerian </a:t>
            </a:r>
            <a:r>
              <a:rPr lang="en-US" sz="2800" dirty="0" smtClean="0"/>
              <a:t>cycle</a:t>
            </a:r>
            <a:endParaRPr lang="ru-RU" sz="2800" dirty="0" smtClean="0"/>
          </a:p>
        </p:txBody>
      </p:sp>
      <p:sp>
        <p:nvSpPr>
          <p:cNvPr id="8" name="Стрелка вправо 7"/>
          <p:cNvSpPr/>
          <p:nvPr/>
        </p:nvSpPr>
        <p:spPr>
          <a:xfrm rot="3712409">
            <a:off x="1778704" y="2329780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право 9"/>
          <p:cNvSpPr/>
          <p:nvPr/>
        </p:nvSpPr>
        <p:spPr>
          <a:xfrm rot="3712409">
            <a:off x="1994729" y="3553917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187624" y="4221088"/>
            <a:ext cx="7056784" cy="2304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800" dirty="0" smtClean="0">
                <a:solidFill>
                  <a:srgbClr val="FF0000"/>
                </a:solidFill>
              </a:rPr>
              <a:t>Рассмотрим произвольную  вершину этого цикла. Двигаясь по циклу, в нее вошли столько же раз сколько и вышли из нее. Значит количество входящих и исходящих ребер одинаково.</a:t>
            </a:r>
          </a:p>
        </p:txBody>
      </p:sp>
      <p:sp>
        <p:nvSpPr>
          <p:cNvPr id="12" name="Стрелка вправо 11"/>
          <p:cNvSpPr/>
          <p:nvPr/>
        </p:nvSpPr>
        <p:spPr>
          <a:xfrm rot="18270303">
            <a:off x="4841032" y="3222634"/>
            <a:ext cx="1851069" cy="152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563888" y="980728"/>
            <a:ext cx="720080" cy="151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7200" dirty="0" smtClean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2987824" y="116632"/>
            <a:ext cx="43204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1</a:t>
            </a: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4427984" y="116632"/>
            <a:ext cx="36004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2</a:t>
            </a:r>
          </a:p>
        </p:txBody>
      </p:sp>
      <p:sp>
        <p:nvSpPr>
          <p:cNvPr id="16" name="Стрелка вправо 15"/>
          <p:cNvSpPr/>
          <p:nvPr/>
        </p:nvSpPr>
        <p:spPr>
          <a:xfrm>
            <a:off x="3635896" y="476672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987824" y="116632"/>
            <a:ext cx="43204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2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427984" y="116632"/>
            <a:ext cx="36004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3</a:t>
            </a:r>
          </a:p>
        </p:txBody>
      </p:sp>
      <p:sp>
        <p:nvSpPr>
          <p:cNvPr id="7" name="Стрелка вправо 6"/>
          <p:cNvSpPr/>
          <p:nvPr/>
        </p:nvSpPr>
        <p:spPr>
          <a:xfrm>
            <a:off x="3635896" y="476672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67544" y="1268760"/>
            <a:ext cx="302210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457200" indent="-457200"/>
            <a:r>
              <a:rPr lang="en-US" sz="2800" dirty="0"/>
              <a:t>Degrees of all vertices are even</a:t>
            </a:r>
            <a:endParaRPr lang="ru-RU" sz="2800" dirty="0" smtClean="0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4499992" y="1268760"/>
            <a:ext cx="453650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r>
              <a:rPr lang="en-US" sz="2800" dirty="0"/>
              <a:t>The set of edges is divided into non-intersecting simple cycles</a:t>
            </a:r>
            <a:endParaRPr lang="ru-RU" sz="2800" dirty="0" smtClean="0"/>
          </a:p>
        </p:txBody>
      </p:sp>
      <p:sp>
        <p:nvSpPr>
          <p:cNvPr id="11" name="Стрелка вправо 10"/>
          <p:cNvSpPr/>
          <p:nvPr/>
        </p:nvSpPr>
        <p:spPr>
          <a:xfrm>
            <a:off x="3635896" y="1628800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право 11"/>
          <p:cNvSpPr/>
          <p:nvPr/>
        </p:nvSpPr>
        <p:spPr>
          <a:xfrm rot="3712409">
            <a:off x="1706696" y="2329781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563888" y="980728"/>
            <a:ext cx="720080" cy="151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7200" dirty="0" smtClean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395536" y="2564904"/>
            <a:ext cx="8352928" cy="2808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spcBef>
                <a:spcPct val="0"/>
              </a:spcBef>
            </a:pPr>
            <a:r>
              <a:rPr lang="ru-RU" sz="2800" dirty="0" smtClean="0">
                <a:solidFill>
                  <a:srgbClr val="FF0000"/>
                </a:solidFill>
              </a:rPr>
              <a:t>Возьмем произвольную вершину </a:t>
            </a:r>
            <a:r>
              <a:rPr lang="en-US" sz="2800" b="1" dirty="0" smtClean="0">
                <a:solidFill>
                  <a:srgbClr val="FF0000"/>
                </a:solidFill>
              </a:rPr>
              <a:t>u</a:t>
            </a:r>
            <a:r>
              <a:rPr lang="ru-RU" sz="2800" dirty="0" smtClean="0">
                <a:solidFill>
                  <a:srgbClr val="FF0000"/>
                </a:solidFill>
              </a:rPr>
              <a:t>. </a:t>
            </a:r>
            <a:r>
              <a:rPr lang="en-US" sz="2800" dirty="0" smtClean="0">
                <a:solidFill>
                  <a:srgbClr val="FF0000"/>
                </a:solidFill>
              </a:rPr>
              <a:t>C</a:t>
            </a:r>
            <a:r>
              <a:rPr lang="ru-RU" sz="2800" dirty="0" err="1" smtClean="0">
                <a:solidFill>
                  <a:srgbClr val="FF0000"/>
                </a:solidFill>
              </a:rPr>
              <a:t>тепень</a:t>
            </a:r>
            <a:r>
              <a:rPr lang="ru-RU" sz="2800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u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ru-RU" sz="2800" dirty="0" smtClean="0">
                <a:solidFill>
                  <a:srgbClr val="FF0000"/>
                </a:solidFill>
              </a:rPr>
              <a:t>четна и не равна 0 (иначе </a:t>
            </a:r>
            <a:r>
              <a:rPr lang="en-US" sz="2800" b="1" dirty="0" smtClean="0">
                <a:solidFill>
                  <a:srgbClr val="FF0000"/>
                </a:solidFill>
              </a:rPr>
              <a:t>u</a:t>
            </a:r>
            <a:r>
              <a:rPr lang="en-US" sz="2800" dirty="0" smtClean="0">
                <a:solidFill>
                  <a:srgbClr val="FF0000"/>
                </a:solidFill>
              </a:rPr>
              <a:t> – </a:t>
            </a:r>
            <a:r>
              <a:rPr lang="ru-RU" sz="2800" dirty="0" smtClean="0">
                <a:solidFill>
                  <a:srgbClr val="FF0000"/>
                </a:solidFill>
              </a:rPr>
              <a:t>изолированная, а значит </a:t>
            </a:r>
            <a:r>
              <a:rPr lang="en-US" sz="2800" dirty="0" smtClean="0">
                <a:solidFill>
                  <a:srgbClr val="FF0000"/>
                </a:solidFill>
              </a:rPr>
              <a:t>V</a:t>
            </a:r>
            <a:r>
              <a:rPr lang="ru-RU" sz="2800" dirty="0" smtClean="0">
                <a:solidFill>
                  <a:srgbClr val="FF0000"/>
                </a:solidFill>
              </a:rPr>
              <a:t> не связен). Двигаясь из нее по любому ребру попадаем в </a:t>
            </a:r>
            <a:r>
              <a:rPr lang="en-US" sz="2800" b="1" dirty="0" smtClean="0">
                <a:solidFill>
                  <a:srgbClr val="FF0000"/>
                </a:solidFill>
              </a:rPr>
              <a:t>v</a:t>
            </a:r>
            <a:r>
              <a:rPr lang="ru-RU" sz="2800" dirty="0" smtClean="0">
                <a:solidFill>
                  <a:srgbClr val="FF0000"/>
                </a:solidFill>
              </a:rPr>
              <a:t>. Ее степень четна, а значит из нее можно перейти по ребру в следующую вершину. Количество вершин конечно, а значит в какой-то момент встретиться вершина уже принадлежащая строящемуся пути.</a:t>
            </a:r>
            <a:r>
              <a:rPr lang="ru-RU" sz="2800" dirty="0" smtClean="0"/>
              <a:t> </a:t>
            </a:r>
          </a:p>
        </p:txBody>
      </p:sp>
      <p:sp>
        <p:nvSpPr>
          <p:cNvPr id="15" name="Стрелка вправо 14"/>
          <p:cNvSpPr/>
          <p:nvPr/>
        </p:nvSpPr>
        <p:spPr>
          <a:xfrm rot="3712409">
            <a:off x="1778704" y="5426126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755576" y="5805264"/>
            <a:ext cx="3022104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457200" indent="-457200"/>
            <a:r>
              <a:rPr lang="ru-RU" sz="2800" dirty="0" smtClean="0">
                <a:solidFill>
                  <a:srgbClr val="FF0000"/>
                </a:solidFill>
              </a:rPr>
              <a:t>Получился простой цикл</a:t>
            </a:r>
          </a:p>
        </p:txBody>
      </p:sp>
      <p:sp>
        <p:nvSpPr>
          <p:cNvPr id="17" name="Стрелка вправо 16"/>
          <p:cNvSpPr/>
          <p:nvPr/>
        </p:nvSpPr>
        <p:spPr>
          <a:xfrm>
            <a:off x="3569194" y="6324390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 txBox="1">
            <a:spLocks/>
          </p:cNvSpPr>
          <p:nvPr/>
        </p:nvSpPr>
        <p:spPr>
          <a:xfrm>
            <a:off x="4607496" y="5517232"/>
            <a:ext cx="453650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ru-RU" sz="2800" dirty="0" smtClean="0">
                <a:solidFill>
                  <a:srgbClr val="FF0000"/>
                </a:solidFill>
              </a:rPr>
              <a:t>Выкинуть из графа все ребра получившегося цикла и повторить предыдущую процедуру</a:t>
            </a:r>
          </a:p>
        </p:txBody>
      </p:sp>
      <p:sp>
        <p:nvSpPr>
          <p:cNvPr id="19" name="Стрелка вправо 18"/>
          <p:cNvSpPr/>
          <p:nvPr/>
        </p:nvSpPr>
        <p:spPr>
          <a:xfrm rot="16200000">
            <a:off x="6857411" y="3807885"/>
            <a:ext cx="3579707" cy="229649"/>
          </a:xfrm>
          <a:prstGeom prst="rightArrow">
            <a:avLst>
              <a:gd name="adj1" fmla="val 4219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987824" y="116632"/>
            <a:ext cx="43204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3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427984" y="116632"/>
            <a:ext cx="36004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1</a:t>
            </a:r>
          </a:p>
        </p:txBody>
      </p:sp>
      <p:sp>
        <p:nvSpPr>
          <p:cNvPr id="7" name="Стрелка вправо 6"/>
          <p:cNvSpPr/>
          <p:nvPr/>
        </p:nvSpPr>
        <p:spPr>
          <a:xfrm>
            <a:off x="3635896" y="476672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755576" y="5229200"/>
            <a:ext cx="7772400" cy="1008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>
                <a:solidFill>
                  <a:srgbClr val="FF0000"/>
                </a:solidFill>
              </a:rPr>
              <a:t>Доказательство (конструктивное)</a:t>
            </a:r>
            <a:r>
              <a:rPr lang="ru-RU" sz="2000" dirty="0" smtClean="0">
                <a:solidFill>
                  <a:srgbClr val="FF0000"/>
                </a:solidFill>
              </a:rPr>
              <a:t>: Множество не пересекающихся простых циклов охватывающих весь граф. После этого они «склеиваются».</a:t>
            </a:r>
            <a:endParaRPr lang="ru-RU" sz="2000" b="1" dirty="0" smtClean="0">
              <a:solidFill>
                <a:srgbClr val="FF000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9512" y="1126485"/>
            <a:ext cx="3672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set of edges is divided into non-intersecting simple cycles</a:t>
            </a:r>
            <a:endParaRPr lang="ru-RU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5148064" y="1126485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/>
              <a:t>G </a:t>
            </a:r>
            <a:r>
              <a:rPr lang="en-US" dirty="0"/>
              <a:t>is</a:t>
            </a:r>
            <a:r>
              <a:rPr lang="ru-RU" dirty="0"/>
              <a:t> </a:t>
            </a:r>
            <a:r>
              <a:rPr lang="en-US" dirty="0"/>
              <a:t>an Eulerian graph</a:t>
            </a:r>
            <a:endParaRPr lang="ru-RU" dirty="0" smtClean="0"/>
          </a:p>
        </p:txBody>
      </p:sp>
      <p:sp>
        <p:nvSpPr>
          <p:cNvPr id="10" name="Стрелка вправо 9"/>
          <p:cNvSpPr/>
          <p:nvPr/>
        </p:nvSpPr>
        <p:spPr>
          <a:xfrm rot="3712409">
            <a:off x="1778704" y="2041749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31912" y="2564904"/>
            <a:ext cx="367240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dirty="0" smtClean="0">
                <a:solidFill>
                  <a:srgbClr val="FF0000"/>
                </a:solidFill>
              </a:rPr>
              <a:t>Возьмем произвольный цикл.</a:t>
            </a:r>
          </a:p>
          <a:p>
            <a:pPr marL="342900" indent="-342900">
              <a:buAutoNum type="arabicParenR"/>
            </a:pPr>
            <a:r>
              <a:rPr lang="ru-RU" dirty="0" smtClean="0">
                <a:solidFill>
                  <a:srgbClr val="FF0000"/>
                </a:solidFill>
              </a:rPr>
              <a:t>Найдем среди оставшихся циклов, цикл имеющий общую вершину с уже выбранным (такой точно есть, иначе граф был бы не связным).</a:t>
            </a:r>
          </a:p>
        </p:txBody>
      </p:sp>
      <p:sp>
        <p:nvSpPr>
          <p:cNvPr id="12" name="Стрелка вправо 11"/>
          <p:cNvSpPr/>
          <p:nvPr/>
        </p:nvSpPr>
        <p:spPr>
          <a:xfrm rot="3712409">
            <a:off x="2180719" y="4562029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2987824" y="116632"/>
            <a:ext cx="43204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3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427984" y="116632"/>
            <a:ext cx="36004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</a:pPr>
            <a:r>
              <a:rPr lang="ru-RU" sz="4000" b="1" dirty="0" smtClean="0"/>
              <a:t>1</a:t>
            </a:r>
          </a:p>
        </p:txBody>
      </p:sp>
      <p:sp>
        <p:nvSpPr>
          <p:cNvPr id="7" name="Стрелка вправо 6"/>
          <p:cNvSpPr/>
          <p:nvPr/>
        </p:nvSpPr>
        <p:spPr>
          <a:xfrm>
            <a:off x="3635896" y="476672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3707904" y="5085184"/>
            <a:ext cx="223224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ru-RU" sz="2000" dirty="0" smtClean="0">
                <a:solidFill>
                  <a:srgbClr val="FF0000"/>
                </a:solidFill>
              </a:rPr>
              <a:t>Получился набор не пересекающихся простых циклов</a:t>
            </a:r>
            <a:endParaRPr lang="ru-RU" sz="2000" b="1" dirty="0" smtClean="0">
              <a:solidFill>
                <a:srgbClr val="FF000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9512" y="1126485"/>
            <a:ext cx="3672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set of edges is divided into non-intersecting simple cycles</a:t>
            </a:r>
            <a:endParaRPr lang="ru-RU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5148064" y="1126485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 is</a:t>
            </a:r>
            <a:r>
              <a:rPr lang="ru-RU" dirty="0"/>
              <a:t> </a:t>
            </a:r>
            <a:r>
              <a:rPr lang="en-US" dirty="0"/>
              <a:t>an Eulerian graph</a:t>
            </a:r>
            <a:endParaRPr lang="ru-RU" dirty="0" smtClean="0"/>
          </a:p>
        </p:txBody>
      </p:sp>
      <p:sp>
        <p:nvSpPr>
          <p:cNvPr id="10" name="Стрелка вправо 9"/>
          <p:cNvSpPr/>
          <p:nvPr/>
        </p:nvSpPr>
        <p:spPr>
          <a:xfrm rot="3712409">
            <a:off x="1778704" y="2041749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31912" y="2564904"/>
            <a:ext cx="39520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dirty="0" smtClean="0">
                <a:solidFill>
                  <a:srgbClr val="FF0000"/>
                </a:solidFill>
              </a:rPr>
              <a:t>Возьмем произвольный цикл.</a:t>
            </a:r>
          </a:p>
          <a:p>
            <a:pPr marL="342900" indent="-342900">
              <a:buAutoNum type="arabicParenR"/>
            </a:pPr>
            <a:r>
              <a:rPr lang="ru-RU" dirty="0" smtClean="0">
                <a:solidFill>
                  <a:srgbClr val="FF0000"/>
                </a:solidFill>
              </a:rPr>
              <a:t>Найдем среди оставшихся циклов, цикл имеющий общую вершину с уже выбранным (такой точно есть, иначе граф был бы не связным).</a:t>
            </a:r>
          </a:p>
          <a:p>
            <a:pPr marL="342900" indent="-342900">
              <a:buFontTx/>
              <a:buAutoNum type="arabicParenR"/>
            </a:pPr>
            <a:r>
              <a:rPr lang="ru-RU" dirty="0" smtClean="0">
                <a:solidFill>
                  <a:srgbClr val="FF0000"/>
                </a:solidFill>
              </a:rPr>
              <a:t>«Склеим» этот цикл с тем что есть.</a:t>
            </a:r>
            <a:endParaRPr lang="ru-RU" b="1" dirty="0" smtClean="0">
              <a:solidFill>
                <a:srgbClr val="FF0000"/>
              </a:solidFill>
            </a:endParaRPr>
          </a:p>
        </p:txBody>
      </p:sp>
      <p:sp>
        <p:nvSpPr>
          <p:cNvPr id="12" name="Стрелка вправо 11"/>
          <p:cNvSpPr/>
          <p:nvPr/>
        </p:nvSpPr>
        <p:spPr>
          <a:xfrm rot="3712409">
            <a:off x="3506897" y="4562029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право 12"/>
          <p:cNvSpPr/>
          <p:nvPr/>
        </p:nvSpPr>
        <p:spPr>
          <a:xfrm rot="18875400">
            <a:off x="5355183" y="4466033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5508104" y="2852936"/>
            <a:ext cx="223224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ru-RU" sz="2000" dirty="0" smtClean="0">
                <a:solidFill>
                  <a:srgbClr val="FF0000"/>
                </a:solidFill>
              </a:rPr>
              <a:t>Будем повторять 2) и 3) пока все циклы не склеятся в один.</a:t>
            </a:r>
            <a:endParaRPr lang="ru-RU" sz="2000" b="1" dirty="0" smtClean="0">
              <a:solidFill>
                <a:srgbClr val="FF0000"/>
              </a:solidFill>
            </a:endParaRPr>
          </a:p>
        </p:txBody>
      </p:sp>
      <p:sp>
        <p:nvSpPr>
          <p:cNvPr id="15" name="Стрелка вправо 14"/>
          <p:cNvSpPr/>
          <p:nvPr/>
        </p:nvSpPr>
        <p:spPr>
          <a:xfrm rot="16524336">
            <a:off x="6218834" y="2177754"/>
            <a:ext cx="576064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268761"/>
            <a:ext cx="7772400" cy="338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dirty="0" smtClean="0">
                <a:solidFill>
                  <a:srgbClr val="FF0000"/>
                </a:solidFill>
              </a:rPr>
              <a:t>Эйлеров </a:t>
            </a:r>
            <a:r>
              <a:rPr lang="ru-RU" sz="2000" dirty="0">
                <a:solidFill>
                  <a:srgbClr val="FF0000"/>
                </a:solidFill>
              </a:rPr>
              <a:t>путь существует тогда и только тогда, когда количество вершин с нечётными степенями равно двум или нулю (в случае существования </a:t>
            </a:r>
            <a:r>
              <a:rPr lang="ru-RU" sz="2000" dirty="0" err="1">
                <a:solidFill>
                  <a:srgbClr val="FF0000"/>
                </a:solidFill>
              </a:rPr>
              <a:t>эйлерова</a:t>
            </a:r>
            <a:r>
              <a:rPr lang="ru-RU" sz="2000" dirty="0">
                <a:solidFill>
                  <a:srgbClr val="FF0000"/>
                </a:solidFill>
              </a:rPr>
              <a:t> цикла).</a:t>
            </a:r>
            <a:endParaRPr lang="ru-RU" sz="2000" b="1" dirty="0">
              <a:solidFill>
                <a:srgbClr val="FF0000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Theorem</a:t>
            </a:r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38200" y="5805264"/>
            <a:ext cx="77724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dirty="0" smtClean="0"/>
              <a:t>*Existence </a:t>
            </a:r>
            <a:r>
              <a:rPr lang="en-US" sz="2000" dirty="0"/>
              <a:t>of an Eulerian cycle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30344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268761"/>
            <a:ext cx="7772400" cy="1368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>
                <a:solidFill>
                  <a:srgbClr val="FF0000"/>
                </a:solidFill>
              </a:rPr>
              <a:t>Теорема</a:t>
            </a:r>
            <a:r>
              <a:rPr lang="ru-RU" sz="2000" dirty="0" smtClean="0">
                <a:solidFill>
                  <a:srgbClr val="FF0000"/>
                </a:solidFill>
              </a:rPr>
              <a:t>: </a:t>
            </a:r>
            <a:r>
              <a:rPr lang="ru-RU" sz="2000" dirty="0" err="1" smtClean="0">
                <a:solidFill>
                  <a:srgbClr val="FF0000"/>
                </a:solidFill>
              </a:rPr>
              <a:t>Эйлеров</a:t>
            </a:r>
            <a:r>
              <a:rPr lang="ru-RU" sz="2000" dirty="0" smtClean="0">
                <a:solidFill>
                  <a:srgbClr val="FF0000"/>
                </a:solidFill>
              </a:rPr>
              <a:t> путь существует тогда и только тогда, когда количество вершин с нечётными степенями равно двум или нулю (в случае существования </a:t>
            </a:r>
            <a:r>
              <a:rPr lang="ru-RU" sz="2000" dirty="0" err="1" smtClean="0">
                <a:solidFill>
                  <a:srgbClr val="FF0000"/>
                </a:solidFill>
              </a:rPr>
              <a:t>эйлерова</a:t>
            </a:r>
            <a:r>
              <a:rPr lang="ru-RU" sz="2000" dirty="0" smtClean="0">
                <a:solidFill>
                  <a:srgbClr val="FF0000"/>
                </a:solidFill>
              </a:rPr>
              <a:t> цикла).</a:t>
            </a:r>
            <a:endParaRPr lang="ru-RU" sz="2000" b="1" dirty="0" smtClean="0">
              <a:solidFill>
                <a:srgbClr val="FF0000"/>
              </a:solidFill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827584" y="2924944"/>
            <a:ext cx="7772400" cy="3024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ru-RU" sz="2000" b="1" dirty="0" smtClean="0">
                <a:solidFill>
                  <a:srgbClr val="FF0000"/>
                </a:solidFill>
              </a:rPr>
              <a:t>Доказательство</a:t>
            </a:r>
            <a:r>
              <a:rPr lang="ru-RU" sz="2000" dirty="0" smtClean="0">
                <a:solidFill>
                  <a:srgbClr val="FF0000"/>
                </a:solidFill>
              </a:rPr>
              <a:t>: </a:t>
            </a:r>
          </a:p>
          <a:p>
            <a:pPr lvl="0">
              <a:buFont typeface="Arial" pitchFamily="34" charset="0"/>
              <a:buChar char="•"/>
            </a:pPr>
            <a:r>
              <a:rPr lang="ru-RU" sz="2000" dirty="0" smtClean="0">
                <a:solidFill>
                  <a:srgbClr val="FF0000"/>
                </a:solidFill>
              </a:rPr>
              <a:t>Если есть (две) вершины нечетной степени, то их нужно соединить временным ребром.</a:t>
            </a:r>
          </a:p>
          <a:p>
            <a:pPr lvl="0">
              <a:buFont typeface="Arial" pitchFamily="34" charset="0"/>
              <a:buChar char="•"/>
            </a:pPr>
            <a:endParaRPr lang="ru-RU" sz="2000" dirty="0" smtClean="0">
              <a:solidFill>
                <a:srgbClr val="FF0000"/>
              </a:solidFill>
            </a:endParaRPr>
          </a:p>
          <a:p>
            <a:pPr lvl="0">
              <a:buFont typeface="Arial" pitchFamily="34" charset="0"/>
              <a:buChar char="•"/>
            </a:pPr>
            <a:r>
              <a:rPr lang="ru-RU" sz="2000" dirty="0" smtClean="0">
                <a:solidFill>
                  <a:srgbClr val="FF0000"/>
                </a:solidFill>
              </a:rPr>
              <a:t>Находится множество не пересекающихся простых циклов охватывающих весь граф. После этого они «склеиваются».</a:t>
            </a:r>
          </a:p>
          <a:p>
            <a:pPr lvl="0">
              <a:buFont typeface="Arial" pitchFamily="34" charset="0"/>
              <a:buChar char="•"/>
            </a:pPr>
            <a:endParaRPr lang="ru-RU" sz="2000" dirty="0" smtClean="0">
              <a:solidFill>
                <a:srgbClr val="FF0000"/>
              </a:solidFill>
            </a:endParaRPr>
          </a:p>
          <a:p>
            <a:pPr lvl="0">
              <a:buFont typeface="Arial" pitchFamily="34" charset="0"/>
              <a:buChar char="•"/>
            </a:pPr>
            <a:r>
              <a:rPr lang="ru-RU" sz="2000" dirty="0" smtClean="0">
                <a:solidFill>
                  <a:srgbClr val="FF0000"/>
                </a:solidFill>
              </a:rPr>
              <a:t>В полученном </a:t>
            </a:r>
            <a:r>
              <a:rPr lang="ru-RU" sz="2000" dirty="0" err="1" smtClean="0">
                <a:solidFill>
                  <a:srgbClr val="FF0000"/>
                </a:solidFill>
              </a:rPr>
              <a:t>эйлеровом</a:t>
            </a:r>
            <a:r>
              <a:rPr lang="ru-RU" sz="2000" dirty="0" smtClean="0">
                <a:solidFill>
                  <a:srgbClr val="FF0000"/>
                </a:solidFill>
              </a:rPr>
              <a:t> цикле удаляется временное ребро, после чего остается </a:t>
            </a:r>
            <a:r>
              <a:rPr lang="ru-RU" sz="2000" dirty="0" err="1" smtClean="0">
                <a:solidFill>
                  <a:srgbClr val="FF0000"/>
                </a:solidFill>
              </a:rPr>
              <a:t>эйлеров</a:t>
            </a:r>
            <a:r>
              <a:rPr lang="ru-RU" sz="2000" dirty="0" smtClean="0">
                <a:solidFill>
                  <a:srgbClr val="FF0000"/>
                </a:solidFill>
              </a:rPr>
              <a:t> путь начинающийся в одной из удаленных вершин, а заканчивающийся в другой.</a:t>
            </a:r>
          </a:p>
          <a:p>
            <a:endParaRPr lang="ru-RU" sz="20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15230</TotalTime>
  <Words>3630</Words>
  <Application>Microsoft Office PowerPoint</Application>
  <PresentationFormat>Экран (4:3)</PresentationFormat>
  <Paragraphs>1085</Paragraphs>
  <Slides>106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106</vt:i4>
      </vt:variant>
    </vt:vector>
  </HeadingPairs>
  <TitlesOfParts>
    <vt:vector size="109" baseType="lpstr">
      <vt:lpstr>Arial</vt:lpstr>
      <vt:lpstr>Calibri</vt:lpstr>
      <vt:lpstr>Тема Office</vt:lpstr>
      <vt:lpstr>Graph algorithms</vt:lpstr>
      <vt:lpstr>Basic concepts of graph theory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G(V,E)</vt:lpstr>
      <vt:lpstr>G(V,E)</vt:lpstr>
      <vt:lpstr>Презентация PowerPoint</vt:lpstr>
      <vt:lpstr>E={(u,v) : u∈V, v∈V} Arc – directed edge   </vt:lpstr>
      <vt:lpstr>Презентация PowerPoint</vt:lpstr>
      <vt:lpstr>E={(u,v) : u∈V, v∈V}  Arc – directed edge  E={{u,v} : u∈V, v∈V} Link - undirected edge</vt:lpstr>
      <vt:lpstr>Презентация PowerPoint</vt:lpstr>
      <vt:lpstr>G(V,E,f)</vt:lpstr>
      <vt:lpstr>G(V,E,f)</vt:lpstr>
      <vt:lpstr>f : E → VxV directed edges</vt:lpstr>
      <vt:lpstr>f : E → VxV directed edges</vt:lpstr>
      <vt:lpstr>Презентация PowerPoint</vt:lpstr>
      <vt:lpstr>Презентация PowerPoint</vt:lpstr>
      <vt:lpstr>Презентация PowerPoint</vt:lpstr>
      <vt:lpstr>Path/ Chain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</vt:lpstr>
      <vt:lpstr>Vertex degree</vt:lpstr>
      <vt:lpstr>Презентация PowerPoint</vt:lpstr>
      <vt:lpstr>Презентация PowerPoint</vt:lpstr>
      <vt:lpstr>Презентация PowerPoint</vt:lpstr>
      <vt:lpstr>Theorem</vt:lpstr>
      <vt:lpstr>Task</vt:lpstr>
      <vt:lpstr>Graph representations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CONNECTIVITY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Theorem</vt:lpstr>
      <vt:lpstr>Презентация PowerPoint</vt:lpstr>
      <vt:lpstr>Task</vt:lpstr>
      <vt:lpstr>Tree</vt:lpstr>
      <vt:lpstr>Презентация PowerPoint</vt:lpstr>
      <vt:lpstr>Презентация PowerPoint</vt:lpstr>
      <vt:lpstr>Презентация PowerPoint</vt:lpstr>
      <vt:lpstr>Презентация PowerPoint</vt:lpstr>
      <vt:lpstr>Theorem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Theorem</vt:lpstr>
      <vt:lpstr>Презентация PowerPoint</vt:lpstr>
      <vt:lpstr>Презентация PowerPoint</vt:lpstr>
      <vt:lpstr>Task</vt:lpstr>
      <vt:lpstr>Isomorphism</vt:lpstr>
      <vt:lpstr>Презентация PowerPoint</vt:lpstr>
      <vt:lpstr>Презентация PowerPoint</vt:lpstr>
      <vt:lpstr>Презентация PowerPoint</vt:lpstr>
      <vt:lpstr>Eulerian path/cycle/graph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на графах</dc:title>
  <dc:creator>Мамочка и папочка</dc:creator>
  <cp:lastModifiedBy>Oleg</cp:lastModifiedBy>
  <cp:revision>819</cp:revision>
  <dcterms:created xsi:type="dcterms:W3CDTF">2020-02-18T13:52:34Z</dcterms:created>
  <dcterms:modified xsi:type="dcterms:W3CDTF">2022-04-26T06:20:38Z</dcterms:modified>
</cp:coreProperties>
</file>